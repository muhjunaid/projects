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</p:sldIdLst>
  <p:sldSz cx="12192000" cy="6858000"/>
  <p:notesSz cx="6858000" cy="12192000"/>
  <p:embeddedFontLst>
    <p:embeddedFont>
      <p:font typeface="微软雅黑" pitchFamily="34" charset="-122"/>
      <p:regular r:id="rId20"/>
      <p:bold r:id="rId21"/>
    </p:embeddedFont>
    <p:embeddedFont>
      <p:font typeface="Liter" charset="0"/>
      <p:regular r:id="rId22"/>
    </p:embeddedFont>
    <p:embeddedFont>
      <p:font typeface="MiSans" charset="-122"/>
      <p:regular r:id="rId23"/>
    </p:embeddedFont>
    <p:embeddedFont>
      <p:font typeface="Quattrocento Sans" charset="0"/>
      <p:regular r:id="rId24"/>
    </p:embeddedFont>
    <p:embeddedFont>
      <p:font typeface="Calibri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-754" y="-2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Sheet1!$F$7</c:f>
              <c:strCache>
                <c:ptCount val="1"/>
                <c:pt idx="0">
                  <c:v>ResNet-50</c:v>
                </c:pt>
              </c:strCache>
            </c:strRef>
          </c:tx>
          <c:invertIfNegative val="0"/>
          <c:cat>
            <c:strRef>
              <c:f>Sheet1!$E$8:$E$12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AUC</c:v>
                </c:pt>
              </c:strCache>
            </c:strRef>
          </c:cat>
          <c:val>
            <c:numRef>
              <c:f>Sheet1!$F$8:$F$12</c:f>
              <c:numCache>
                <c:formatCode>0.00%</c:formatCode>
                <c:ptCount val="5"/>
                <c:pt idx="0">
                  <c:v>0.83330000000000004</c:v>
                </c:pt>
                <c:pt idx="1">
                  <c:v>0.90229999999999999</c:v>
                </c:pt>
                <c:pt idx="2">
                  <c:v>0.82479999999999998</c:v>
                </c:pt>
                <c:pt idx="3">
                  <c:v>0.86609999999999998</c:v>
                </c:pt>
                <c:pt idx="4">
                  <c:v>0.89900000000000002</c:v>
                </c:pt>
              </c:numCache>
            </c:numRef>
          </c:val>
        </c:ser>
        <c:ser>
          <c:idx val="1"/>
          <c:order val="1"/>
          <c:tx>
            <c:strRef>
              <c:f>Sheet1!$G$7</c:f>
              <c:strCache>
                <c:ptCount val="1"/>
                <c:pt idx="0">
                  <c:v>EfficientNet</c:v>
                </c:pt>
              </c:strCache>
            </c:strRef>
          </c:tx>
          <c:invertIfNegative val="0"/>
          <c:cat>
            <c:strRef>
              <c:f>Sheet1!$E$8:$E$12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AUC</c:v>
                </c:pt>
              </c:strCache>
            </c:strRef>
          </c:cat>
          <c:val>
            <c:numRef>
              <c:f>Sheet1!$G$8:$G$12</c:f>
              <c:numCache>
                <c:formatCode>0.00%</c:formatCode>
                <c:ptCount val="5"/>
                <c:pt idx="0">
                  <c:v>0.62849999999999995</c:v>
                </c:pt>
                <c:pt idx="1">
                  <c:v>0.62719999999999998</c:v>
                </c:pt>
                <c:pt idx="2">
                  <c:v>0.90910000000000002</c:v>
                </c:pt>
                <c:pt idx="3">
                  <c:v>0.76919999999999999</c:v>
                </c:pt>
                <c:pt idx="4">
                  <c:v>0.54600000000000004</c:v>
                </c:pt>
              </c:numCache>
            </c:numRef>
          </c:val>
        </c:ser>
        <c:ser>
          <c:idx val="2"/>
          <c:order val="2"/>
          <c:tx>
            <c:strRef>
              <c:f>Sheet1!$H$7</c:f>
              <c:strCache>
                <c:ptCount val="1"/>
                <c:pt idx="0">
                  <c:v>DenseNet121</c:v>
                </c:pt>
              </c:strCache>
            </c:strRef>
          </c:tx>
          <c:invertIfNegative val="0"/>
          <c:cat>
            <c:strRef>
              <c:f>Sheet1!$E$8:$E$12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AUC</c:v>
                </c:pt>
              </c:strCache>
            </c:strRef>
          </c:cat>
          <c:val>
            <c:numRef>
              <c:f>Sheet1!$H$8:$H$12</c:f>
              <c:numCache>
                <c:formatCode>0.00%</c:formatCode>
                <c:ptCount val="5"/>
                <c:pt idx="0">
                  <c:v>0.89659999999999995</c:v>
                </c:pt>
                <c:pt idx="1">
                  <c:v>0.93540000000000001</c:v>
                </c:pt>
                <c:pt idx="2">
                  <c:v>0.88719999999999999</c:v>
                </c:pt>
                <c:pt idx="3">
                  <c:v>0.9173</c:v>
                </c:pt>
                <c:pt idx="4">
                  <c:v>0.96499999999999997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6843392"/>
        <c:axId val="151179648"/>
      </c:barChart>
      <c:catAx>
        <c:axId val="176843392"/>
        <c:scaling>
          <c:orientation val="minMax"/>
        </c:scaling>
        <c:delete val="0"/>
        <c:axPos val="b"/>
        <c:majorTickMark val="out"/>
        <c:minorTickMark val="none"/>
        <c:tickLblPos val="nextTo"/>
        <c:crossAx val="151179648"/>
        <c:crosses val="autoZero"/>
        <c:auto val="1"/>
        <c:lblAlgn val="ctr"/>
        <c:lblOffset val="100"/>
        <c:noMultiLvlLbl val="0"/>
      </c:catAx>
      <c:valAx>
        <c:axId val="151179648"/>
        <c:scaling>
          <c:orientation val="minMax"/>
          <c:max val="1"/>
        </c:scaling>
        <c:delete val="0"/>
        <c:axPos val="l"/>
        <c:majorGridlines/>
        <c:numFmt formatCode="0.00%" sourceLinked="1"/>
        <c:majorTickMark val="out"/>
        <c:minorTickMark val="none"/>
        <c:tickLblPos val="nextTo"/>
        <c:crossAx val="176843392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886AF-F417-494A-8FA0-AE5C86C9006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2677D-85ED-4A4F-9911-82C5A33D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745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knowhow.distrelec.com/037bf1012a5d89a7a5c332f94d914514390fe5c4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2852" b="285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3182CE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81000" y="617339"/>
            <a:ext cx="68294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Pneumonia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X-Ray Diagnostics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436614"/>
            <a:ext cx="555105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Based Chest X-Ray Analysis </a:t>
            </a:r>
            <a:endParaRPr lang="en-US" sz="1800" dirty="0" smtClean="0">
              <a:solidFill>
                <a:srgbClr val="F7FAFC">
                  <a:alpha val="80000"/>
                </a:srgbClr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 algn="ctr">
              <a:lnSpc>
                <a:spcPct val="110000"/>
              </a:lnSpc>
            </a:pPr>
            <a:r>
              <a:rPr lang="en-US" sz="1800" dirty="0" smtClean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</a:t>
            </a:r>
            <a:r>
              <a:rPr lang="en-US" sz="18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Pneumonia Detection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36460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26256" y="377940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" y="3627001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8200" y="4188976"/>
            <a:ext cx="1557576" cy="102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171450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350" b="1" dirty="0" err="1" smtClean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Junaid</a:t>
            </a:r>
            <a:endParaRPr lang="en-US" sz="1350" b="1" dirty="0" smtClean="0">
              <a:solidFill>
                <a:srgbClr val="F7FAFC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marL="285750" indent="-171450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350" b="1" dirty="0" err="1" smtClean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Ayan</a:t>
            </a:r>
            <a:r>
              <a:rPr lang="en-US" sz="1350" b="1" dirty="0" smtClean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Ali</a:t>
            </a:r>
          </a:p>
          <a:p>
            <a:pPr marL="285750" indent="-171450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350" b="1" dirty="0" smtClean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Abdul </a:t>
            </a:r>
            <a:r>
              <a:rPr lang="en-US" sz="1350" b="1" dirty="0" err="1" smtClean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Basit</a:t>
            </a:r>
            <a:endParaRPr lang="en-US" sz="1350" b="1" dirty="0" smtClean="0">
              <a:solidFill>
                <a:srgbClr val="F7FAFC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marL="285750" indent="-171450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350" b="1" dirty="0" err="1" smtClean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Huzaifa</a:t>
            </a:r>
            <a:endParaRPr lang="en-US" sz="1350" b="1" dirty="0" smtClean="0">
              <a:solidFill>
                <a:srgbClr val="F7FAFC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marL="285750" indent="-171450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350" b="1" dirty="0" err="1" smtClean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Umair</a:t>
            </a:r>
            <a:r>
              <a:rPr lang="en-US" sz="1350" b="1" dirty="0" smtClean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350" b="1" dirty="0" err="1" smtClean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Qureshi</a:t>
            </a:r>
            <a:endParaRPr lang="en-US" sz="1350" b="1" dirty="0" smtClean="0">
              <a:solidFill>
                <a:srgbClr val="F7FAFC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350" b="1" dirty="0" smtClean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376726" y="36460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510076" y="377940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5" name="Text 12"/>
          <p:cNvSpPr/>
          <p:nvPr/>
        </p:nvSpPr>
        <p:spPr>
          <a:xfrm>
            <a:off x="2948226" y="3627001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Institution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748201" y="3922275"/>
            <a:ext cx="1969412" cy="598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171450">
              <a:lnSpc>
                <a:spcPct val="130000"/>
              </a:lnSpc>
              <a:buFont typeface="Wingdings" pitchFamily="2" charset="2"/>
              <a:buChar char="Ø"/>
            </a:pPr>
            <a:r>
              <a:rPr lang="en-US" sz="1200" b="1" dirty="0" smtClean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SMIT, </a:t>
            </a:r>
            <a:r>
              <a:rPr lang="en-US" sz="1200" b="1" dirty="0" smtClean="0">
                <a:solidFill>
                  <a:srgbClr val="F7FAFC"/>
                </a:solidFill>
                <a:latin typeface="Liter" pitchFamily="34" charset="0"/>
              </a:rPr>
              <a:t>Memon Society Campus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84276" y="36460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793813" y="377940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47625" y="35719"/>
                </a:moveTo>
                <a:cubicBezTo>
                  <a:pt x="47625" y="22585"/>
                  <a:pt x="58303" y="11906"/>
                  <a:pt x="71438" y="11906"/>
                </a:cubicBezTo>
                <a:lnTo>
                  <a:pt x="202406" y="11906"/>
                </a:lnTo>
                <a:cubicBezTo>
                  <a:pt x="215540" y="11906"/>
                  <a:pt x="226219" y="22585"/>
                  <a:pt x="226219" y="35719"/>
                </a:cubicBezTo>
                <a:lnTo>
                  <a:pt x="226219" y="125016"/>
                </a:lnTo>
                <a:lnTo>
                  <a:pt x="190500" y="125016"/>
                </a:lnTo>
                <a:lnTo>
                  <a:pt x="190500" y="119063"/>
                </a:lnTo>
                <a:cubicBezTo>
                  <a:pt x="190500" y="112477"/>
                  <a:pt x="185179" y="107156"/>
                  <a:pt x="178594" y="107156"/>
                </a:cubicBezTo>
                <a:lnTo>
                  <a:pt x="154781" y="107156"/>
                </a:lnTo>
                <a:cubicBezTo>
                  <a:pt x="148196" y="107156"/>
                  <a:pt x="142875" y="112477"/>
                  <a:pt x="142875" y="119063"/>
                </a:cubicBezTo>
                <a:lnTo>
                  <a:pt x="142875" y="125016"/>
                </a:lnTo>
                <a:lnTo>
                  <a:pt x="94841" y="125016"/>
                </a:lnTo>
                <a:cubicBezTo>
                  <a:pt x="98896" y="118021"/>
                  <a:pt x="101203" y="109872"/>
                  <a:pt x="101203" y="101203"/>
                </a:cubicBezTo>
                <a:cubicBezTo>
                  <a:pt x="101203" y="74898"/>
                  <a:pt x="79883" y="53578"/>
                  <a:pt x="53578" y="53578"/>
                </a:cubicBezTo>
                <a:cubicBezTo>
                  <a:pt x="51569" y="53578"/>
                  <a:pt x="49560" y="53690"/>
                  <a:pt x="47625" y="53950"/>
                </a:cubicBezTo>
                <a:lnTo>
                  <a:pt x="47625" y="35719"/>
                </a:lnTo>
                <a:close/>
                <a:moveTo>
                  <a:pt x="123899" y="166688"/>
                </a:moveTo>
                <a:cubicBezTo>
                  <a:pt x="122002" y="157683"/>
                  <a:pt x="117835" y="149535"/>
                  <a:pt x="111956" y="142875"/>
                </a:cubicBezTo>
                <a:lnTo>
                  <a:pt x="226219" y="142875"/>
                </a:lnTo>
                <a:cubicBezTo>
                  <a:pt x="226219" y="156009"/>
                  <a:pt x="215540" y="166688"/>
                  <a:pt x="202406" y="166688"/>
                </a:cubicBezTo>
                <a:lnTo>
                  <a:pt x="123899" y="166688"/>
                </a:lnTo>
                <a:close/>
                <a:moveTo>
                  <a:pt x="23812" y="101203"/>
                </a:moveTo>
                <a:cubicBezTo>
                  <a:pt x="23812" y="84775"/>
                  <a:pt x="37150" y="71438"/>
                  <a:pt x="53578" y="71438"/>
                </a:cubicBezTo>
                <a:cubicBezTo>
                  <a:pt x="70006" y="71438"/>
                  <a:pt x="83344" y="84775"/>
                  <a:pt x="83344" y="101203"/>
                </a:cubicBezTo>
                <a:cubicBezTo>
                  <a:pt x="83344" y="117631"/>
                  <a:pt x="70006" y="130969"/>
                  <a:pt x="53578" y="130969"/>
                </a:cubicBezTo>
                <a:cubicBezTo>
                  <a:pt x="37150" y="130969"/>
                  <a:pt x="23813" y="117631"/>
                  <a:pt x="23812" y="101203"/>
                </a:cubicBezTo>
                <a:close/>
                <a:moveTo>
                  <a:pt x="0" y="178594"/>
                </a:moveTo>
                <a:cubicBezTo>
                  <a:pt x="0" y="158874"/>
                  <a:pt x="15999" y="142875"/>
                  <a:pt x="35719" y="142875"/>
                </a:cubicBezTo>
                <a:lnTo>
                  <a:pt x="71438" y="142875"/>
                </a:lnTo>
                <a:cubicBezTo>
                  <a:pt x="91157" y="142875"/>
                  <a:pt x="107156" y="158874"/>
                  <a:pt x="107156" y="178594"/>
                </a:cubicBezTo>
                <a:cubicBezTo>
                  <a:pt x="107156" y="185179"/>
                  <a:pt x="101836" y="190500"/>
                  <a:pt x="95250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19" name="Text 16"/>
          <p:cNvSpPr/>
          <p:nvPr/>
        </p:nvSpPr>
        <p:spPr>
          <a:xfrm>
            <a:off x="5255776" y="3627001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255776" y="3855601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 smtClean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Sir </a:t>
            </a:r>
            <a:r>
              <a:rPr lang="en-US" sz="1350" b="1" dirty="0" err="1" smtClean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Yasir</a:t>
            </a:r>
            <a:r>
              <a:rPr lang="en-US" sz="1350" b="1" dirty="0" smtClean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Nawaz</a:t>
            </a:r>
            <a:endParaRPr lang="en-US" sz="16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501" y="1474589"/>
            <a:ext cx="4231124" cy="4231124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CONTEXT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2686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295400"/>
            <a:ext cx="5543550" cy="3067050"/>
          </a:xfrm>
          <a:custGeom>
            <a:avLst/>
            <a:gdLst/>
            <a:ahLst/>
            <a:cxnLst/>
            <a:rect l="l" t="t" r="r" b="b"/>
            <a:pathLst>
              <a:path w="5543550" h="3067050">
                <a:moveTo>
                  <a:pt x="38100" y="0"/>
                </a:moveTo>
                <a:lnTo>
                  <a:pt x="5467364" y="0"/>
                </a:lnTo>
                <a:cubicBezTo>
                  <a:pt x="5509441" y="0"/>
                  <a:pt x="5543550" y="34109"/>
                  <a:pt x="5543550" y="76186"/>
                </a:cubicBezTo>
                <a:lnTo>
                  <a:pt x="5543550" y="2990864"/>
                </a:lnTo>
                <a:cubicBezTo>
                  <a:pt x="5543550" y="3032941"/>
                  <a:pt x="5509441" y="3067050"/>
                  <a:pt x="5467364" y="3067050"/>
                </a:cubicBezTo>
                <a:lnTo>
                  <a:pt x="38100" y="3067050"/>
                </a:lnTo>
                <a:cubicBezTo>
                  <a:pt x="17058" y="3067050"/>
                  <a:pt x="0" y="3049992"/>
                  <a:pt x="0" y="3028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295400"/>
            <a:ext cx="38100" cy="3067050"/>
          </a:xfrm>
          <a:custGeom>
            <a:avLst/>
            <a:gdLst/>
            <a:ahLst/>
            <a:cxnLst/>
            <a:rect l="l" t="t" r="r" b="b"/>
            <a:pathLst>
              <a:path w="38100" h="3067050">
                <a:moveTo>
                  <a:pt x="38100" y="0"/>
                </a:moveTo>
                <a:lnTo>
                  <a:pt x="38100" y="0"/>
                </a:lnTo>
                <a:lnTo>
                  <a:pt x="38100" y="3067050"/>
                </a:lnTo>
                <a:lnTo>
                  <a:pt x="38100" y="3067050"/>
                </a:lnTo>
                <a:cubicBezTo>
                  <a:pt x="17072" y="3067050"/>
                  <a:pt x="0" y="3049978"/>
                  <a:pt x="0" y="3028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9144" y="16573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063" y="11906"/>
                </a:moveTo>
                <a:cubicBezTo>
                  <a:pt x="119063" y="5321"/>
                  <a:pt x="113742" y="0"/>
                  <a:pt x="107156" y="0"/>
                </a:cubicBezTo>
                <a:cubicBezTo>
                  <a:pt x="100571" y="0"/>
                  <a:pt x="95250" y="5321"/>
                  <a:pt x="95250" y="11906"/>
                </a:cubicBezTo>
                <a:lnTo>
                  <a:pt x="95250" y="64703"/>
                </a:lnTo>
                <a:lnTo>
                  <a:pt x="83344" y="71847"/>
                </a:lnTo>
                <a:lnTo>
                  <a:pt x="83344" y="28426"/>
                </a:lnTo>
                <a:cubicBezTo>
                  <a:pt x="83344" y="19310"/>
                  <a:pt x="75940" y="11906"/>
                  <a:pt x="66824" y="11906"/>
                </a:cubicBezTo>
                <a:cubicBezTo>
                  <a:pt x="62173" y="11906"/>
                  <a:pt x="57745" y="13878"/>
                  <a:pt x="54620" y="17301"/>
                </a:cubicBezTo>
                <a:lnTo>
                  <a:pt x="44797" y="28091"/>
                </a:lnTo>
                <a:cubicBezTo>
                  <a:pt x="15962" y="59829"/>
                  <a:pt x="0" y="101129"/>
                  <a:pt x="0" y="143991"/>
                </a:cubicBezTo>
                <a:lnTo>
                  <a:pt x="0" y="155339"/>
                </a:lnTo>
                <a:cubicBezTo>
                  <a:pt x="0" y="174761"/>
                  <a:pt x="15739" y="190500"/>
                  <a:pt x="35161" y="190500"/>
                </a:cubicBezTo>
                <a:cubicBezTo>
                  <a:pt x="43346" y="190500"/>
                  <a:pt x="51420" y="188602"/>
                  <a:pt x="58750" y="184919"/>
                </a:cubicBezTo>
                <a:lnTo>
                  <a:pt x="60610" y="183989"/>
                </a:lnTo>
                <a:cubicBezTo>
                  <a:pt x="74526" y="177031"/>
                  <a:pt x="83307" y="162818"/>
                  <a:pt x="83307" y="147228"/>
                </a:cubicBezTo>
                <a:lnTo>
                  <a:pt x="83307" y="99603"/>
                </a:lnTo>
                <a:lnTo>
                  <a:pt x="107119" y="85316"/>
                </a:lnTo>
                <a:lnTo>
                  <a:pt x="130932" y="99603"/>
                </a:lnTo>
                <a:lnTo>
                  <a:pt x="130932" y="147228"/>
                </a:lnTo>
                <a:cubicBezTo>
                  <a:pt x="130932" y="162781"/>
                  <a:pt x="139712" y="177031"/>
                  <a:pt x="153628" y="183989"/>
                </a:cubicBezTo>
                <a:lnTo>
                  <a:pt x="155488" y="184919"/>
                </a:lnTo>
                <a:cubicBezTo>
                  <a:pt x="162818" y="188565"/>
                  <a:pt x="170892" y="190500"/>
                  <a:pt x="179077" y="190500"/>
                </a:cubicBezTo>
                <a:cubicBezTo>
                  <a:pt x="198500" y="190500"/>
                  <a:pt x="214238" y="174761"/>
                  <a:pt x="214238" y="155339"/>
                </a:cubicBezTo>
                <a:lnTo>
                  <a:pt x="214238" y="153033"/>
                </a:lnTo>
                <a:cubicBezTo>
                  <a:pt x="214238" y="111696"/>
                  <a:pt x="200583" y="71549"/>
                  <a:pt x="175394" y="38807"/>
                </a:cubicBezTo>
                <a:lnTo>
                  <a:pt x="159581" y="18120"/>
                </a:lnTo>
                <a:cubicBezTo>
                  <a:pt x="156567" y="14176"/>
                  <a:pt x="151879" y="11906"/>
                  <a:pt x="146931" y="11906"/>
                </a:cubicBezTo>
                <a:cubicBezTo>
                  <a:pt x="138113" y="11906"/>
                  <a:pt x="130969" y="19050"/>
                  <a:pt x="130969" y="27868"/>
                </a:cubicBezTo>
                <a:lnTo>
                  <a:pt x="130969" y="71847"/>
                </a:lnTo>
                <a:lnTo>
                  <a:pt x="119063" y="64703"/>
                </a:lnTo>
                <a:lnTo>
                  <a:pt x="119063" y="1190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160020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Pneumonia?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" y="2133600"/>
            <a:ext cx="5143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Pneumonia is a severe respiratory infection characterized by inflammation of the lung's air sacs, causing them to fill with fluid or pus. This leads to breathing difficulties, fever, cough, and chest pain.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7700" y="3028950"/>
            <a:ext cx="2476500" cy="762000"/>
          </a:xfrm>
          <a:custGeom>
            <a:avLst/>
            <a:gdLst/>
            <a:ahLst/>
            <a:cxnLst/>
            <a:rect l="l" t="t" r="r" b="b"/>
            <a:pathLst>
              <a:path w="2476500" h="762000">
                <a:moveTo>
                  <a:pt x="76200" y="0"/>
                </a:moveTo>
                <a:lnTo>
                  <a:pt x="2400300" y="0"/>
                </a:lnTo>
                <a:cubicBezTo>
                  <a:pt x="2442356" y="0"/>
                  <a:pt x="2476500" y="34144"/>
                  <a:pt x="2476500" y="76200"/>
                </a:cubicBezTo>
                <a:lnTo>
                  <a:pt x="2476500" y="685800"/>
                </a:lnTo>
                <a:cubicBezTo>
                  <a:pt x="2476500" y="727856"/>
                  <a:pt x="2442356" y="762000"/>
                  <a:pt x="24003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143250"/>
            <a:ext cx="231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Deaths (2023)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3371850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2.5M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38500" y="3028950"/>
            <a:ext cx="2476500" cy="762000"/>
          </a:xfrm>
          <a:custGeom>
            <a:avLst/>
            <a:gdLst/>
            <a:ahLst/>
            <a:cxnLst/>
            <a:rect l="l" t="t" r="r" b="b"/>
            <a:pathLst>
              <a:path w="2476500" h="762000">
                <a:moveTo>
                  <a:pt x="76200" y="0"/>
                </a:moveTo>
                <a:lnTo>
                  <a:pt x="2400300" y="0"/>
                </a:lnTo>
                <a:cubicBezTo>
                  <a:pt x="2442356" y="0"/>
                  <a:pt x="2476500" y="34144"/>
                  <a:pt x="2476500" y="76200"/>
                </a:cubicBezTo>
                <a:lnTo>
                  <a:pt x="2476500" y="685800"/>
                </a:lnTo>
                <a:cubicBezTo>
                  <a:pt x="2476500" y="727856"/>
                  <a:pt x="2442356" y="762000"/>
                  <a:pt x="24003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352800" y="3143250"/>
            <a:ext cx="231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Children Under 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52800" y="3371850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600K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587240"/>
            <a:ext cx="5543550" cy="2209800"/>
          </a:xfrm>
          <a:custGeom>
            <a:avLst/>
            <a:gdLst/>
            <a:ahLst/>
            <a:cxnLst/>
            <a:rect l="l" t="t" r="r" b="b"/>
            <a:pathLst>
              <a:path w="5543550" h="2209800">
                <a:moveTo>
                  <a:pt x="38100" y="0"/>
                </a:moveTo>
                <a:lnTo>
                  <a:pt x="5467356" y="0"/>
                </a:lnTo>
                <a:cubicBezTo>
                  <a:pt x="5509437" y="0"/>
                  <a:pt x="5543550" y="34113"/>
                  <a:pt x="5543550" y="76194"/>
                </a:cubicBezTo>
                <a:lnTo>
                  <a:pt x="5543550" y="2133606"/>
                </a:lnTo>
                <a:cubicBezTo>
                  <a:pt x="5543550" y="2175687"/>
                  <a:pt x="5509437" y="2209800"/>
                  <a:pt x="5467356" y="2209800"/>
                </a:cubicBezTo>
                <a:lnTo>
                  <a:pt x="38100" y="2209800"/>
                </a:lnTo>
                <a:cubicBezTo>
                  <a:pt x="17072" y="2209800"/>
                  <a:pt x="0" y="2192728"/>
                  <a:pt x="0" y="2171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4587240"/>
            <a:ext cx="38100" cy="2209800"/>
          </a:xfrm>
          <a:custGeom>
            <a:avLst/>
            <a:gdLst/>
            <a:ahLst/>
            <a:cxnLst/>
            <a:rect l="l" t="t" r="r" b="b"/>
            <a:pathLst>
              <a:path w="38100" h="2209800">
                <a:moveTo>
                  <a:pt x="38100" y="0"/>
                </a:moveTo>
                <a:lnTo>
                  <a:pt x="38100" y="0"/>
                </a:lnTo>
                <a:lnTo>
                  <a:pt x="38100" y="2209800"/>
                </a:lnTo>
                <a:lnTo>
                  <a:pt x="38100" y="2209800"/>
                </a:lnTo>
                <a:cubicBezTo>
                  <a:pt x="17072" y="2209800"/>
                  <a:pt x="0" y="2192728"/>
                  <a:pt x="0" y="2171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481584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81050" y="494919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1" name="Text 19"/>
          <p:cNvSpPr/>
          <p:nvPr/>
        </p:nvSpPr>
        <p:spPr>
          <a:xfrm>
            <a:off x="1219200" y="4892040"/>
            <a:ext cx="3000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Early Detection Matters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6750" y="54635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5425440"/>
            <a:ext cx="456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Untreated cases can rapidly progress to respiratory failure or sepsis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6750" y="58064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5768340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Timely diagnosis enables prompt antibiotic treatment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61988" y="61493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7" name="Text 25"/>
          <p:cNvSpPr/>
          <p:nvPr/>
        </p:nvSpPr>
        <p:spPr>
          <a:xfrm>
            <a:off x="946785" y="6111240"/>
            <a:ext cx="4848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for vulnerable populations: children, elderly, immunocompromised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67450" y="1295400"/>
            <a:ext cx="5543550" cy="3676650"/>
          </a:xfrm>
          <a:custGeom>
            <a:avLst/>
            <a:gdLst/>
            <a:ahLst/>
            <a:cxnLst/>
            <a:rect l="l" t="t" r="r" b="b"/>
            <a:pathLst>
              <a:path w="5543550" h="3676650">
                <a:moveTo>
                  <a:pt x="38100" y="0"/>
                </a:moveTo>
                <a:lnTo>
                  <a:pt x="5467333" y="0"/>
                </a:lnTo>
                <a:cubicBezTo>
                  <a:pt x="5509427" y="0"/>
                  <a:pt x="5543550" y="34123"/>
                  <a:pt x="5543550" y="76217"/>
                </a:cubicBezTo>
                <a:lnTo>
                  <a:pt x="5543550" y="3600433"/>
                </a:lnTo>
                <a:cubicBezTo>
                  <a:pt x="5543550" y="3642527"/>
                  <a:pt x="5509427" y="3676650"/>
                  <a:pt x="5467333" y="3676650"/>
                </a:cubicBezTo>
                <a:lnTo>
                  <a:pt x="38100" y="3676650"/>
                </a:lnTo>
                <a:cubicBezTo>
                  <a:pt x="17072" y="3676650"/>
                  <a:pt x="0" y="3659578"/>
                  <a:pt x="0" y="3638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67450" y="1295400"/>
            <a:ext cx="38100" cy="3676650"/>
          </a:xfrm>
          <a:custGeom>
            <a:avLst/>
            <a:gdLst/>
            <a:ahLst/>
            <a:cxnLst/>
            <a:rect l="l" t="t" r="r" b="b"/>
            <a:pathLst>
              <a:path w="38100" h="3676650">
                <a:moveTo>
                  <a:pt x="38100" y="0"/>
                </a:moveTo>
                <a:lnTo>
                  <a:pt x="38100" y="0"/>
                </a:lnTo>
                <a:lnTo>
                  <a:pt x="38100" y="3676650"/>
                </a:lnTo>
                <a:lnTo>
                  <a:pt x="38100" y="3676650"/>
                </a:lnTo>
                <a:cubicBezTo>
                  <a:pt x="17072" y="3676650"/>
                  <a:pt x="0" y="3659578"/>
                  <a:pt x="0" y="3638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0" name="Shape 28"/>
          <p:cNvSpPr/>
          <p:nvPr/>
        </p:nvSpPr>
        <p:spPr>
          <a:xfrm>
            <a:off x="65151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624638" y="16573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2" name="Text 30"/>
          <p:cNvSpPr/>
          <p:nvPr/>
        </p:nvSpPr>
        <p:spPr>
          <a:xfrm>
            <a:off x="7086600" y="1600200"/>
            <a:ext cx="3181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 of AI in Medical Diagnosis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15100" y="2133600"/>
            <a:ext cx="5143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Intelligence, particularly deep learning, has revolutionized medical imaging by enabling automated analysis with accuracy comparable to trained radiologists.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15100" y="3028950"/>
            <a:ext cx="5067300" cy="495300"/>
          </a:xfrm>
          <a:custGeom>
            <a:avLst/>
            <a:gdLst/>
            <a:ahLst/>
            <a:cxnLst/>
            <a:rect l="l" t="t" r="r" b="b"/>
            <a:pathLst>
              <a:path w="5067300" h="495300">
                <a:moveTo>
                  <a:pt x="76202" y="0"/>
                </a:moveTo>
                <a:lnTo>
                  <a:pt x="4991098" y="0"/>
                </a:lnTo>
                <a:cubicBezTo>
                  <a:pt x="5033183" y="0"/>
                  <a:pt x="5067300" y="34117"/>
                  <a:pt x="5067300" y="76202"/>
                </a:cubicBezTo>
                <a:lnTo>
                  <a:pt x="5067300" y="419098"/>
                </a:lnTo>
                <a:cubicBezTo>
                  <a:pt x="5067300" y="461183"/>
                  <a:pt x="5033183" y="495300"/>
                  <a:pt x="49910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316230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Medical Imaging Market (2024)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001732" y="3143250"/>
            <a:ext cx="56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$1.5B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15100" y="3638550"/>
            <a:ext cx="5067300" cy="495300"/>
          </a:xfrm>
          <a:custGeom>
            <a:avLst/>
            <a:gdLst/>
            <a:ahLst/>
            <a:cxnLst/>
            <a:rect l="l" t="t" r="r" b="b"/>
            <a:pathLst>
              <a:path w="5067300" h="495300">
                <a:moveTo>
                  <a:pt x="76202" y="0"/>
                </a:moveTo>
                <a:lnTo>
                  <a:pt x="4991098" y="0"/>
                </a:lnTo>
                <a:cubicBezTo>
                  <a:pt x="5033183" y="0"/>
                  <a:pt x="5067300" y="34117"/>
                  <a:pt x="5067300" y="76202"/>
                </a:cubicBezTo>
                <a:lnTo>
                  <a:pt x="5067300" y="419098"/>
                </a:lnTo>
                <a:cubicBezTo>
                  <a:pt x="5067300" y="461183"/>
                  <a:pt x="5033183" y="495300"/>
                  <a:pt x="49910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629400" y="377190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Projected CAGR (2024-2029)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939463" y="3752850"/>
            <a:ext cx="62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23.2%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15100" y="4248150"/>
            <a:ext cx="5067300" cy="495300"/>
          </a:xfrm>
          <a:custGeom>
            <a:avLst/>
            <a:gdLst/>
            <a:ahLst/>
            <a:cxnLst/>
            <a:rect l="l" t="t" r="r" b="b"/>
            <a:pathLst>
              <a:path w="5067300" h="495300">
                <a:moveTo>
                  <a:pt x="76202" y="0"/>
                </a:moveTo>
                <a:lnTo>
                  <a:pt x="4991098" y="0"/>
                </a:lnTo>
                <a:cubicBezTo>
                  <a:pt x="5033183" y="0"/>
                  <a:pt x="5067300" y="34117"/>
                  <a:pt x="5067300" y="76202"/>
                </a:cubicBezTo>
                <a:lnTo>
                  <a:pt x="5067300" y="419098"/>
                </a:lnTo>
                <a:cubicBezTo>
                  <a:pt x="5067300" y="461183"/>
                  <a:pt x="5033183" y="495300"/>
                  <a:pt x="49910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629400" y="4381500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Market (2029)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65656" y="4362450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$4.5B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52210" y="5204460"/>
            <a:ext cx="5551170" cy="1588770"/>
          </a:xfrm>
          <a:custGeom>
            <a:avLst/>
            <a:gdLst/>
            <a:ahLst/>
            <a:cxnLst/>
            <a:rect l="l" t="t" r="r" b="b"/>
            <a:pathLst>
              <a:path w="5551170" h="1588770">
                <a:moveTo>
                  <a:pt x="76197" y="0"/>
                </a:moveTo>
                <a:lnTo>
                  <a:pt x="5474973" y="0"/>
                </a:lnTo>
                <a:cubicBezTo>
                  <a:pt x="5517055" y="0"/>
                  <a:pt x="5551170" y="34115"/>
                  <a:pt x="5551170" y="76197"/>
                </a:cubicBezTo>
                <a:lnTo>
                  <a:pt x="5551170" y="1512573"/>
                </a:lnTo>
                <a:cubicBezTo>
                  <a:pt x="5551170" y="1554655"/>
                  <a:pt x="5517055" y="1588770"/>
                  <a:pt x="5474973" y="1588770"/>
                </a:cubicBezTo>
                <a:lnTo>
                  <a:pt x="76197" y="1588770"/>
                </a:lnTo>
                <a:cubicBezTo>
                  <a:pt x="34115" y="1588770"/>
                  <a:pt x="0" y="1554655"/>
                  <a:pt x="0" y="151257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>
                  <a:alpha val="20000"/>
                </a:srgbClr>
              </a:gs>
              <a:gs pos="100000">
                <a:srgbClr val="38B2AC">
                  <a:alpha val="20000"/>
                </a:srgbClr>
              </a:gs>
            </a:gsLst>
            <a:lin ang="2700000" scaled="1"/>
          </a:gradFill>
          <a:ln w="10160">
            <a:solidFill>
              <a:srgbClr val="3182CE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32245" y="547497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5" name="Text 43"/>
          <p:cNvSpPr/>
          <p:nvPr/>
        </p:nvSpPr>
        <p:spPr>
          <a:xfrm>
            <a:off x="6837045" y="5436870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84620" y="5817870"/>
            <a:ext cx="5162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models can analyze medical images with unprecedented speed and precision, identifying patterns that may be overlooked by human eyes, making them invaluable screening tools in clinical practice.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397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4124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99210"/>
            <a:ext cx="3674745" cy="5265420"/>
          </a:xfrm>
          <a:custGeom>
            <a:avLst/>
            <a:gdLst/>
            <a:ahLst/>
            <a:cxnLst/>
            <a:rect l="l" t="t" r="r" b="b"/>
            <a:pathLst>
              <a:path w="3674745" h="5265420">
                <a:moveTo>
                  <a:pt x="76214" y="0"/>
                </a:moveTo>
                <a:lnTo>
                  <a:pt x="3598531" y="0"/>
                </a:lnTo>
                <a:cubicBezTo>
                  <a:pt x="3640623" y="0"/>
                  <a:pt x="3674745" y="34122"/>
                  <a:pt x="3674745" y="76214"/>
                </a:cubicBezTo>
                <a:lnTo>
                  <a:pt x="3674745" y="5189206"/>
                </a:lnTo>
                <a:cubicBezTo>
                  <a:pt x="3674745" y="5231298"/>
                  <a:pt x="3640623" y="5265420"/>
                  <a:pt x="3598531" y="5265420"/>
                </a:cubicBezTo>
                <a:lnTo>
                  <a:pt x="76214" y="5265420"/>
                </a:lnTo>
                <a:cubicBezTo>
                  <a:pt x="34122" y="5265420"/>
                  <a:pt x="0" y="5231298"/>
                  <a:pt x="0" y="5189206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4935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5808" y="16459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3572"/>
                </a:move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lose/>
                <a:moveTo>
                  <a:pt x="126802" y="143232"/>
                </a:moveTo>
                <a:cubicBezTo>
                  <a:pt x="124391" y="143009"/>
                  <a:pt x="121890" y="142875"/>
                  <a:pt x="119390" y="142875"/>
                </a:cubicBezTo>
                <a:lnTo>
                  <a:pt x="80590" y="142875"/>
                </a:lnTo>
                <a:cubicBezTo>
                  <a:pt x="78090" y="142875"/>
                  <a:pt x="75634" y="143009"/>
                  <a:pt x="73179" y="143232"/>
                </a:cubicBezTo>
                <a:lnTo>
                  <a:pt x="73179" y="173370"/>
                </a:lnTo>
                <a:cubicBezTo>
                  <a:pt x="80546" y="176763"/>
                  <a:pt x="85680" y="184219"/>
                  <a:pt x="85680" y="192837"/>
                </a:cubicBezTo>
                <a:cubicBezTo>
                  <a:pt x="85680" y="204668"/>
                  <a:pt x="76081" y="214268"/>
                  <a:pt x="64249" y="214268"/>
                </a:cubicBezTo>
                <a:cubicBezTo>
                  <a:pt x="52417" y="214268"/>
                  <a:pt x="42818" y="204668"/>
                  <a:pt x="42818" y="192837"/>
                </a:cubicBezTo>
                <a:cubicBezTo>
                  <a:pt x="42818" y="184175"/>
                  <a:pt x="47952" y="176719"/>
                  <a:pt x="55319" y="173370"/>
                </a:cubicBezTo>
                <a:lnTo>
                  <a:pt x="55319" y="147295"/>
                </a:lnTo>
                <a:cubicBezTo>
                  <a:pt x="27236" y="157609"/>
                  <a:pt x="7144" y="184666"/>
                  <a:pt x="7144" y="216366"/>
                </a:cubicBezTo>
                <a:cubicBezTo>
                  <a:pt x="7144" y="223108"/>
                  <a:pt x="12636" y="228600"/>
                  <a:pt x="19377" y="228600"/>
                </a:cubicBezTo>
                <a:lnTo>
                  <a:pt x="180603" y="228600"/>
                </a:lnTo>
                <a:cubicBezTo>
                  <a:pt x="187345" y="228600"/>
                  <a:pt x="192837" y="223108"/>
                  <a:pt x="192837" y="216366"/>
                </a:cubicBezTo>
                <a:cubicBezTo>
                  <a:pt x="192837" y="184666"/>
                  <a:pt x="172745" y="157654"/>
                  <a:pt x="144616" y="147340"/>
                </a:cubicBezTo>
                <a:lnTo>
                  <a:pt x="144616" y="164038"/>
                </a:lnTo>
                <a:cubicBezTo>
                  <a:pt x="155019" y="167700"/>
                  <a:pt x="162476" y="177656"/>
                  <a:pt x="162476" y="189309"/>
                </a:cubicBezTo>
                <a:lnTo>
                  <a:pt x="162476" y="203597"/>
                </a:lnTo>
                <a:cubicBezTo>
                  <a:pt x="162476" y="208508"/>
                  <a:pt x="158457" y="212527"/>
                  <a:pt x="153546" y="212527"/>
                </a:cubicBezTo>
                <a:cubicBezTo>
                  <a:pt x="148635" y="212527"/>
                  <a:pt x="144616" y="208508"/>
                  <a:pt x="144616" y="203597"/>
                </a:cubicBezTo>
                <a:lnTo>
                  <a:pt x="144616" y="189309"/>
                </a:lnTo>
                <a:cubicBezTo>
                  <a:pt x="144616" y="184398"/>
                  <a:pt x="140598" y="180380"/>
                  <a:pt x="135687" y="180380"/>
                </a:cubicBezTo>
                <a:cubicBezTo>
                  <a:pt x="130775" y="180380"/>
                  <a:pt x="126757" y="184398"/>
                  <a:pt x="126757" y="189309"/>
                </a:cubicBezTo>
                <a:lnTo>
                  <a:pt x="126757" y="203597"/>
                </a:lnTo>
                <a:cubicBezTo>
                  <a:pt x="126757" y="208508"/>
                  <a:pt x="122739" y="212527"/>
                  <a:pt x="117827" y="212527"/>
                </a:cubicBezTo>
                <a:cubicBezTo>
                  <a:pt x="112916" y="212527"/>
                  <a:pt x="108898" y="208508"/>
                  <a:pt x="108898" y="203597"/>
                </a:cubicBezTo>
                <a:lnTo>
                  <a:pt x="108898" y="189309"/>
                </a:lnTo>
                <a:cubicBezTo>
                  <a:pt x="108898" y="177656"/>
                  <a:pt x="116354" y="167744"/>
                  <a:pt x="126757" y="164038"/>
                </a:cubicBezTo>
                <a:lnTo>
                  <a:pt x="126757" y="143232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1226820" y="1626870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Diagnosis Challenges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9120" y="2268141"/>
            <a:ext cx="3286125" cy="1295400"/>
          </a:xfrm>
          <a:custGeom>
            <a:avLst/>
            <a:gdLst/>
            <a:ahLst/>
            <a:cxnLst/>
            <a:rect l="l" t="t" r="r" b="b"/>
            <a:pathLst>
              <a:path w="3286125" h="1295400">
                <a:moveTo>
                  <a:pt x="76195" y="0"/>
                </a:moveTo>
                <a:lnTo>
                  <a:pt x="3209930" y="0"/>
                </a:lnTo>
                <a:cubicBezTo>
                  <a:pt x="3251983" y="0"/>
                  <a:pt x="3286125" y="34142"/>
                  <a:pt x="3286125" y="76195"/>
                </a:cubicBezTo>
                <a:lnTo>
                  <a:pt x="3286125" y="1219205"/>
                </a:lnTo>
                <a:cubicBezTo>
                  <a:pt x="3286125" y="1261286"/>
                  <a:pt x="3252011" y="1295400"/>
                  <a:pt x="3209930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50570" y="24586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1" name="Text 9"/>
          <p:cNvSpPr/>
          <p:nvPr/>
        </p:nvSpPr>
        <p:spPr>
          <a:xfrm>
            <a:off x="998220" y="2420541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Radiologist Availability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725341"/>
            <a:ext cx="3057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number of trained radiologists, especially in resource-constrained settings and rural areas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9120" y="3741301"/>
            <a:ext cx="3286125" cy="1295400"/>
          </a:xfrm>
          <a:custGeom>
            <a:avLst/>
            <a:gdLst/>
            <a:ahLst/>
            <a:cxnLst/>
            <a:rect l="l" t="t" r="r" b="b"/>
            <a:pathLst>
              <a:path w="3286125" h="1295400">
                <a:moveTo>
                  <a:pt x="76195" y="0"/>
                </a:moveTo>
                <a:lnTo>
                  <a:pt x="3209930" y="0"/>
                </a:lnTo>
                <a:cubicBezTo>
                  <a:pt x="3251983" y="0"/>
                  <a:pt x="3286125" y="34142"/>
                  <a:pt x="3286125" y="76195"/>
                </a:cubicBezTo>
                <a:lnTo>
                  <a:pt x="3286125" y="1219205"/>
                </a:lnTo>
                <a:cubicBezTo>
                  <a:pt x="3286125" y="1261286"/>
                  <a:pt x="3252011" y="1295400"/>
                  <a:pt x="3209930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0570" y="39318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5" name="Text 13"/>
          <p:cNvSpPr/>
          <p:nvPr/>
        </p:nvSpPr>
        <p:spPr>
          <a:xfrm>
            <a:off x="998220" y="3893701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Time-Consuming Process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198501"/>
            <a:ext cx="3057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X-ray requires careful examination, creating bottlenecks in emergency departments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9120" y="5214582"/>
            <a:ext cx="3286125" cy="1066800"/>
          </a:xfrm>
          <a:custGeom>
            <a:avLst/>
            <a:gdLst/>
            <a:ahLst/>
            <a:cxnLst/>
            <a:rect l="l" t="t" r="r" b="b"/>
            <a:pathLst>
              <a:path w="3286125" h="10668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990598"/>
                </a:lnTo>
                <a:cubicBezTo>
                  <a:pt x="3286125" y="1032683"/>
                  <a:pt x="3252008" y="1066800"/>
                  <a:pt x="320992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41045" y="540508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9" name="Text 17"/>
          <p:cNvSpPr/>
          <p:nvPr/>
        </p:nvSpPr>
        <p:spPr>
          <a:xfrm>
            <a:off x="998220" y="5366982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Experience Dependency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5671782"/>
            <a:ext cx="3057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Diagnostic accuracy heavily depends on radiologist's experience and training level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8270" y="1299210"/>
            <a:ext cx="3674745" cy="5265420"/>
          </a:xfrm>
          <a:custGeom>
            <a:avLst/>
            <a:gdLst/>
            <a:ahLst/>
            <a:cxnLst/>
            <a:rect l="l" t="t" r="r" b="b"/>
            <a:pathLst>
              <a:path w="3674745" h="5265420">
                <a:moveTo>
                  <a:pt x="76214" y="0"/>
                </a:moveTo>
                <a:lnTo>
                  <a:pt x="3598531" y="0"/>
                </a:lnTo>
                <a:cubicBezTo>
                  <a:pt x="3640623" y="0"/>
                  <a:pt x="3674745" y="34122"/>
                  <a:pt x="3674745" y="76214"/>
                </a:cubicBezTo>
                <a:lnTo>
                  <a:pt x="3674745" y="5189206"/>
                </a:lnTo>
                <a:cubicBezTo>
                  <a:pt x="3674745" y="5231298"/>
                  <a:pt x="3640623" y="5265420"/>
                  <a:pt x="3598531" y="5265420"/>
                </a:cubicBezTo>
                <a:lnTo>
                  <a:pt x="76214" y="5265420"/>
                </a:lnTo>
                <a:cubicBezTo>
                  <a:pt x="34122" y="5265420"/>
                  <a:pt x="0" y="5231298"/>
                  <a:pt x="0" y="5189206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52580" y="14935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04980" y="16459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4" name="Text 22"/>
          <p:cNvSpPr/>
          <p:nvPr/>
        </p:nvSpPr>
        <p:spPr>
          <a:xfrm>
            <a:off x="5100281" y="1626870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Error &amp; Variability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52580" y="2179320"/>
            <a:ext cx="3286125" cy="1828800"/>
          </a:xfrm>
          <a:custGeom>
            <a:avLst/>
            <a:gdLst/>
            <a:ahLst/>
            <a:cxnLst/>
            <a:rect l="l" t="t" r="r" b="b"/>
            <a:pathLst>
              <a:path w="3286125" h="1828800">
                <a:moveTo>
                  <a:pt x="76206" y="0"/>
                </a:moveTo>
                <a:lnTo>
                  <a:pt x="3209919" y="0"/>
                </a:lnTo>
                <a:cubicBezTo>
                  <a:pt x="3252006" y="0"/>
                  <a:pt x="3286125" y="34119"/>
                  <a:pt x="3286125" y="76206"/>
                </a:cubicBezTo>
                <a:lnTo>
                  <a:pt x="3286125" y="1752594"/>
                </a:lnTo>
                <a:cubicBezTo>
                  <a:pt x="3286125" y="1794681"/>
                  <a:pt x="3252006" y="1828800"/>
                  <a:pt x="3209919" y="1828800"/>
                </a:cubicBezTo>
                <a:lnTo>
                  <a:pt x="76206" y="1828800"/>
                </a:lnTo>
                <a:cubicBezTo>
                  <a:pt x="34119" y="1828800"/>
                  <a:pt x="0" y="1794681"/>
                  <a:pt x="0" y="17525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490680" y="2331720"/>
            <a:ext cx="3209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&gt;30%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66880" y="2827020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Diagnostic Discordance Rate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04980" y="3169920"/>
            <a:ext cx="3057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Inter-observer variability in ambiguous cases can exceed 30%, leading to inconsistent diagnoses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52580" y="4008120"/>
            <a:ext cx="3286125" cy="1295400"/>
          </a:xfrm>
          <a:custGeom>
            <a:avLst/>
            <a:gdLst/>
            <a:ahLst/>
            <a:cxnLst/>
            <a:rect l="l" t="t" r="r" b="b"/>
            <a:pathLst>
              <a:path w="3286125" h="1295400">
                <a:moveTo>
                  <a:pt x="76195" y="0"/>
                </a:moveTo>
                <a:lnTo>
                  <a:pt x="3209930" y="0"/>
                </a:lnTo>
                <a:cubicBezTo>
                  <a:pt x="3251983" y="0"/>
                  <a:pt x="3286125" y="34142"/>
                  <a:pt x="3286125" y="76195"/>
                </a:cubicBezTo>
                <a:lnTo>
                  <a:pt x="3286125" y="1219205"/>
                </a:lnTo>
                <a:cubicBezTo>
                  <a:pt x="3286125" y="1261286"/>
                  <a:pt x="3252011" y="1295400"/>
                  <a:pt x="3209930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14505" y="419862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204" y="-7412"/>
                </a:moveTo>
                <a:cubicBezTo>
                  <a:pt x="9406" y="-10210"/>
                  <a:pt x="4882" y="-10210"/>
                  <a:pt x="2113" y="-7412"/>
                </a:cubicBezTo>
                <a:cubicBezTo>
                  <a:pt x="-655" y="-4614"/>
                  <a:pt x="-685" y="-89"/>
                  <a:pt x="2084" y="2709"/>
                </a:cubicBezTo>
                <a:lnTo>
                  <a:pt x="159246" y="159871"/>
                </a:lnTo>
                <a:cubicBezTo>
                  <a:pt x="162044" y="162669"/>
                  <a:pt x="166568" y="162669"/>
                  <a:pt x="169337" y="159871"/>
                </a:cubicBezTo>
                <a:cubicBezTo>
                  <a:pt x="172105" y="157073"/>
                  <a:pt x="172135" y="152549"/>
                  <a:pt x="169337" y="149781"/>
                </a:cubicBezTo>
                <a:lnTo>
                  <a:pt x="140643" y="121087"/>
                </a:lnTo>
                <a:cubicBezTo>
                  <a:pt x="141446" y="120372"/>
                  <a:pt x="142250" y="119658"/>
                  <a:pt x="143024" y="118943"/>
                </a:cubicBezTo>
                <a:cubicBezTo>
                  <a:pt x="156954" y="105995"/>
                  <a:pt x="166271" y="90547"/>
                  <a:pt x="170706" y="79921"/>
                </a:cubicBezTo>
                <a:cubicBezTo>
                  <a:pt x="171688" y="77569"/>
                  <a:pt x="171688" y="74950"/>
                  <a:pt x="170706" y="72598"/>
                </a:cubicBezTo>
                <a:cubicBezTo>
                  <a:pt x="166271" y="61972"/>
                  <a:pt x="156954" y="46494"/>
                  <a:pt x="143024" y="33576"/>
                </a:cubicBezTo>
                <a:cubicBezTo>
                  <a:pt x="129004" y="20568"/>
                  <a:pt x="109746" y="9585"/>
                  <a:pt x="85695" y="9585"/>
                </a:cubicBezTo>
                <a:cubicBezTo>
                  <a:pt x="68788" y="9585"/>
                  <a:pt x="54263" y="15002"/>
                  <a:pt x="42237" y="22741"/>
                </a:cubicBezTo>
                <a:lnTo>
                  <a:pt x="12204" y="-7412"/>
                </a:lnTo>
                <a:close/>
                <a:moveTo>
                  <a:pt x="60871" y="41285"/>
                </a:moveTo>
                <a:cubicBezTo>
                  <a:pt x="67866" y="36284"/>
                  <a:pt x="76468" y="33337"/>
                  <a:pt x="85725" y="33337"/>
                </a:cubicBezTo>
                <a:cubicBezTo>
                  <a:pt x="109389" y="33337"/>
                  <a:pt x="128588" y="52536"/>
                  <a:pt x="128588" y="76200"/>
                </a:cubicBezTo>
                <a:cubicBezTo>
                  <a:pt x="128588" y="85457"/>
                  <a:pt x="125641" y="94030"/>
                  <a:pt x="120640" y="101054"/>
                </a:cubicBezTo>
                <a:lnTo>
                  <a:pt x="110311" y="90726"/>
                </a:lnTo>
                <a:cubicBezTo>
                  <a:pt x="114092" y="84356"/>
                  <a:pt x="115372" y="76527"/>
                  <a:pt x="113318" y="68788"/>
                </a:cubicBezTo>
                <a:cubicBezTo>
                  <a:pt x="109240" y="53548"/>
                  <a:pt x="93553" y="44500"/>
                  <a:pt x="78313" y="48578"/>
                </a:cubicBezTo>
                <a:cubicBezTo>
                  <a:pt x="75754" y="49262"/>
                  <a:pt x="73343" y="50274"/>
                  <a:pt x="71170" y="51554"/>
                </a:cubicBezTo>
                <a:lnTo>
                  <a:pt x="60841" y="41225"/>
                </a:lnTo>
                <a:close/>
                <a:moveTo>
                  <a:pt x="96828" y="117604"/>
                </a:moveTo>
                <a:cubicBezTo>
                  <a:pt x="93285" y="118556"/>
                  <a:pt x="89565" y="119062"/>
                  <a:pt x="85725" y="119062"/>
                </a:cubicBezTo>
                <a:cubicBezTo>
                  <a:pt x="62061" y="119062"/>
                  <a:pt x="42863" y="99864"/>
                  <a:pt x="42863" y="76200"/>
                </a:cubicBezTo>
                <a:cubicBezTo>
                  <a:pt x="42863" y="72360"/>
                  <a:pt x="43369" y="68640"/>
                  <a:pt x="44321" y="65097"/>
                </a:cubicBezTo>
                <a:lnTo>
                  <a:pt x="20657" y="41434"/>
                </a:lnTo>
                <a:cubicBezTo>
                  <a:pt x="10954" y="52388"/>
                  <a:pt x="4286" y="63996"/>
                  <a:pt x="744" y="72539"/>
                </a:cubicBezTo>
                <a:cubicBezTo>
                  <a:pt x="-238" y="74890"/>
                  <a:pt x="-238" y="77510"/>
                  <a:pt x="744" y="79861"/>
                </a:cubicBezTo>
                <a:cubicBezTo>
                  <a:pt x="5179" y="90488"/>
                  <a:pt x="14496" y="105966"/>
                  <a:pt x="28426" y="118884"/>
                </a:cubicBezTo>
                <a:cubicBezTo>
                  <a:pt x="42446" y="131891"/>
                  <a:pt x="61704" y="142875"/>
                  <a:pt x="85755" y="142875"/>
                </a:cubicBezTo>
                <a:cubicBezTo>
                  <a:pt x="96857" y="142875"/>
                  <a:pt x="106948" y="140524"/>
                  <a:pt x="115967" y="136743"/>
                </a:cubicBezTo>
                <a:lnTo>
                  <a:pt x="96857" y="117634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1" name="Text 29"/>
          <p:cNvSpPr/>
          <p:nvPr/>
        </p:nvSpPr>
        <p:spPr>
          <a:xfrm>
            <a:off x="4871680" y="4160520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Subtle Pattern Recognition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04980" y="4465320"/>
            <a:ext cx="30575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Difficulty distinguishing subtle patterns like consolidations, interstitial opacities, and pleural effusions from artifacts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52580" y="5303520"/>
            <a:ext cx="3286125" cy="1066800"/>
          </a:xfrm>
          <a:custGeom>
            <a:avLst/>
            <a:gdLst/>
            <a:ahLst/>
            <a:cxnLst/>
            <a:rect l="l" t="t" r="r" b="b"/>
            <a:pathLst>
              <a:path w="3286125" h="10668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990598"/>
                </a:lnTo>
                <a:cubicBezTo>
                  <a:pt x="3286125" y="1032683"/>
                  <a:pt x="3252008" y="1066800"/>
                  <a:pt x="320992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24030" y="54940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024" y="97840"/>
                </a:moveTo>
                <a:cubicBezTo>
                  <a:pt x="55572" y="91291"/>
                  <a:pt x="65068" y="85725"/>
                  <a:pt x="76200" y="85725"/>
                </a:cubicBezTo>
                <a:cubicBezTo>
                  <a:pt x="87332" y="85725"/>
                  <a:pt x="96828" y="91291"/>
                  <a:pt x="103376" y="97840"/>
                </a:cubicBezTo>
                <a:cubicBezTo>
                  <a:pt x="106680" y="101144"/>
                  <a:pt x="109359" y="104805"/>
                  <a:pt x="111234" y="108377"/>
                </a:cubicBezTo>
                <a:cubicBezTo>
                  <a:pt x="113080" y="111859"/>
                  <a:pt x="114300" y="115639"/>
                  <a:pt x="114300" y="119062"/>
                </a:cubicBezTo>
                <a:cubicBezTo>
                  <a:pt x="114300" y="120610"/>
                  <a:pt x="113526" y="122099"/>
                  <a:pt x="112246" y="122992"/>
                </a:cubicBezTo>
                <a:cubicBezTo>
                  <a:pt x="110966" y="123885"/>
                  <a:pt x="109329" y="124093"/>
                  <a:pt x="107871" y="123527"/>
                </a:cubicBezTo>
                <a:lnTo>
                  <a:pt x="101769" y="121235"/>
                </a:lnTo>
                <a:cubicBezTo>
                  <a:pt x="93762" y="118229"/>
                  <a:pt x="85249" y="116681"/>
                  <a:pt x="76676" y="116681"/>
                </a:cubicBezTo>
                <a:lnTo>
                  <a:pt x="75724" y="116681"/>
                </a:lnTo>
                <a:cubicBezTo>
                  <a:pt x="67151" y="116681"/>
                  <a:pt x="58668" y="118229"/>
                  <a:pt x="50631" y="121235"/>
                </a:cubicBezTo>
                <a:lnTo>
                  <a:pt x="44529" y="123527"/>
                </a:lnTo>
                <a:cubicBezTo>
                  <a:pt x="43071" y="124063"/>
                  <a:pt x="41434" y="123885"/>
                  <a:pt x="40154" y="122992"/>
                </a:cubicBezTo>
                <a:cubicBezTo>
                  <a:pt x="38874" y="122099"/>
                  <a:pt x="38100" y="120610"/>
                  <a:pt x="38100" y="119062"/>
                </a:cubicBezTo>
                <a:cubicBezTo>
                  <a:pt x="38100" y="115610"/>
                  <a:pt x="39350" y="111859"/>
                  <a:pt x="41166" y="108377"/>
                </a:cubicBezTo>
                <a:cubicBezTo>
                  <a:pt x="43041" y="104805"/>
                  <a:pt x="45720" y="101144"/>
                  <a:pt x="49024" y="97840"/>
                </a:cubicBezTo>
                <a:close/>
                <a:moveTo>
                  <a:pt x="36493" y="47387"/>
                </a:moveTo>
                <a:cubicBezTo>
                  <a:pt x="37832" y="45363"/>
                  <a:pt x="40451" y="44648"/>
                  <a:pt x="42624" y="45750"/>
                </a:cubicBezTo>
                <a:lnTo>
                  <a:pt x="66318" y="57656"/>
                </a:lnTo>
                <a:cubicBezTo>
                  <a:pt x="67925" y="58460"/>
                  <a:pt x="68937" y="60097"/>
                  <a:pt x="68937" y="61912"/>
                </a:cubicBezTo>
                <a:cubicBezTo>
                  <a:pt x="68937" y="63728"/>
                  <a:pt x="67925" y="65365"/>
                  <a:pt x="66318" y="66169"/>
                </a:cubicBezTo>
                <a:lnTo>
                  <a:pt x="42624" y="78075"/>
                </a:lnTo>
                <a:cubicBezTo>
                  <a:pt x="40451" y="79147"/>
                  <a:pt x="37832" y="78462"/>
                  <a:pt x="36493" y="76438"/>
                </a:cubicBezTo>
                <a:cubicBezTo>
                  <a:pt x="35153" y="74414"/>
                  <a:pt x="35570" y="71705"/>
                  <a:pt x="37415" y="70158"/>
                </a:cubicBezTo>
                <a:lnTo>
                  <a:pt x="47327" y="61912"/>
                </a:lnTo>
                <a:lnTo>
                  <a:pt x="37445" y="53667"/>
                </a:lnTo>
                <a:cubicBezTo>
                  <a:pt x="35600" y="52120"/>
                  <a:pt x="35183" y="49411"/>
                  <a:pt x="36522" y="47387"/>
                </a:cubicBezTo>
                <a:close/>
                <a:moveTo>
                  <a:pt x="114955" y="53667"/>
                </a:moveTo>
                <a:lnTo>
                  <a:pt x="105073" y="61912"/>
                </a:lnTo>
                <a:lnTo>
                  <a:pt x="114955" y="70158"/>
                </a:lnTo>
                <a:cubicBezTo>
                  <a:pt x="116800" y="71705"/>
                  <a:pt x="117217" y="74414"/>
                  <a:pt x="115878" y="76438"/>
                </a:cubicBezTo>
                <a:cubicBezTo>
                  <a:pt x="114538" y="78462"/>
                  <a:pt x="111919" y="79177"/>
                  <a:pt x="109746" y="78075"/>
                </a:cubicBezTo>
                <a:lnTo>
                  <a:pt x="86052" y="66169"/>
                </a:lnTo>
                <a:cubicBezTo>
                  <a:pt x="84445" y="65365"/>
                  <a:pt x="83433" y="63728"/>
                  <a:pt x="83433" y="61912"/>
                </a:cubicBezTo>
                <a:cubicBezTo>
                  <a:pt x="83433" y="60097"/>
                  <a:pt x="84445" y="58460"/>
                  <a:pt x="86052" y="57656"/>
                </a:cubicBezTo>
                <a:lnTo>
                  <a:pt x="109746" y="45750"/>
                </a:lnTo>
                <a:cubicBezTo>
                  <a:pt x="111919" y="44678"/>
                  <a:pt x="114538" y="45363"/>
                  <a:pt x="115878" y="47387"/>
                </a:cubicBezTo>
                <a:cubicBezTo>
                  <a:pt x="117217" y="49411"/>
                  <a:pt x="116800" y="52120"/>
                  <a:pt x="114955" y="53667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5" name="Text 33"/>
          <p:cNvSpPr/>
          <p:nvPr/>
        </p:nvSpPr>
        <p:spPr>
          <a:xfrm>
            <a:off x="4871680" y="5455920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Fatigue &amp; Workload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04980" y="5760720"/>
            <a:ext cx="3057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workload leads to fatigue, increasing the risk of missed diagnoses and errors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31731" y="1299210"/>
            <a:ext cx="3674745" cy="5265420"/>
          </a:xfrm>
          <a:custGeom>
            <a:avLst/>
            <a:gdLst/>
            <a:ahLst/>
            <a:cxnLst/>
            <a:rect l="l" t="t" r="r" b="b"/>
            <a:pathLst>
              <a:path w="3674745" h="5265420">
                <a:moveTo>
                  <a:pt x="76214" y="0"/>
                </a:moveTo>
                <a:lnTo>
                  <a:pt x="3598531" y="0"/>
                </a:lnTo>
                <a:cubicBezTo>
                  <a:pt x="3640623" y="0"/>
                  <a:pt x="3674745" y="34122"/>
                  <a:pt x="3674745" y="76214"/>
                </a:cubicBezTo>
                <a:lnTo>
                  <a:pt x="3674745" y="5189206"/>
                </a:lnTo>
                <a:cubicBezTo>
                  <a:pt x="3674745" y="5231298"/>
                  <a:pt x="3640623" y="5265420"/>
                  <a:pt x="3598531" y="5265420"/>
                </a:cubicBezTo>
                <a:lnTo>
                  <a:pt x="76214" y="5265420"/>
                </a:lnTo>
                <a:cubicBezTo>
                  <a:pt x="34122" y="5265420"/>
                  <a:pt x="0" y="5231298"/>
                  <a:pt x="0" y="5189206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>
                  <a:alpha val="20000"/>
                </a:srgbClr>
              </a:gs>
              <a:gs pos="100000">
                <a:srgbClr val="38B2AC">
                  <a:alpha val="20000"/>
                </a:srgbClr>
              </a:gs>
            </a:gsLst>
            <a:lin ang="2700000" scaled="1"/>
          </a:gradFill>
          <a:ln w="10160">
            <a:solidFill>
              <a:srgbClr val="3182CE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26041" y="14935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182CE">
              <a:alpha val="3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449866" y="164592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40" name="Text 38"/>
          <p:cNvSpPr/>
          <p:nvPr/>
        </p:nvSpPr>
        <p:spPr>
          <a:xfrm>
            <a:off x="8973741" y="162687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 for AI Solution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26041" y="2198370"/>
            <a:ext cx="3286125" cy="952500"/>
          </a:xfrm>
          <a:custGeom>
            <a:avLst/>
            <a:gdLst/>
            <a:ahLst/>
            <a:cxnLst/>
            <a:rect l="l" t="t" r="r" b="b"/>
            <a:pathLst>
              <a:path w="3286125" h="952500">
                <a:moveTo>
                  <a:pt x="762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876300"/>
                </a:lnTo>
                <a:cubicBezTo>
                  <a:pt x="3286125" y="918356"/>
                  <a:pt x="3251981" y="952500"/>
                  <a:pt x="320992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4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40341" y="235077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182CE">
              <a:alpha val="3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562261" y="2388870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859441" y="2312670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Screening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59441" y="2579370"/>
            <a:ext cx="2714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Rapid preliminary screening to prioritize urgent cases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26041" y="3265170"/>
            <a:ext cx="3286125" cy="952500"/>
          </a:xfrm>
          <a:custGeom>
            <a:avLst/>
            <a:gdLst/>
            <a:ahLst/>
            <a:cxnLst/>
            <a:rect l="l" t="t" r="r" b="b"/>
            <a:pathLst>
              <a:path w="3286125" h="952500">
                <a:moveTo>
                  <a:pt x="762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876300"/>
                </a:lnTo>
                <a:cubicBezTo>
                  <a:pt x="3286125" y="918356"/>
                  <a:pt x="3251981" y="952500"/>
                  <a:pt x="320992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4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40341" y="341757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182CE">
              <a:alpha val="3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548450" y="345567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859441" y="3379470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Support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859441" y="3646170"/>
            <a:ext cx="2714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Assist radiologists with second opinions and confidence scores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26041" y="4331970"/>
            <a:ext cx="3286125" cy="952500"/>
          </a:xfrm>
          <a:custGeom>
            <a:avLst/>
            <a:gdLst/>
            <a:ahLst/>
            <a:cxnLst/>
            <a:rect l="l" t="t" r="r" b="b"/>
            <a:pathLst>
              <a:path w="3286125" h="952500">
                <a:moveTo>
                  <a:pt x="762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876300"/>
                </a:lnTo>
                <a:cubicBezTo>
                  <a:pt x="3286125" y="918356"/>
                  <a:pt x="3251981" y="952500"/>
                  <a:pt x="320992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4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40341" y="448437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182CE">
              <a:alpha val="3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547735" y="452247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859441" y="4446270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859441" y="4712970"/>
            <a:ext cx="2714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Standardized analysis reducing inter-observer variability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26041" y="5398770"/>
            <a:ext cx="3286125" cy="952500"/>
          </a:xfrm>
          <a:custGeom>
            <a:avLst/>
            <a:gdLst/>
            <a:ahLst/>
            <a:cxnLst/>
            <a:rect l="l" t="t" r="r" b="b"/>
            <a:pathLst>
              <a:path w="3286125" h="952500">
                <a:moveTo>
                  <a:pt x="762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876300"/>
                </a:lnTo>
                <a:cubicBezTo>
                  <a:pt x="3286125" y="918356"/>
                  <a:pt x="3251981" y="952500"/>
                  <a:pt x="320992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202C">
              <a:alpha val="4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40341" y="555117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182CE">
              <a:alpha val="3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547854" y="558927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859441" y="5513070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859441" y="5779770"/>
            <a:ext cx="2714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diagnosis in resource-limited settings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518" y="493373"/>
            <a:ext cx="75904" cy="455421"/>
          </a:xfrm>
          <a:custGeom>
            <a:avLst/>
            <a:gdLst/>
            <a:ahLst/>
            <a:cxnLst/>
            <a:rect l="l" t="t" r="r" b="b"/>
            <a:pathLst>
              <a:path w="75904" h="455421">
                <a:moveTo>
                  <a:pt x="37952" y="0"/>
                </a:moveTo>
                <a:lnTo>
                  <a:pt x="37952" y="0"/>
                </a:lnTo>
                <a:cubicBezTo>
                  <a:pt x="58898" y="0"/>
                  <a:pt x="75904" y="17006"/>
                  <a:pt x="75904" y="37952"/>
                </a:cubicBezTo>
                <a:lnTo>
                  <a:pt x="75904" y="417469"/>
                </a:lnTo>
                <a:cubicBezTo>
                  <a:pt x="75904" y="438429"/>
                  <a:pt x="58912" y="455421"/>
                  <a:pt x="37952" y="455421"/>
                </a:cubicBezTo>
                <a:lnTo>
                  <a:pt x="37952" y="455421"/>
                </a:lnTo>
                <a:cubicBezTo>
                  <a:pt x="16992" y="455421"/>
                  <a:pt x="0" y="438429"/>
                  <a:pt x="0" y="417469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" name="Text 1"/>
          <p:cNvSpPr/>
          <p:nvPr/>
        </p:nvSpPr>
        <p:spPr>
          <a:xfrm>
            <a:off x="607228" y="379518"/>
            <a:ext cx="3719272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kern="0" spc="6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7228" y="607228"/>
            <a:ext cx="3871079" cy="455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7108" y="1183650"/>
            <a:ext cx="3649061" cy="5556136"/>
          </a:xfrm>
          <a:custGeom>
            <a:avLst/>
            <a:gdLst/>
            <a:ahLst/>
            <a:cxnLst/>
            <a:rect l="l" t="t" r="r" b="b"/>
            <a:pathLst>
              <a:path w="3649061" h="5556136">
                <a:moveTo>
                  <a:pt x="113851" y="0"/>
                </a:moveTo>
                <a:lnTo>
                  <a:pt x="3535210" y="0"/>
                </a:lnTo>
                <a:cubicBezTo>
                  <a:pt x="3598088" y="0"/>
                  <a:pt x="3649061" y="50973"/>
                  <a:pt x="3649061" y="113851"/>
                </a:cubicBezTo>
                <a:lnTo>
                  <a:pt x="3649061" y="5442286"/>
                </a:lnTo>
                <a:cubicBezTo>
                  <a:pt x="3649061" y="5505164"/>
                  <a:pt x="3598088" y="5556136"/>
                  <a:pt x="3535210" y="5556136"/>
                </a:cubicBezTo>
                <a:lnTo>
                  <a:pt x="113851" y="5556136"/>
                </a:lnTo>
                <a:cubicBezTo>
                  <a:pt x="50973" y="5556136"/>
                  <a:pt x="0" y="5505164"/>
                  <a:pt x="0" y="5442286"/>
                </a:cubicBezTo>
                <a:lnTo>
                  <a:pt x="0" y="113851"/>
                </a:lnTo>
                <a:cubicBezTo>
                  <a:pt x="0" y="51015"/>
                  <a:pt x="51015" y="0"/>
                  <a:pt x="113851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>
                  <a:alpha val="20000"/>
                </a:srgbClr>
              </a:gs>
              <a:gs pos="100000">
                <a:srgbClr val="3182CE">
                  <a:alpha val="10000"/>
                </a:srgbClr>
              </a:gs>
            </a:gsLst>
            <a:lin ang="2700000" scaled="1"/>
          </a:gradFill>
          <a:ln w="20320">
            <a:solidFill>
              <a:srgbClr val="3182CE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2409" y="1418952"/>
            <a:ext cx="607228" cy="607228"/>
          </a:xfrm>
          <a:custGeom>
            <a:avLst/>
            <a:gdLst/>
            <a:ahLst/>
            <a:cxnLst/>
            <a:rect l="l" t="t" r="r" b="b"/>
            <a:pathLst>
              <a:path w="607228" h="607228">
                <a:moveTo>
                  <a:pt x="303614" y="0"/>
                </a:moveTo>
                <a:lnTo>
                  <a:pt x="303614" y="0"/>
                </a:lnTo>
                <a:cubicBezTo>
                  <a:pt x="471183" y="0"/>
                  <a:pt x="607228" y="136045"/>
                  <a:pt x="607228" y="303614"/>
                </a:cubicBezTo>
                <a:lnTo>
                  <a:pt x="607228" y="303614"/>
                </a:lnTo>
                <a:cubicBezTo>
                  <a:pt x="607228" y="471183"/>
                  <a:pt x="471183" y="607228"/>
                  <a:pt x="303614" y="607228"/>
                </a:cubicBezTo>
                <a:lnTo>
                  <a:pt x="303614" y="607228"/>
                </a:lnTo>
                <a:cubicBezTo>
                  <a:pt x="136045" y="607228"/>
                  <a:pt x="0" y="471183"/>
                  <a:pt x="0" y="303614"/>
                </a:cubicBezTo>
                <a:lnTo>
                  <a:pt x="0" y="303614"/>
                </a:lnTo>
                <a:cubicBezTo>
                  <a:pt x="0" y="136045"/>
                  <a:pt x="136045" y="0"/>
                  <a:pt x="303614" y="0"/>
                </a:cubicBezTo>
                <a:close/>
              </a:path>
            </a:pathLst>
          </a:custGeom>
          <a:solidFill>
            <a:srgbClr val="3182CE">
              <a:alpha val="3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8248" y="1551783"/>
            <a:ext cx="436445" cy="34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1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81444" y="1570759"/>
            <a:ext cx="2267617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Pneumonia Detection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2409" y="2253890"/>
            <a:ext cx="3263851" cy="111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a deep learning system capable of accurately detecting pneumonia from chest X-ray images with high sensitivity and specificity.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3180" y="4305555"/>
            <a:ext cx="3178459" cy="759035"/>
          </a:xfrm>
          <a:custGeom>
            <a:avLst/>
            <a:gdLst/>
            <a:ahLst/>
            <a:cxnLst/>
            <a:rect l="l" t="t" r="r" b="b"/>
            <a:pathLst>
              <a:path w="3178459" h="759035">
                <a:moveTo>
                  <a:pt x="75904" y="0"/>
                </a:moveTo>
                <a:lnTo>
                  <a:pt x="3102556" y="0"/>
                </a:lnTo>
                <a:cubicBezTo>
                  <a:pt x="3144476" y="0"/>
                  <a:pt x="3178459" y="33983"/>
                  <a:pt x="3178459" y="75904"/>
                </a:cubicBezTo>
                <a:lnTo>
                  <a:pt x="3178459" y="683132"/>
                </a:lnTo>
                <a:cubicBezTo>
                  <a:pt x="3178459" y="725052"/>
                  <a:pt x="3144476" y="759035"/>
                  <a:pt x="3102556" y="759035"/>
                </a:cubicBezTo>
                <a:lnTo>
                  <a:pt x="75904" y="759035"/>
                </a:lnTo>
                <a:cubicBezTo>
                  <a:pt x="34011" y="759035"/>
                  <a:pt x="0" y="725024"/>
                  <a:pt x="0" y="683132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64987" y="4495196"/>
            <a:ext cx="1185992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Accuracy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61661" y="4457362"/>
            <a:ext cx="692619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3" b="1" dirty="0" smtClean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4987" y="4836762"/>
            <a:ext cx="2874845" cy="75904"/>
          </a:xfrm>
          <a:custGeom>
            <a:avLst/>
            <a:gdLst/>
            <a:ahLst/>
            <a:cxnLst/>
            <a:rect l="l" t="t" r="r" b="b"/>
            <a:pathLst>
              <a:path w="2874845" h="75904">
                <a:moveTo>
                  <a:pt x="37952" y="0"/>
                </a:moveTo>
                <a:lnTo>
                  <a:pt x="2836893" y="0"/>
                </a:lnTo>
                <a:cubicBezTo>
                  <a:pt x="2857854" y="0"/>
                  <a:pt x="2874845" y="16992"/>
                  <a:pt x="2874845" y="37952"/>
                </a:cubicBezTo>
                <a:lnTo>
                  <a:pt x="2874845" y="37952"/>
                </a:lnTo>
                <a:cubicBezTo>
                  <a:pt x="2874845" y="58912"/>
                  <a:pt x="2857854" y="75904"/>
                  <a:pt x="2836893" y="75904"/>
                </a:cubicBezTo>
                <a:lnTo>
                  <a:pt x="37952" y="75904"/>
                </a:lnTo>
                <a:cubicBezTo>
                  <a:pt x="17006" y="75904"/>
                  <a:pt x="0" y="58898"/>
                  <a:pt x="0" y="37952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64987" y="4836762"/>
            <a:ext cx="2723038" cy="75904"/>
          </a:xfrm>
          <a:custGeom>
            <a:avLst/>
            <a:gdLst/>
            <a:ahLst/>
            <a:cxnLst/>
            <a:rect l="l" t="t" r="r" b="b"/>
            <a:pathLst>
              <a:path w="2723038" h="75904">
                <a:moveTo>
                  <a:pt x="37952" y="0"/>
                </a:moveTo>
                <a:lnTo>
                  <a:pt x="2685086" y="0"/>
                </a:lnTo>
                <a:cubicBezTo>
                  <a:pt x="2706047" y="0"/>
                  <a:pt x="2723038" y="16992"/>
                  <a:pt x="2723038" y="37952"/>
                </a:cubicBezTo>
                <a:lnTo>
                  <a:pt x="2723038" y="37952"/>
                </a:lnTo>
                <a:cubicBezTo>
                  <a:pt x="2723038" y="58912"/>
                  <a:pt x="2706047" y="75904"/>
                  <a:pt x="2685086" y="75904"/>
                </a:cubicBezTo>
                <a:lnTo>
                  <a:pt x="37952" y="75904"/>
                </a:lnTo>
                <a:cubicBezTo>
                  <a:pt x="17006" y="75904"/>
                  <a:pt x="0" y="58898"/>
                  <a:pt x="0" y="37952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25" name="Shape 23"/>
          <p:cNvSpPr/>
          <p:nvPr/>
        </p:nvSpPr>
        <p:spPr>
          <a:xfrm>
            <a:off x="4275027" y="1183650"/>
            <a:ext cx="3649061" cy="5556136"/>
          </a:xfrm>
          <a:custGeom>
            <a:avLst/>
            <a:gdLst/>
            <a:ahLst/>
            <a:cxnLst/>
            <a:rect l="l" t="t" r="r" b="b"/>
            <a:pathLst>
              <a:path w="3649061" h="5556136">
                <a:moveTo>
                  <a:pt x="113851" y="0"/>
                </a:moveTo>
                <a:lnTo>
                  <a:pt x="3535210" y="0"/>
                </a:lnTo>
                <a:cubicBezTo>
                  <a:pt x="3598088" y="0"/>
                  <a:pt x="3649061" y="50973"/>
                  <a:pt x="3649061" y="113851"/>
                </a:cubicBezTo>
                <a:lnTo>
                  <a:pt x="3649061" y="5442286"/>
                </a:lnTo>
                <a:cubicBezTo>
                  <a:pt x="3649061" y="5505164"/>
                  <a:pt x="3598088" y="5556136"/>
                  <a:pt x="3535210" y="5556136"/>
                </a:cubicBezTo>
                <a:lnTo>
                  <a:pt x="113851" y="5556136"/>
                </a:lnTo>
                <a:cubicBezTo>
                  <a:pt x="50973" y="5556136"/>
                  <a:pt x="0" y="5505164"/>
                  <a:pt x="0" y="5442286"/>
                </a:cubicBezTo>
                <a:lnTo>
                  <a:pt x="0" y="113851"/>
                </a:lnTo>
                <a:cubicBezTo>
                  <a:pt x="0" y="51015"/>
                  <a:pt x="51015" y="0"/>
                  <a:pt x="113851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20320">
            <a:solidFill>
              <a:srgbClr val="38B2AC">
                <a:alpha val="5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0328" y="1418952"/>
            <a:ext cx="607228" cy="607228"/>
          </a:xfrm>
          <a:custGeom>
            <a:avLst/>
            <a:gdLst/>
            <a:ahLst/>
            <a:cxnLst/>
            <a:rect l="l" t="t" r="r" b="b"/>
            <a:pathLst>
              <a:path w="607228" h="607228">
                <a:moveTo>
                  <a:pt x="303614" y="0"/>
                </a:moveTo>
                <a:lnTo>
                  <a:pt x="303614" y="0"/>
                </a:lnTo>
                <a:cubicBezTo>
                  <a:pt x="471183" y="0"/>
                  <a:pt x="607228" y="136045"/>
                  <a:pt x="607228" y="303614"/>
                </a:cubicBezTo>
                <a:lnTo>
                  <a:pt x="607228" y="303614"/>
                </a:lnTo>
                <a:cubicBezTo>
                  <a:pt x="607228" y="471183"/>
                  <a:pt x="471183" y="607228"/>
                  <a:pt x="303614" y="607228"/>
                </a:cubicBezTo>
                <a:lnTo>
                  <a:pt x="303614" y="607228"/>
                </a:lnTo>
                <a:cubicBezTo>
                  <a:pt x="136045" y="607228"/>
                  <a:pt x="0" y="471183"/>
                  <a:pt x="0" y="303614"/>
                </a:cubicBezTo>
                <a:lnTo>
                  <a:pt x="0" y="303614"/>
                </a:lnTo>
                <a:cubicBezTo>
                  <a:pt x="0" y="136045"/>
                  <a:pt x="136045" y="0"/>
                  <a:pt x="303614" y="0"/>
                </a:cubicBez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640432" y="1551783"/>
            <a:ext cx="493373" cy="34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1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69363" y="1570759"/>
            <a:ext cx="2020931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Comparison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10328" y="2253890"/>
            <a:ext cx="3263851" cy="1110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 and evaluate multiple state-of-the-art deep learning architectures to identify the most effective approach for pneumonia detection.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10328" y="3997299"/>
            <a:ext cx="3178459" cy="759035"/>
          </a:xfrm>
          <a:custGeom>
            <a:avLst/>
            <a:gdLst/>
            <a:ahLst/>
            <a:cxnLst/>
            <a:rect l="l" t="t" r="r" b="b"/>
            <a:pathLst>
              <a:path w="3178459" h="759035">
                <a:moveTo>
                  <a:pt x="75904" y="0"/>
                </a:moveTo>
                <a:lnTo>
                  <a:pt x="3102556" y="0"/>
                </a:lnTo>
                <a:cubicBezTo>
                  <a:pt x="3144476" y="0"/>
                  <a:pt x="3178459" y="33983"/>
                  <a:pt x="3178459" y="75904"/>
                </a:cubicBezTo>
                <a:lnTo>
                  <a:pt x="3178459" y="683132"/>
                </a:lnTo>
                <a:cubicBezTo>
                  <a:pt x="3178459" y="725052"/>
                  <a:pt x="3144476" y="759035"/>
                  <a:pt x="3102556" y="759035"/>
                </a:cubicBezTo>
                <a:lnTo>
                  <a:pt x="75904" y="759035"/>
                </a:lnTo>
                <a:cubicBezTo>
                  <a:pt x="34011" y="759035"/>
                  <a:pt x="0" y="725024"/>
                  <a:pt x="0" y="683132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62135" y="4149106"/>
            <a:ext cx="455421" cy="455421"/>
          </a:xfrm>
          <a:custGeom>
            <a:avLst/>
            <a:gdLst/>
            <a:ahLst/>
            <a:cxnLst/>
            <a:rect l="l" t="t" r="r" b="b"/>
            <a:pathLst>
              <a:path w="455421" h="455421">
                <a:moveTo>
                  <a:pt x="75905" y="0"/>
                </a:moveTo>
                <a:lnTo>
                  <a:pt x="379516" y="0"/>
                </a:lnTo>
                <a:cubicBezTo>
                  <a:pt x="421437" y="0"/>
                  <a:pt x="455421" y="33984"/>
                  <a:pt x="455421" y="75905"/>
                </a:cubicBezTo>
                <a:lnTo>
                  <a:pt x="455421" y="379516"/>
                </a:lnTo>
                <a:cubicBezTo>
                  <a:pt x="455421" y="421437"/>
                  <a:pt x="421437" y="455421"/>
                  <a:pt x="379516" y="455421"/>
                </a:cubicBezTo>
                <a:lnTo>
                  <a:pt x="75905" y="455421"/>
                </a:lnTo>
                <a:cubicBezTo>
                  <a:pt x="33984" y="455421"/>
                  <a:pt x="0" y="421437"/>
                  <a:pt x="0" y="379516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783107" y="4281937"/>
            <a:ext cx="213479" cy="189759"/>
          </a:xfrm>
          <a:custGeom>
            <a:avLst/>
            <a:gdLst/>
            <a:ahLst/>
            <a:cxnLst/>
            <a:rect l="l" t="t" r="r" b="b"/>
            <a:pathLst>
              <a:path w="213479" h="189759">
                <a:moveTo>
                  <a:pt x="91914" y="32615"/>
                </a:moveTo>
                <a:lnTo>
                  <a:pt x="121564" y="32615"/>
                </a:lnTo>
                <a:lnTo>
                  <a:pt x="121564" y="50405"/>
                </a:lnTo>
                <a:lnTo>
                  <a:pt x="91914" y="50405"/>
                </a:lnTo>
                <a:lnTo>
                  <a:pt x="91914" y="32615"/>
                </a:lnTo>
                <a:close/>
                <a:moveTo>
                  <a:pt x="88949" y="11860"/>
                </a:moveTo>
                <a:cubicBezTo>
                  <a:pt x="79128" y="11860"/>
                  <a:pt x="71160" y="19828"/>
                  <a:pt x="71160" y="29650"/>
                </a:cubicBezTo>
                <a:lnTo>
                  <a:pt x="71160" y="53370"/>
                </a:lnTo>
                <a:cubicBezTo>
                  <a:pt x="71160" y="63191"/>
                  <a:pt x="79128" y="71160"/>
                  <a:pt x="88949" y="71160"/>
                </a:cubicBezTo>
                <a:lnTo>
                  <a:pt x="94879" y="71160"/>
                </a:lnTo>
                <a:lnTo>
                  <a:pt x="94879" y="83019"/>
                </a:lnTo>
                <a:lnTo>
                  <a:pt x="11860" y="83019"/>
                </a:lnTo>
                <a:cubicBezTo>
                  <a:pt x="5300" y="83019"/>
                  <a:pt x="0" y="88319"/>
                  <a:pt x="0" y="94879"/>
                </a:cubicBezTo>
                <a:cubicBezTo>
                  <a:pt x="0" y="101439"/>
                  <a:pt x="5300" y="106739"/>
                  <a:pt x="11860" y="106739"/>
                </a:cubicBezTo>
                <a:lnTo>
                  <a:pt x="47440" y="106739"/>
                </a:lnTo>
                <a:lnTo>
                  <a:pt x="47440" y="118599"/>
                </a:lnTo>
                <a:lnTo>
                  <a:pt x="41510" y="118599"/>
                </a:lnTo>
                <a:cubicBezTo>
                  <a:pt x="31688" y="118599"/>
                  <a:pt x="23720" y="126568"/>
                  <a:pt x="23720" y="136389"/>
                </a:cubicBezTo>
                <a:lnTo>
                  <a:pt x="23720" y="160109"/>
                </a:lnTo>
                <a:cubicBezTo>
                  <a:pt x="23720" y="169930"/>
                  <a:pt x="31688" y="177899"/>
                  <a:pt x="41510" y="177899"/>
                </a:cubicBezTo>
                <a:lnTo>
                  <a:pt x="77089" y="177899"/>
                </a:lnTo>
                <a:cubicBezTo>
                  <a:pt x="86911" y="177899"/>
                  <a:pt x="94879" y="169930"/>
                  <a:pt x="94879" y="160109"/>
                </a:cubicBezTo>
                <a:lnTo>
                  <a:pt x="94879" y="136389"/>
                </a:lnTo>
                <a:cubicBezTo>
                  <a:pt x="94879" y="126568"/>
                  <a:pt x="86911" y="118599"/>
                  <a:pt x="77089" y="118599"/>
                </a:cubicBezTo>
                <a:lnTo>
                  <a:pt x="71160" y="118599"/>
                </a:lnTo>
                <a:lnTo>
                  <a:pt x="71160" y="106739"/>
                </a:lnTo>
                <a:lnTo>
                  <a:pt x="142319" y="106739"/>
                </a:lnTo>
                <a:lnTo>
                  <a:pt x="142319" y="118599"/>
                </a:lnTo>
                <a:lnTo>
                  <a:pt x="136389" y="118599"/>
                </a:lnTo>
                <a:cubicBezTo>
                  <a:pt x="126568" y="118599"/>
                  <a:pt x="118599" y="126568"/>
                  <a:pt x="118599" y="136389"/>
                </a:cubicBezTo>
                <a:lnTo>
                  <a:pt x="118599" y="160109"/>
                </a:lnTo>
                <a:cubicBezTo>
                  <a:pt x="118599" y="169930"/>
                  <a:pt x="126568" y="177899"/>
                  <a:pt x="136389" y="177899"/>
                </a:cubicBezTo>
                <a:lnTo>
                  <a:pt x="171969" y="177899"/>
                </a:lnTo>
                <a:cubicBezTo>
                  <a:pt x="181790" y="177899"/>
                  <a:pt x="189759" y="169930"/>
                  <a:pt x="189759" y="160109"/>
                </a:cubicBezTo>
                <a:lnTo>
                  <a:pt x="189759" y="136389"/>
                </a:lnTo>
                <a:cubicBezTo>
                  <a:pt x="189759" y="126568"/>
                  <a:pt x="181790" y="118599"/>
                  <a:pt x="171969" y="118599"/>
                </a:cubicBezTo>
                <a:lnTo>
                  <a:pt x="166039" y="118599"/>
                </a:lnTo>
                <a:lnTo>
                  <a:pt x="166039" y="106739"/>
                </a:lnTo>
                <a:lnTo>
                  <a:pt x="201619" y="106739"/>
                </a:lnTo>
                <a:cubicBezTo>
                  <a:pt x="208179" y="106739"/>
                  <a:pt x="213479" y="101439"/>
                  <a:pt x="213479" y="94879"/>
                </a:cubicBezTo>
                <a:cubicBezTo>
                  <a:pt x="213479" y="88319"/>
                  <a:pt x="208179" y="83019"/>
                  <a:pt x="201619" y="83019"/>
                </a:cubicBezTo>
                <a:lnTo>
                  <a:pt x="118599" y="83019"/>
                </a:lnTo>
                <a:lnTo>
                  <a:pt x="118599" y="71160"/>
                </a:lnTo>
                <a:lnTo>
                  <a:pt x="124529" y="71160"/>
                </a:lnTo>
                <a:cubicBezTo>
                  <a:pt x="134351" y="71160"/>
                  <a:pt x="142319" y="63191"/>
                  <a:pt x="142319" y="53370"/>
                </a:cubicBezTo>
                <a:lnTo>
                  <a:pt x="142319" y="29650"/>
                </a:lnTo>
                <a:cubicBezTo>
                  <a:pt x="142319" y="19828"/>
                  <a:pt x="134351" y="11860"/>
                  <a:pt x="124529" y="11860"/>
                </a:cubicBezTo>
                <a:lnTo>
                  <a:pt x="88949" y="11860"/>
                </a:lnTo>
                <a:close/>
                <a:moveTo>
                  <a:pt x="166039" y="139354"/>
                </a:moveTo>
                <a:lnTo>
                  <a:pt x="169004" y="139354"/>
                </a:lnTo>
                <a:lnTo>
                  <a:pt x="169004" y="157144"/>
                </a:lnTo>
                <a:lnTo>
                  <a:pt x="139354" y="157144"/>
                </a:lnTo>
                <a:lnTo>
                  <a:pt x="139354" y="139354"/>
                </a:lnTo>
                <a:lnTo>
                  <a:pt x="166039" y="139354"/>
                </a:lnTo>
                <a:close/>
                <a:moveTo>
                  <a:pt x="71160" y="139354"/>
                </a:moveTo>
                <a:lnTo>
                  <a:pt x="74125" y="139354"/>
                </a:lnTo>
                <a:lnTo>
                  <a:pt x="74125" y="157144"/>
                </a:lnTo>
                <a:lnTo>
                  <a:pt x="44475" y="157144"/>
                </a:lnTo>
                <a:lnTo>
                  <a:pt x="44475" y="139354"/>
                </a:lnTo>
                <a:lnTo>
                  <a:pt x="71160" y="139354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3" name="Text 31"/>
          <p:cNvSpPr/>
          <p:nvPr/>
        </p:nvSpPr>
        <p:spPr>
          <a:xfrm>
            <a:off x="5269363" y="4149106"/>
            <a:ext cx="2343521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ResNet-50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69363" y="4414768"/>
            <a:ext cx="2334033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 layers with residual connections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10328" y="4870189"/>
            <a:ext cx="3178459" cy="759035"/>
          </a:xfrm>
          <a:custGeom>
            <a:avLst/>
            <a:gdLst/>
            <a:ahLst/>
            <a:cxnLst/>
            <a:rect l="l" t="t" r="r" b="b"/>
            <a:pathLst>
              <a:path w="3178459" h="759035">
                <a:moveTo>
                  <a:pt x="75904" y="0"/>
                </a:moveTo>
                <a:lnTo>
                  <a:pt x="3102556" y="0"/>
                </a:lnTo>
                <a:cubicBezTo>
                  <a:pt x="3144476" y="0"/>
                  <a:pt x="3178459" y="33983"/>
                  <a:pt x="3178459" y="75904"/>
                </a:cubicBezTo>
                <a:lnTo>
                  <a:pt x="3178459" y="683132"/>
                </a:lnTo>
                <a:cubicBezTo>
                  <a:pt x="3178459" y="725052"/>
                  <a:pt x="3144476" y="759035"/>
                  <a:pt x="3102556" y="759035"/>
                </a:cubicBezTo>
                <a:lnTo>
                  <a:pt x="75904" y="759035"/>
                </a:lnTo>
                <a:cubicBezTo>
                  <a:pt x="34011" y="759035"/>
                  <a:pt x="0" y="725024"/>
                  <a:pt x="0" y="683132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62135" y="5021996"/>
            <a:ext cx="455421" cy="455421"/>
          </a:xfrm>
          <a:custGeom>
            <a:avLst/>
            <a:gdLst/>
            <a:ahLst/>
            <a:cxnLst/>
            <a:rect l="l" t="t" r="r" b="b"/>
            <a:pathLst>
              <a:path w="455421" h="455421">
                <a:moveTo>
                  <a:pt x="75905" y="0"/>
                </a:moveTo>
                <a:lnTo>
                  <a:pt x="379516" y="0"/>
                </a:lnTo>
                <a:cubicBezTo>
                  <a:pt x="421437" y="0"/>
                  <a:pt x="455421" y="33984"/>
                  <a:pt x="455421" y="75905"/>
                </a:cubicBezTo>
                <a:lnTo>
                  <a:pt x="455421" y="379516"/>
                </a:lnTo>
                <a:cubicBezTo>
                  <a:pt x="455421" y="421437"/>
                  <a:pt x="421437" y="455421"/>
                  <a:pt x="379516" y="455421"/>
                </a:cubicBezTo>
                <a:lnTo>
                  <a:pt x="75905" y="455421"/>
                </a:lnTo>
                <a:cubicBezTo>
                  <a:pt x="33984" y="455421"/>
                  <a:pt x="0" y="421437"/>
                  <a:pt x="0" y="379516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06826" y="5154827"/>
            <a:ext cx="166039" cy="189759"/>
          </a:xfrm>
          <a:custGeom>
            <a:avLst/>
            <a:gdLst/>
            <a:ahLst/>
            <a:cxnLst/>
            <a:rect l="l" t="t" r="r" b="b"/>
            <a:pathLst>
              <a:path w="166039" h="189759">
                <a:moveTo>
                  <a:pt x="125567" y="-3669"/>
                </a:moveTo>
                <a:cubicBezTo>
                  <a:pt x="129977" y="-482"/>
                  <a:pt x="131608" y="5300"/>
                  <a:pt x="129607" y="10340"/>
                </a:cubicBezTo>
                <a:lnTo>
                  <a:pt x="100550" y="83019"/>
                </a:lnTo>
                <a:lnTo>
                  <a:pt x="154179" y="83019"/>
                </a:lnTo>
                <a:cubicBezTo>
                  <a:pt x="159182" y="83019"/>
                  <a:pt x="163630" y="86133"/>
                  <a:pt x="165335" y="90840"/>
                </a:cubicBezTo>
                <a:cubicBezTo>
                  <a:pt x="167040" y="95546"/>
                  <a:pt x="165594" y="100809"/>
                  <a:pt x="161777" y="103997"/>
                </a:cubicBezTo>
                <a:lnTo>
                  <a:pt x="55037" y="192946"/>
                </a:lnTo>
                <a:cubicBezTo>
                  <a:pt x="50849" y="196430"/>
                  <a:pt x="44882" y="196615"/>
                  <a:pt x="40472" y="193428"/>
                </a:cubicBezTo>
                <a:cubicBezTo>
                  <a:pt x="36062" y="190241"/>
                  <a:pt x="34431" y="184459"/>
                  <a:pt x="36432" y="179418"/>
                </a:cubicBezTo>
                <a:lnTo>
                  <a:pt x="65489" y="106739"/>
                </a:lnTo>
                <a:lnTo>
                  <a:pt x="11860" y="106739"/>
                </a:lnTo>
                <a:cubicBezTo>
                  <a:pt x="6857" y="106739"/>
                  <a:pt x="2409" y="103626"/>
                  <a:pt x="704" y="98919"/>
                </a:cubicBezTo>
                <a:cubicBezTo>
                  <a:pt x="-1001" y="94212"/>
                  <a:pt x="445" y="88949"/>
                  <a:pt x="4262" y="85762"/>
                </a:cubicBezTo>
                <a:lnTo>
                  <a:pt x="111001" y="-3187"/>
                </a:lnTo>
                <a:cubicBezTo>
                  <a:pt x="115189" y="-6671"/>
                  <a:pt x="121157" y="-6857"/>
                  <a:pt x="125567" y="-3669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8" name="Text 36"/>
          <p:cNvSpPr/>
          <p:nvPr/>
        </p:nvSpPr>
        <p:spPr>
          <a:xfrm>
            <a:off x="5269363" y="5021996"/>
            <a:ext cx="2343521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69363" y="5287658"/>
            <a:ext cx="2334033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Compound scaling for efficiency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510328" y="5743079"/>
            <a:ext cx="3178459" cy="759035"/>
          </a:xfrm>
          <a:custGeom>
            <a:avLst/>
            <a:gdLst/>
            <a:ahLst/>
            <a:cxnLst/>
            <a:rect l="l" t="t" r="r" b="b"/>
            <a:pathLst>
              <a:path w="3178459" h="759035">
                <a:moveTo>
                  <a:pt x="75904" y="0"/>
                </a:moveTo>
                <a:lnTo>
                  <a:pt x="3102556" y="0"/>
                </a:lnTo>
                <a:cubicBezTo>
                  <a:pt x="3144476" y="0"/>
                  <a:pt x="3178459" y="33983"/>
                  <a:pt x="3178459" y="75904"/>
                </a:cubicBezTo>
                <a:lnTo>
                  <a:pt x="3178459" y="683132"/>
                </a:lnTo>
                <a:cubicBezTo>
                  <a:pt x="3178459" y="725052"/>
                  <a:pt x="3144476" y="759035"/>
                  <a:pt x="3102556" y="759035"/>
                </a:cubicBezTo>
                <a:lnTo>
                  <a:pt x="75904" y="759035"/>
                </a:lnTo>
                <a:cubicBezTo>
                  <a:pt x="34011" y="759035"/>
                  <a:pt x="0" y="725024"/>
                  <a:pt x="0" y="683132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662135" y="5894886"/>
            <a:ext cx="455421" cy="455421"/>
          </a:xfrm>
          <a:custGeom>
            <a:avLst/>
            <a:gdLst/>
            <a:ahLst/>
            <a:cxnLst/>
            <a:rect l="l" t="t" r="r" b="b"/>
            <a:pathLst>
              <a:path w="455421" h="455421">
                <a:moveTo>
                  <a:pt x="75905" y="0"/>
                </a:moveTo>
                <a:lnTo>
                  <a:pt x="379516" y="0"/>
                </a:lnTo>
                <a:cubicBezTo>
                  <a:pt x="421437" y="0"/>
                  <a:pt x="455421" y="33984"/>
                  <a:pt x="455421" y="75905"/>
                </a:cubicBezTo>
                <a:lnTo>
                  <a:pt x="455421" y="379516"/>
                </a:lnTo>
                <a:cubicBezTo>
                  <a:pt x="455421" y="421437"/>
                  <a:pt x="421437" y="455421"/>
                  <a:pt x="379516" y="455421"/>
                </a:cubicBezTo>
                <a:lnTo>
                  <a:pt x="75905" y="455421"/>
                </a:lnTo>
                <a:cubicBezTo>
                  <a:pt x="33984" y="455421"/>
                  <a:pt x="0" y="421437"/>
                  <a:pt x="0" y="379516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794967" y="6027717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0" y="29650"/>
                </a:moveTo>
                <a:cubicBezTo>
                  <a:pt x="0" y="19828"/>
                  <a:pt x="7968" y="11860"/>
                  <a:pt x="17790" y="11860"/>
                </a:cubicBezTo>
                <a:lnTo>
                  <a:pt x="53370" y="11860"/>
                </a:lnTo>
                <a:cubicBezTo>
                  <a:pt x="63191" y="11860"/>
                  <a:pt x="71160" y="19828"/>
                  <a:pt x="71160" y="29650"/>
                </a:cubicBezTo>
                <a:lnTo>
                  <a:pt x="71160" y="35580"/>
                </a:lnTo>
                <a:lnTo>
                  <a:pt x="118599" y="35580"/>
                </a:lnTo>
                <a:lnTo>
                  <a:pt x="118599" y="29650"/>
                </a:lnTo>
                <a:cubicBezTo>
                  <a:pt x="118599" y="19828"/>
                  <a:pt x="126568" y="11860"/>
                  <a:pt x="136389" y="11860"/>
                </a:cubicBezTo>
                <a:lnTo>
                  <a:pt x="171969" y="11860"/>
                </a:lnTo>
                <a:cubicBezTo>
                  <a:pt x="181790" y="11860"/>
                  <a:pt x="189759" y="19828"/>
                  <a:pt x="189759" y="29650"/>
                </a:cubicBezTo>
                <a:lnTo>
                  <a:pt x="189759" y="65230"/>
                </a:lnTo>
                <a:cubicBezTo>
                  <a:pt x="189759" y="75051"/>
                  <a:pt x="181790" y="83019"/>
                  <a:pt x="171969" y="83019"/>
                </a:cubicBezTo>
                <a:lnTo>
                  <a:pt x="136389" y="83019"/>
                </a:lnTo>
                <a:cubicBezTo>
                  <a:pt x="126568" y="83019"/>
                  <a:pt x="118599" y="75051"/>
                  <a:pt x="118599" y="65230"/>
                </a:cubicBezTo>
                <a:lnTo>
                  <a:pt x="118599" y="59300"/>
                </a:lnTo>
                <a:lnTo>
                  <a:pt x="71160" y="59300"/>
                </a:lnTo>
                <a:lnTo>
                  <a:pt x="71160" y="65230"/>
                </a:lnTo>
                <a:cubicBezTo>
                  <a:pt x="71160" y="67935"/>
                  <a:pt x="70529" y="70529"/>
                  <a:pt x="69455" y="72827"/>
                </a:cubicBezTo>
                <a:lnTo>
                  <a:pt x="94879" y="106739"/>
                </a:lnTo>
                <a:lnTo>
                  <a:pt x="124529" y="106739"/>
                </a:lnTo>
                <a:cubicBezTo>
                  <a:pt x="134351" y="106739"/>
                  <a:pt x="142319" y="114708"/>
                  <a:pt x="142319" y="124529"/>
                </a:cubicBezTo>
                <a:lnTo>
                  <a:pt x="142319" y="160109"/>
                </a:lnTo>
                <a:cubicBezTo>
                  <a:pt x="142319" y="169930"/>
                  <a:pt x="134351" y="177899"/>
                  <a:pt x="124529" y="177899"/>
                </a:cubicBezTo>
                <a:lnTo>
                  <a:pt x="88949" y="177899"/>
                </a:lnTo>
                <a:cubicBezTo>
                  <a:pt x="79128" y="177899"/>
                  <a:pt x="71160" y="169930"/>
                  <a:pt x="71160" y="160109"/>
                </a:cubicBezTo>
                <a:lnTo>
                  <a:pt x="71160" y="124529"/>
                </a:lnTo>
                <a:cubicBezTo>
                  <a:pt x="71160" y="121824"/>
                  <a:pt x="71790" y="119229"/>
                  <a:pt x="72864" y="116931"/>
                </a:cubicBezTo>
                <a:lnTo>
                  <a:pt x="47440" y="83019"/>
                </a:lnTo>
                <a:lnTo>
                  <a:pt x="17790" y="83019"/>
                </a:lnTo>
                <a:cubicBezTo>
                  <a:pt x="7968" y="83019"/>
                  <a:pt x="0" y="75051"/>
                  <a:pt x="0" y="65230"/>
                </a:cubicBezTo>
                <a:lnTo>
                  <a:pt x="0" y="29650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43" name="Text 41"/>
          <p:cNvSpPr/>
          <p:nvPr/>
        </p:nvSpPr>
        <p:spPr>
          <a:xfrm>
            <a:off x="5269363" y="5894886"/>
            <a:ext cx="2343521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DenseNet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269363" y="6160549"/>
            <a:ext cx="2334033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connectivity &amp; feature reuse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62947" y="1183650"/>
            <a:ext cx="3649061" cy="5556136"/>
          </a:xfrm>
          <a:custGeom>
            <a:avLst/>
            <a:gdLst/>
            <a:ahLst/>
            <a:cxnLst/>
            <a:rect l="l" t="t" r="r" b="b"/>
            <a:pathLst>
              <a:path w="3649061" h="5556136">
                <a:moveTo>
                  <a:pt x="113851" y="0"/>
                </a:moveTo>
                <a:lnTo>
                  <a:pt x="3535210" y="0"/>
                </a:lnTo>
                <a:cubicBezTo>
                  <a:pt x="3598088" y="0"/>
                  <a:pt x="3649061" y="50973"/>
                  <a:pt x="3649061" y="113851"/>
                </a:cubicBezTo>
                <a:lnTo>
                  <a:pt x="3649061" y="5442286"/>
                </a:lnTo>
                <a:cubicBezTo>
                  <a:pt x="3649061" y="5505164"/>
                  <a:pt x="3598088" y="5556136"/>
                  <a:pt x="3535210" y="5556136"/>
                </a:cubicBezTo>
                <a:lnTo>
                  <a:pt x="113851" y="5556136"/>
                </a:lnTo>
                <a:cubicBezTo>
                  <a:pt x="50973" y="5556136"/>
                  <a:pt x="0" y="5505164"/>
                  <a:pt x="0" y="5442286"/>
                </a:cubicBezTo>
                <a:lnTo>
                  <a:pt x="0" y="113851"/>
                </a:lnTo>
                <a:cubicBezTo>
                  <a:pt x="0" y="51015"/>
                  <a:pt x="51015" y="0"/>
                  <a:pt x="113851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>
                  <a:alpha val="30000"/>
                </a:srgbClr>
              </a:gs>
              <a:gs pos="100000">
                <a:srgbClr val="38B2AC">
                  <a:alpha val="30000"/>
                </a:srgbClr>
              </a:gs>
            </a:gsLst>
            <a:lin ang="2700000" scaled="1"/>
          </a:gradFill>
          <a:ln w="20320">
            <a:solidFill>
              <a:srgbClr val="3182CE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98248" y="1418952"/>
            <a:ext cx="559788" cy="607228"/>
          </a:xfrm>
          <a:custGeom>
            <a:avLst/>
            <a:gdLst/>
            <a:ahLst/>
            <a:cxnLst/>
            <a:rect l="l" t="t" r="r" b="b"/>
            <a:pathLst>
              <a:path w="559788" h="607228">
                <a:moveTo>
                  <a:pt x="279894" y="0"/>
                </a:moveTo>
                <a:lnTo>
                  <a:pt x="279894" y="0"/>
                </a:lnTo>
                <a:cubicBezTo>
                  <a:pt x="434372" y="0"/>
                  <a:pt x="559788" y="125416"/>
                  <a:pt x="559788" y="279894"/>
                </a:cubicBezTo>
                <a:lnTo>
                  <a:pt x="559788" y="327334"/>
                </a:lnTo>
                <a:cubicBezTo>
                  <a:pt x="559788" y="481812"/>
                  <a:pt x="434372" y="607228"/>
                  <a:pt x="279894" y="607228"/>
                </a:cubicBezTo>
                <a:lnTo>
                  <a:pt x="279894" y="607228"/>
                </a:lnTo>
                <a:cubicBezTo>
                  <a:pt x="125416" y="607228"/>
                  <a:pt x="0" y="481812"/>
                  <a:pt x="0" y="327334"/>
                </a:cubicBezTo>
                <a:lnTo>
                  <a:pt x="0" y="279894"/>
                </a:lnTo>
                <a:cubicBezTo>
                  <a:pt x="0" y="125416"/>
                  <a:pt x="125416" y="0"/>
                  <a:pt x="279894" y="0"/>
                </a:cubicBezTo>
                <a:close/>
              </a:path>
            </a:pathLst>
          </a:custGeom>
          <a:solidFill>
            <a:srgbClr val="3182CE">
              <a:alpha val="4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501785" y="1551783"/>
            <a:ext cx="493373" cy="34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06760" y="1419070"/>
            <a:ext cx="2580719" cy="60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Improvement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98248" y="2253890"/>
            <a:ext cx="3263851" cy="834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Achieve significant improvements in both diagnostic accuracy and processing speed to create a practical clinical tool.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98248" y="3086457"/>
            <a:ext cx="3178459" cy="1062649"/>
          </a:xfrm>
          <a:custGeom>
            <a:avLst/>
            <a:gdLst/>
            <a:ahLst/>
            <a:cxnLst/>
            <a:rect l="l" t="t" r="r" b="b"/>
            <a:pathLst>
              <a:path w="3178459" h="1062649">
                <a:moveTo>
                  <a:pt x="75905" y="0"/>
                </a:moveTo>
                <a:lnTo>
                  <a:pt x="3102554" y="0"/>
                </a:lnTo>
                <a:cubicBezTo>
                  <a:pt x="3144475" y="0"/>
                  <a:pt x="3178459" y="33984"/>
                  <a:pt x="3178459" y="75905"/>
                </a:cubicBezTo>
                <a:lnTo>
                  <a:pt x="3178459" y="986744"/>
                </a:lnTo>
                <a:cubicBezTo>
                  <a:pt x="3178459" y="1028665"/>
                  <a:pt x="3144475" y="1062649"/>
                  <a:pt x="3102554" y="1062649"/>
                </a:cubicBezTo>
                <a:lnTo>
                  <a:pt x="75905" y="1062649"/>
                </a:lnTo>
                <a:cubicBezTo>
                  <a:pt x="33984" y="1062649"/>
                  <a:pt x="0" y="1028665"/>
                  <a:pt x="0" y="986744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573775" y="3257240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0" y="94879"/>
                </a:moveTo>
                <a:cubicBezTo>
                  <a:pt x="0" y="42514"/>
                  <a:pt x="42514" y="0"/>
                  <a:pt x="94879" y="0"/>
                </a:cubicBezTo>
                <a:cubicBezTo>
                  <a:pt x="147245" y="0"/>
                  <a:pt x="189759" y="42514"/>
                  <a:pt x="189759" y="94879"/>
                </a:cubicBezTo>
                <a:cubicBezTo>
                  <a:pt x="189759" y="147245"/>
                  <a:pt x="147245" y="189759"/>
                  <a:pt x="94879" y="189759"/>
                </a:cubicBezTo>
                <a:cubicBezTo>
                  <a:pt x="42514" y="189759"/>
                  <a:pt x="0" y="147245"/>
                  <a:pt x="0" y="94879"/>
                </a:cubicBezTo>
                <a:close/>
                <a:moveTo>
                  <a:pt x="106739" y="35580"/>
                </a:moveTo>
                <a:cubicBezTo>
                  <a:pt x="106739" y="29034"/>
                  <a:pt x="101425" y="23720"/>
                  <a:pt x="94879" y="23720"/>
                </a:cubicBezTo>
                <a:cubicBezTo>
                  <a:pt x="88334" y="23720"/>
                  <a:pt x="83019" y="29034"/>
                  <a:pt x="83019" y="35580"/>
                </a:cubicBezTo>
                <a:cubicBezTo>
                  <a:pt x="83019" y="42125"/>
                  <a:pt x="88334" y="47440"/>
                  <a:pt x="94879" y="47440"/>
                </a:cubicBezTo>
                <a:cubicBezTo>
                  <a:pt x="101425" y="47440"/>
                  <a:pt x="106739" y="42125"/>
                  <a:pt x="106739" y="35580"/>
                </a:cubicBezTo>
                <a:close/>
                <a:moveTo>
                  <a:pt x="94879" y="154179"/>
                </a:moveTo>
                <a:cubicBezTo>
                  <a:pt x="107962" y="154179"/>
                  <a:pt x="118599" y="143542"/>
                  <a:pt x="118599" y="130459"/>
                </a:cubicBezTo>
                <a:cubicBezTo>
                  <a:pt x="118599" y="124455"/>
                  <a:pt x="116375" y="118933"/>
                  <a:pt x="112669" y="114782"/>
                </a:cubicBezTo>
                <a:lnTo>
                  <a:pt x="138428" y="63302"/>
                </a:lnTo>
                <a:cubicBezTo>
                  <a:pt x="140614" y="58892"/>
                  <a:pt x="138835" y="53555"/>
                  <a:pt x="134462" y="51368"/>
                </a:cubicBezTo>
                <a:cubicBezTo>
                  <a:pt x="130089" y="49182"/>
                  <a:pt x="124714" y="50961"/>
                  <a:pt x="122528" y="55334"/>
                </a:cubicBezTo>
                <a:lnTo>
                  <a:pt x="96770" y="106813"/>
                </a:lnTo>
                <a:cubicBezTo>
                  <a:pt x="96139" y="106776"/>
                  <a:pt x="95509" y="106739"/>
                  <a:pt x="94879" y="106739"/>
                </a:cubicBezTo>
                <a:cubicBezTo>
                  <a:pt x="81796" y="106739"/>
                  <a:pt x="71160" y="117376"/>
                  <a:pt x="71160" y="130459"/>
                </a:cubicBezTo>
                <a:cubicBezTo>
                  <a:pt x="71160" y="143542"/>
                  <a:pt x="81796" y="154179"/>
                  <a:pt x="94879" y="154179"/>
                </a:cubicBezTo>
                <a:close/>
                <a:moveTo>
                  <a:pt x="65230" y="53370"/>
                </a:moveTo>
                <a:cubicBezTo>
                  <a:pt x="65230" y="46824"/>
                  <a:pt x="59915" y="41510"/>
                  <a:pt x="53370" y="41510"/>
                </a:cubicBezTo>
                <a:cubicBezTo>
                  <a:pt x="46824" y="41510"/>
                  <a:pt x="41510" y="46824"/>
                  <a:pt x="41510" y="53370"/>
                </a:cubicBezTo>
                <a:cubicBezTo>
                  <a:pt x="41510" y="59915"/>
                  <a:pt x="46824" y="65230"/>
                  <a:pt x="53370" y="65230"/>
                </a:cubicBezTo>
                <a:cubicBezTo>
                  <a:pt x="59915" y="65230"/>
                  <a:pt x="65230" y="59915"/>
                  <a:pt x="65230" y="53370"/>
                </a:cubicBezTo>
                <a:close/>
                <a:moveTo>
                  <a:pt x="35580" y="106739"/>
                </a:moveTo>
                <a:cubicBezTo>
                  <a:pt x="42125" y="106739"/>
                  <a:pt x="47440" y="101425"/>
                  <a:pt x="47440" y="94879"/>
                </a:cubicBezTo>
                <a:cubicBezTo>
                  <a:pt x="47440" y="88334"/>
                  <a:pt x="42125" y="83019"/>
                  <a:pt x="35580" y="83019"/>
                </a:cubicBezTo>
                <a:cubicBezTo>
                  <a:pt x="29034" y="83019"/>
                  <a:pt x="23720" y="88334"/>
                  <a:pt x="23720" y="94879"/>
                </a:cubicBezTo>
                <a:cubicBezTo>
                  <a:pt x="23720" y="101425"/>
                  <a:pt x="29034" y="106739"/>
                  <a:pt x="35580" y="106739"/>
                </a:cubicBezTo>
                <a:close/>
                <a:moveTo>
                  <a:pt x="166039" y="94879"/>
                </a:moveTo>
                <a:cubicBezTo>
                  <a:pt x="166039" y="88334"/>
                  <a:pt x="160725" y="83019"/>
                  <a:pt x="154179" y="83019"/>
                </a:cubicBezTo>
                <a:cubicBezTo>
                  <a:pt x="147633" y="83019"/>
                  <a:pt x="142319" y="88334"/>
                  <a:pt x="142319" y="94879"/>
                </a:cubicBezTo>
                <a:cubicBezTo>
                  <a:pt x="142319" y="101425"/>
                  <a:pt x="147633" y="106739"/>
                  <a:pt x="154179" y="106739"/>
                </a:cubicBezTo>
                <a:cubicBezTo>
                  <a:pt x="160725" y="106739"/>
                  <a:pt x="166039" y="101425"/>
                  <a:pt x="166039" y="94879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2" name="Text 50"/>
          <p:cNvSpPr/>
          <p:nvPr/>
        </p:nvSpPr>
        <p:spPr>
          <a:xfrm>
            <a:off x="8901109" y="3238264"/>
            <a:ext cx="1461142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 Enhancement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50055" y="3541878"/>
            <a:ext cx="2950749" cy="455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diagnosis time from minutes to seconds per X-ray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398248" y="4262961"/>
            <a:ext cx="3178459" cy="1062649"/>
          </a:xfrm>
          <a:custGeom>
            <a:avLst/>
            <a:gdLst/>
            <a:ahLst/>
            <a:cxnLst/>
            <a:rect l="l" t="t" r="r" b="b"/>
            <a:pathLst>
              <a:path w="3178459" h="1062649">
                <a:moveTo>
                  <a:pt x="75905" y="0"/>
                </a:moveTo>
                <a:lnTo>
                  <a:pt x="3102554" y="0"/>
                </a:lnTo>
                <a:cubicBezTo>
                  <a:pt x="3144475" y="0"/>
                  <a:pt x="3178459" y="33984"/>
                  <a:pt x="3178459" y="75905"/>
                </a:cubicBezTo>
                <a:lnTo>
                  <a:pt x="3178459" y="986744"/>
                </a:lnTo>
                <a:cubicBezTo>
                  <a:pt x="3178459" y="1028665"/>
                  <a:pt x="3144475" y="1062649"/>
                  <a:pt x="3102554" y="1062649"/>
                </a:cubicBezTo>
                <a:lnTo>
                  <a:pt x="75905" y="1062649"/>
                </a:lnTo>
                <a:cubicBezTo>
                  <a:pt x="33984" y="1062649"/>
                  <a:pt x="0" y="1028665"/>
                  <a:pt x="0" y="986744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573775" y="4433744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23720" y="23720"/>
                </a:moveTo>
                <a:cubicBezTo>
                  <a:pt x="23720" y="17160"/>
                  <a:pt x="18420" y="11860"/>
                  <a:pt x="11860" y="11860"/>
                </a:cubicBezTo>
                <a:cubicBezTo>
                  <a:pt x="5300" y="11860"/>
                  <a:pt x="0" y="17160"/>
                  <a:pt x="0" y="23720"/>
                </a:cubicBezTo>
                <a:lnTo>
                  <a:pt x="0" y="148249"/>
                </a:lnTo>
                <a:cubicBezTo>
                  <a:pt x="0" y="164631"/>
                  <a:pt x="13268" y="177899"/>
                  <a:pt x="29650" y="177899"/>
                </a:cubicBezTo>
                <a:lnTo>
                  <a:pt x="177899" y="177899"/>
                </a:lnTo>
                <a:cubicBezTo>
                  <a:pt x="184459" y="177899"/>
                  <a:pt x="189759" y="172599"/>
                  <a:pt x="189759" y="166039"/>
                </a:cubicBezTo>
                <a:cubicBezTo>
                  <a:pt x="189759" y="159479"/>
                  <a:pt x="184459" y="154179"/>
                  <a:pt x="177899" y="154179"/>
                </a:cubicBezTo>
                <a:lnTo>
                  <a:pt x="29650" y="154179"/>
                </a:lnTo>
                <a:cubicBezTo>
                  <a:pt x="26388" y="154179"/>
                  <a:pt x="23720" y="151511"/>
                  <a:pt x="23720" y="148249"/>
                </a:cubicBezTo>
                <a:lnTo>
                  <a:pt x="23720" y="23720"/>
                </a:lnTo>
                <a:close/>
                <a:moveTo>
                  <a:pt x="174415" y="55816"/>
                </a:moveTo>
                <a:cubicBezTo>
                  <a:pt x="179048" y="51183"/>
                  <a:pt x="179048" y="43659"/>
                  <a:pt x="174415" y="39027"/>
                </a:cubicBezTo>
                <a:cubicBezTo>
                  <a:pt x="169782" y="34394"/>
                  <a:pt x="162259" y="34394"/>
                  <a:pt x="157626" y="39027"/>
                </a:cubicBezTo>
                <a:lnTo>
                  <a:pt x="118599" y="78090"/>
                </a:lnTo>
                <a:lnTo>
                  <a:pt x="97325" y="56854"/>
                </a:lnTo>
                <a:cubicBezTo>
                  <a:pt x="92693" y="52221"/>
                  <a:pt x="85169" y="52221"/>
                  <a:pt x="80536" y="56854"/>
                </a:cubicBezTo>
                <a:lnTo>
                  <a:pt x="44957" y="92433"/>
                </a:lnTo>
                <a:cubicBezTo>
                  <a:pt x="40324" y="97066"/>
                  <a:pt x="40324" y="104590"/>
                  <a:pt x="44957" y="109222"/>
                </a:cubicBezTo>
                <a:cubicBezTo>
                  <a:pt x="49589" y="113855"/>
                  <a:pt x="57113" y="113855"/>
                  <a:pt x="61746" y="109222"/>
                </a:cubicBezTo>
                <a:lnTo>
                  <a:pt x="88949" y="82019"/>
                </a:lnTo>
                <a:lnTo>
                  <a:pt x="110223" y="103293"/>
                </a:lnTo>
                <a:cubicBezTo>
                  <a:pt x="114856" y="107925"/>
                  <a:pt x="122380" y="107925"/>
                  <a:pt x="127012" y="103293"/>
                </a:cubicBezTo>
                <a:lnTo>
                  <a:pt x="174452" y="5585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6" name="Text 54"/>
          <p:cNvSpPr/>
          <p:nvPr/>
        </p:nvSpPr>
        <p:spPr>
          <a:xfrm>
            <a:off x="8901109" y="4414768"/>
            <a:ext cx="1129065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Boost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550055" y="4718382"/>
            <a:ext cx="2950749" cy="455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Minimize false negatives to ensure patient safety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398248" y="5439465"/>
            <a:ext cx="3178459" cy="1062649"/>
          </a:xfrm>
          <a:custGeom>
            <a:avLst/>
            <a:gdLst/>
            <a:ahLst/>
            <a:cxnLst/>
            <a:rect l="l" t="t" r="r" b="b"/>
            <a:pathLst>
              <a:path w="3178459" h="1062649">
                <a:moveTo>
                  <a:pt x="75905" y="0"/>
                </a:moveTo>
                <a:lnTo>
                  <a:pt x="3102554" y="0"/>
                </a:lnTo>
                <a:cubicBezTo>
                  <a:pt x="3144475" y="0"/>
                  <a:pt x="3178459" y="33984"/>
                  <a:pt x="3178459" y="75905"/>
                </a:cubicBezTo>
                <a:lnTo>
                  <a:pt x="3178459" y="986744"/>
                </a:lnTo>
                <a:cubicBezTo>
                  <a:pt x="3178459" y="1028665"/>
                  <a:pt x="3144475" y="1062649"/>
                  <a:pt x="3102554" y="1062649"/>
                </a:cubicBezTo>
                <a:lnTo>
                  <a:pt x="75905" y="1062649"/>
                </a:lnTo>
                <a:cubicBezTo>
                  <a:pt x="33984" y="1062649"/>
                  <a:pt x="0" y="1028665"/>
                  <a:pt x="0" y="986744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561915" y="5610248"/>
            <a:ext cx="213479" cy="189759"/>
          </a:xfrm>
          <a:custGeom>
            <a:avLst/>
            <a:gdLst/>
            <a:ahLst/>
            <a:cxnLst/>
            <a:rect l="l" t="t" r="r" b="b"/>
            <a:pathLst>
              <a:path w="213479" h="189759">
                <a:moveTo>
                  <a:pt x="47440" y="23720"/>
                </a:moveTo>
                <a:cubicBezTo>
                  <a:pt x="47440" y="10637"/>
                  <a:pt x="58077" y="0"/>
                  <a:pt x="71160" y="0"/>
                </a:cubicBezTo>
                <a:lnTo>
                  <a:pt x="142319" y="0"/>
                </a:lnTo>
                <a:cubicBezTo>
                  <a:pt x="155402" y="0"/>
                  <a:pt x="166039" y="10637"/>
                  <a:pt x="166039" y="23720"/>
                </a:cubicBezTo>
                <a:lnTo>
                  <a:pt x="166039" y="47440"/>
                </a:lnTo>
                <a:lnTo>
                  <a:pt x="189759" y="47440"/>
                </a:lnTo>
                <a:cubicBezTo>
                  <a:pt x="202842" y="47440"/>
                  <a:pt x="213479" y="58077"/>
                  <a:pt x="213479" y="71160"/>
                </a:cubicBezTo>
                <a:lnTo>
                  <a:pt x="213479" y="166039"/>
                </a:lnTo>
                <a:cubicBezTo>
                  <a:pt x="213479" y="179122"/>
                  <a:pt x="202842" y="189759"/>
                  <a:pt x="189759" y="189759"/>
                </a:cubicBezTo>
                <a:lnTo>
                  <a:pt x="23720" y="189759"/>
                </a:lnTo>
                <a:cubicBezTo>
                  <a:pt x="10637" y="189759"/>
                  <a:pt x="0" y="179122"/>
                  <a:pt x="0" y="166039"/>
                </a:cubicBezTo>
                <a:lnTo>
                  <a:pt x="0" y="71160"/>
                </a:lnTo>
                <a:cubicBezTo>
                  <a:pt x="0" y="58077"/>
                  <a:pt x="10637" y="47440"/>
                  <a:pt x="23720" y="47440"/>
                </a:cubicBezTo>
                <a:lnTo>
                  <a:pt x="47440" y="47440"/>
                </a:lnTo>
                <a:lnTo>
                  <a:pt x="47440" y="23720"/>
                </a:lnTo>
                <a:close/>
                <a:moveTo>
                  <a:pt x="100809" y="130459"/>
                </a:moveTo>
                <a:cubicBezTo>
                  <a:pt x="94249" y="130459"/>
                  <a:pt x="88949" y="135759"/>
                  <a:pt x="88949" y="142319"/>
                </a:cubicBezTo>
                <a:lnTo>
                  <a:pt x="88949" y="171969"/>
                </a:lnTo>
                <a:lnTo>
                  <a:pt x="124529" y="171969"/>
                </a:lnTo>
                <a:lnTo>
                  <a:pt x="124529" y="142319"/>
                </a:lnTo>
                <a:cubicBezTo>
                  <a:pt x="124529" y="135759"/>
                  <a:pt x="119229" y="130459"/>
                  <a:pt x="112669" y="130459"/>
                </a:cubicBezTo>
                <a:lnTo>
                  <a:pt x="100809" y="130459"/>
                </a:lnTo>
                <a:close/>
                <a:moveTo>
                  <a:pt x="47440" y="136389"/>
                </a:moveTo>
                <a:lnTo>
                  <a:pt x="47440" y="124529"/>
                </a:lnTo>
                <a:cubicBezTo>
                  <a:pt x="47440" y="121268"/>
                  <a:pt x="44771" y="118599"/>
                  <a:pt x="41510" y="118599"/>
                </a:cubicBezTo>
                <a:lnTo>
                  <a:pt x="29650" y="118599"/>
                </a:lnTo>
                <a:cubicBezTo>
                  <a:pt x="26388" y="118599"/>
                  <a:pt x="23720" y="121268"/>
                  <a:pt x="23720" y="124529"/>
                </a:cubicBezTo>
                <a:lnTo>
                  <a:pt x="23720" y="136389"/>
                </a:lnTo>
                <a:cubicBezTo>
                  <a:pt x="23720" y="139651"/>
                  <a:pt x="26388" y="142319"/>
                  <a:pt x="29650" y="142319"/>
                </a:cubicBezTo>
                <a:lnTo>
                  <a:pt x="41510" y="142319"/>
                </a:lnTo>
                <a:cubicBezTo>
                  <a:pt x="44771" y="142319"/>
                  <a:pt x="47440" y="139651"/>
                  <a:pt x="47440" y="136389"/>
                </a:cubicBezTo>
                <a:close/>
                <a:moveTo>
                  <a:pt x="41510" y="94879"/>
                </a:moveTo>
                <a:cubicBezTo>
                  <a:pt x="44771" y="94879"/>
                  <a:pt x="47440" y="92211"/>
                  <a:pt x="47440" y="88949"/>
                </a:cubicBezTo>
                <a:lnTo>
                  <a:pt x="47440" y="77089"/>
                </a:lnTo>
                <a:cubicBezTo>
                  <a:pt x="47440" y="73828"/>
                  <a:pt x="44771" y="71160"/>
                  <a:pt x="41510" y="71160"/>
                </a:cubicBezTo>
                <a:lnTo>
                  <a:pt x="29650" y="71160"/>
                </a:lnTo>
                <a:cubicBezTo>
                  <a:pt x="26388" y="71160"/>
                  <a:pt x="23720" y="73828"/>
                  <a:pt x="23720" y="77089"/>
                </a:cubicBezTo>
                <a:lnTo>
                  <a:pt x="23720" y="88949"/>
                </a:lnTo>
                <a:cubicBezTo>
                  <a:pt x="23720" y="92211"/>
                  <a:pt x="26388" y="94879"/>
                  <a:pt x="29650" y="94879"/>
                </a:cubicBezTo>
                <a:lnTo>
                  <a:pt x="41510" y="94879"/>
                </a:lnTo>
                <a:close/>
                <a:moveTo>
                  <a:pt x="189759" y="136389"/>
                </a:moveTo>
                <a:lnTo>
                  <a:pt x="189759" y="124529"/>
                </a:lnTo>
                <a:cubicBezTo>
                  <a:pt x="189759" y="121268"/>
                  <a:pt x="187090" y="118599"/>
                  <a:pt x="183829" y="118599"/>
                </a:cubicBezTo>
                <a:lnTo>
                  <a:pt x="171969" y="118599"/>
                </a:lnTo>
                <a:cubicBezTo>
                  <a:pt x="168707" y="118599"/>
                  <a:pt x="166039" y="121268"/>
                  <a:pt x="166039" y="124529"/>
                </a:cubicBezTo>
                <a:lnTo>
                  <a:pt x="166039" y="136389"/>
                </a:lnTo>
                <a:cubicBezTo>
                  <a:pt x="166039" y="139651"/>
                  <a:pt x="168707" y="142319"/>
                  <a:pt x="171969" y="142319"/>
                </a:cubicBezTo>
                <a:lnTo>
                  <a:pt x="183829" y="142319"/>
                </a:lnTo>
                <a:cubicBezTo>
                  <a:pt x="187090" y="142319"/>
                  <a:pt x="189759" y="139651"/>
                  <a:pt x="189759" y="136389"/>
                </a:cubicBezTo>
                <a:close/>
                <a:moveTo>
                  <a:pt x="183829" y="94879"/>
                </a:moveTo>
                <a:cubicBezTo>
                  <a:pt x="187090" y="94879"/>
                  <a:pt x="189759" y="92211"/>
                  <a:pt x="189759" y="88949"/>
                </a:cubicBezTo>
                <a:lnTo>
                  <a:pt x="189759" y="77089"/>
                </a:lnTo>
                <a:cubicBezTo>
                  <a:pt x="189759" y="73828"/>
                  <a:pt x="187090" y="71160"/>
                  <a:pt x="183829" y="71160"/>
                </a:cubicBezTo>
                <a:lnTo>
                  <a:pt x="171969" y="71160"/>
                </a:lnTo>
                <a:cubicBezTo>
                  <a:pt x="168707" y="71160"/>
                  <a:pt x="166039" y="73828"/>
                  <a:pt x="166039" y="77089"/>
                </a:cubicBezTo>
                <a:lnTo>
                  <a:pt x="166039" y="88949"/>
                </a:lnTo>
                <a:cubicBezTo>
                  <a:pt x="166039" y="92211"/>
                  <a:pt x="168707" y="94879"/>
                  <a:pt x="171969" y="94879"/>
                </a:cubicBezTo>
                <a:lnTo>
                  <a:pt x="183829" y="94879"/>
                </a:lnTo>
                <a:close/>
                <a:moveTo>
                  <a:pt x="97844" y="38545"/>
                </a:moveTo>
                <a:lnTo>
                  <a:pt x="97844" y="50405"/>
                </a:lnTo>
                <a:lnTo>
                  <a:pt x="85984" y="50405"/>
                </a:lnTo>
                <a:cubicBezTo>
                  <a:pt x="82723" y="50405"/>
                  <a:pt x="80054" y="53073"/>
                  <a:pt x="80054" y="56335"/>
                </a:cubicBezTo>
                <a:lnTo>
                  <a:pt x="80054" y="62265"/>
                </a:lnTo>
                <a:cubicBezTo>
                  <a:pt x="80054" y="65526"/>
                  <a:pt x="82723" y="68195"/>
                  <a:pt x="85984" y="68195"/>
                </a:cubicBezTo>
                <a:lnTo>
                  <a:pt x="97844" y="68195"/>
                </a:lnTo>
                <a:lnTo>
                  <a:pt x="97844" y="80054"/>
                </a:lnTo>
                <a:cubicBezTo>
                  <a:pt x="97844" y="83316"/>
                  <a:pt x="100513" y="85984"/>
                  <a:pt x="103774" y="85984"/>
                </a:cubicBezTo>
                <a:lnTo>
                  <a:pt x="109704" y="85984"/>
                </a:lnTo>
                <a:cubicBezTo>
                  <a:pt x="112966" y="85984"/>
                  <a:pt x="115634" y="83316"/>
                  <a:pt x="115634" y="80054"/>
                </a:cubicBezTo>
                <a:lnTo>
                  <a:pt x="115634" y="68195"/>
                </a:lnTo>
                <a:lnTo>
                  <a:pt x="127494" y="68195"/>
                </a:lnTo>
                <a:cubicBezTo>
                  <a:pt x="130756" y="68195"/>
                  <a:pt x="133424" y="65526"/>
                  <a:pt x="133424" y="62265"/>
                </a:cubicBezTo>
                <a:lnTo>
                  <a:pt x="133424" y="56335"/>
                </a:lnTo>
                <a:cubicBezTo>
                  <a:pt x="133424" y="53073"/>
                  <a:pt x="130756" y="50405"/>
                  <a:pt x="127494" y="50405"/>
                </a:cubicBezTo>
                <a:lnTo>
                  <a:pt x="115634" y="50405"/>
                </a:lnTo>
                <a:lnTo>
                  <a:pt x="115634" y="38545"/>
                </a:lnTo>
                <a:cubicBezTo>
                  <a:pt x="115634" y="35283"/>
                  <a:pt x="112966" y="32615"/>
                  <a:pt x="109704" y="32615"/>
                </a:cubicBezTo>
                <a:lnTo>
                  <a:pt x="103774" y="32615"/>
                </a:lnTo>
                <a:cubicBezTo>
                  <a:pt x="100513" y="32615"/>
                  <a:pt x="97844" y="35283"/>
                  <a:pt x="97844" y="3854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0" name="Text 58"/>
          <p:cNvSpPr/>
          <p:nvPr/>
        </p:nvSpPr>
        <p:spPr>
          <a:xfrm>
            <a:off x="8901109" y="5591272"/>
            <a:ext cx="1328311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Integration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550055" y="5894886"/>
            <a:ext cx="2950749" cy="455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seamless deployment in hospital workflows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0855" y="430111"/>
            <a:ext cx="66171" cy="397026"/>
          </a:xfrm>
          <a:custGeom>
            <a:avLst/>
            <a:gdLst/>
            <a:ahLst/>
            <a:cxnLst/>
            <a:rect l="l" t="t" r="r" b="b"/>
            <a:pathLst>
              <a:path w="66171" h="397026">
                <a:moveTo>
                  <a:pt x="33085" y="0"/>
                </a:moveTo>
                <a:lnTo>
                  <a:pt x="33085" y="0"/>
                </a:lnTo>
                <a:cubicBezTo>
                  <a:pt x="51346" y="0"/>
                  <a:pt x="66171" y="14825"/>
                  <a:pt x="66171" y="33085"/>
                </a:cubicBezTo>
                <a:lnTo>
                  <a:pt x="66171" y="363940"/>
                </a:lnTo>
                <a:cubicBezTo>
                  <a:pt x="66171" y="382213"/>
                  <a:pt x="51358" y="397026"/>
                  <a:pt x="33085" y="397026"/>
                </a:cubicBezTo>
                <a:lnTo>
                  <a:pt x="33085" y="397026"/>
                </a:lnTo>
                <a:cubicBezTo>
                  <a:pt x="14813" y="397026"/>
                  <a:pt x="0" y="382213"/>
                  <a:pt x="0" y="363940"/>
                </a:cubicBezTo>
                <a:lnTo>
                  <a:pt x="0" y="33085"/>
                </a:lnTo>
                <a:cubicBezTo>
                  <a:pt x="0" y="14825"/>
                  <a:pt x="14825" y="0"/>
                  <a:pt x="33085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" name="Text 1"/>
          <p:cNvSpPr/>
          <p:nvPr/>
        </p:nvSpPr>
        <p:spPr>
          <a:xfrm>
            <a:off x="529368" y="330855"/>
            <a:ext cx="3151392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b="1" kern="0" spc="52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9368" y="529368"/>
            <a:ext cx="3283734" cy="397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2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4163" y="1128215"/>
            <a:ext cx="3960332" cy="2521114"/>
          </a:xfrm>
          <a:custGeom>
            <a:avLst/>
            <a:gdLst/>
            <a:ahLst/>
            <a:cxnLst/>
            <a:rect l="l" t="t" r="r" b="b"/>
            <a:pathLst>
              <a:path w="3960332" h="2521114">
                <a:moveTo>
                  <a:pt x="66179" y="0"/>
                </a:moveTo>
                <a:lnTo>
                  <a:pt x="3894153" y="0"/>
                </a:lnTo>
                <a:cubicBezTo>
                  <a:pt x="3930703" y="0"/>
                  <a:pt x="3960332" y="29629"/>
                  <a:pt x="3960332" y="66179"/>
                </a:cubicBezTo>
                <a:lnTo>
                  <a:pt x="3960332" y="2454934"/>
                </a:lnTo>
                <a:cubicBezTo>
                  <a:pt x="3960332" y="2491484"/>
                  <a:pt x="3930703" y="2521114"/>
                  <a:pt x="3894153" y="2521114"/>
                </a:cubicBezTo>
                <a:lnTo>
                  <a:pt x="66179" y="2521114"/>
                </a:lnTo>
                <a:cubicBezTo>
                  <a:pt x="29629" y="2521114"/>
                  <a:pt x="0" y="2491484"/>
                  <a:pt x="0" y="2454934"/>
                </a:cubicBezTo>
                <a:lnTo>
                  <a:pt x="0" y="66179"/>
                </a:lnTo>
                <a:cubicBezTo>
                  <a:pt x="0" y="29629"/>
                  <a:pt x="29629" y="0"/>
                  <a:pt x="66179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899" y="1296951"/>
            <a:ext cx="397026" cy="397026"/>
          </a:xfrm>
          <a:custGeom>
            <a:avLst/>
            <a:gdLst/>
            <a:ahLst/>
            <a:cxnLst/>
            <a:rect l="l" t="t" r="r" b="b"/>
            <a:pathLst>
              <a:path w="397026" h="397026">
                <a:moveTo>
                  <a:pt x="198513" y="0"/>
                </a:moveTo>
                <a:lnTo>
                  <a:pt x="198513" y="0"/>
                </a:lnTo>
                <a:cubicBezTo>
                  <a:pt x="308149" y="0"/>
                  <a:pt x="397026" y="88877"/>
                  <a:pt x="397026" y="198513"/>
                </a:cubicBezTo>
                <a:lnTo>
                  <a:pt x="397026" y="198513"/>
                </a:lnTo>
                <a:cubicBezTo>
                  <a:pt x="397026" y="308149"/>
                  <a:pt x="308149" y="397026"/>
                  <a:pt x="198513" y="397026"/>
                </a:cubicBezTo>
                <a:lnTo>
                  <a:pt x="198513" y="397026"/>
                </a:lnTo>
                <a:cubicBezTo>
                  <a:pt x="88877" y="397026"/>
                  <a:pt x="0" y="308149"/>
                  <a:pt x="0" y="198513"/>
                </a:cubicBezTo>
                <a:lnTo>
                  <a:pt x="0" y="198513"/>
                </a:lnTo>
                <a:cubicBezTo>
                  <a:pt x="0" y="88877"/>
                  <a:pt x="88877" y="0"/>
                  <a:pt x="198513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29038" y="1412750"/>
            <a:ext cx="144749" cy="165427"/>
          </a:xfrm>
          <a:custGeom>
            <a:avLst/>
            <a:gdLst/>
            <a:ahLst/>
            <a:cxnLst/>
            <a:rect l="l" t="t" r="r" b="b"/>
            <a:pathLst>
              <a:path w="144749" h="165427">
                <a:moveTo>
                  <a:pt x="144749" y="66494"/>
                </a:moveTo>
                <a:cubicBezTo>
                  <a:pt x="139967" y="69660"/>
                  <a:pt x="134474" y="72213"/>
                  <a:pt x="128756" y="74248"/>
                </a:cubicBezTo>
                <a:cubicBezTo>
                  <a:pt x="113570" y="79677"/>
                  <a:pt x="93634" y="82714"/>
                  <a:pt x="72374" y="82714"/>
                </a:cubicBezTo>
                <a:cubicBezTo>
                  <a:pt x="51114" y="82714"/>
                  <a:pt x="31147" y="79644"/>
                  <a:pt x="15993" y="74248"/>
                </a:cubicBezTo>
                <a:cubicBezTo>
                  <a:pt x="10307" y="72213"/>
                  <a:pt x="4782" y="69660"/>
                  <a:pt x="0" y="66494"/>
                </a:cubicBezTo>
                <a:lnTo>
                  <a:pt x="0" y="93053"/>
                </a:lnTo>
                <a:cubicBezTo>
                  <a:pt x="0" y="107334"/>
                  <a:pt x="32407" y="118901"/>
                  <a:pt x="72374" y="118901"/>
                </a:cubicBezTo>
                <a:cubicBezTo>
                  <a:pt x="112342" y="118901"/>
                  <a:pt x="144749" y="107334"/>
                  <a:pt x="144749" y="93053"/>
                </a:cubicBezTo>
                <a:lnTo>
                  <a:pt x="144749" y="66494"/>
                </a:lnTo>
                <a:close/>
                <a:moveTo>
                  <a:pt x="144749" y="41357"/>
                </a:moveTo>
                <a:lnTo>
                  <a:pt x="144749" y="25848"/>
                </a:lnTo>
                <a:cubicBezTo>
                  <a:pt x="144749" y="11567"/>
                  <a:pt x="112342" y="0"/>
                  <a:pt x="72374" y="0"/>
                </a:cubicBezTo>
                <a:cubicBezTo>
                  <a:pt x="32407" y="0"/>
                  <a:pt x="0" y="11567"/>
                  <a:pt x="0" y="25848"/>
                </a:cubicBezTo>
                <a:lnTo>
                  <a:pt x="0" y="41357"/>
                </a:lnTo>
                <a:cubicBezTo>
                  <a:pt x="0" y="55638"/>
                  <a:pt x="32407" y="67205"/>
                  <a:pt x="72374" y="67205"/>
                </a:cubicBezTo>
                <a:cubicBezTo>
                  <a:pt x="112342" y="67205"/>
                  <a:pt x="144749" y="55638"/>
                  <a:pt x="144749" y="41357"/>
                </a:cubicBezTo>
                <a:close/>
                <a:moveTo>
                  <a:pt x="128756" y="125945"/>
                </a:moveTo>
                <a:cubicBezTo>
                  <a:pt x="113602" y="131340"/>
                  <a:pt x="93667" y="134410"/>
                  <a:pt x="72374" y="134410"/>
                </a:cubicBezTo>
                <a:cubicBezTo>
                  <a:pt x="51082" y="134410"/>
                  <a:pt x="31147" y="131340"/>
                  <a:pt x="15993" y="125945"/>
                </a:cubicBezTo>
                <a:cubicBezTo>
                  <a:pt x="10307" y="123909"/>
                  <a:pt x="4782" y="121357"/>
                  <a:pt x="0" y="118190"/>
                </a:cubicBezTo>
                <a:lnTo>
                  <a:pt x="0" y="139579"/>
                </a:lnTo>
                <a:cubicBezTo>
                  <a:pt x="0" y="153860"/>
                  <a:pt x="32407" y="165427"/>
                  <a:pt x="72374" y="165427"/>
                </a:cubicBezTo>
                <a:cubicBezTo>
                  <a:pt x="112342" y="165427"/>
                  <a:pt x="144749" y="153860"/>
                  <a:pt x="144749" y="139579"/>
                </a:cubicBezTo>
                <a:lnTo>
                  <a:pt x="144749" y="118190"/>
                </a:lnTo>
                <a:cubicBezTo>
                  <a:pt x="139967" y="121357"/>
                  <a:pt x="134474" y="123909"/>
                  <a:pt x="128756" y="125945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999182" y="1379665"/>
            <a:ext cx="2398697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Chest X-ray Pneumonia Dataset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899" y="1826319"/>
            <a:ext cx="3689031" cy="860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2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comprehensive collection of chest X-ray images from Kaggle, specifically curated for pneumonia detection research. The dataset includes both normal and pneumonia cases with expert annotations.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899" y="2818883"/>
            <a:ext cx="1761802" cy="661710"/>
          </a:xfrm>
          <a:custGeom>
            <a:avLst/>
            <a:gdLst/>
            <a:ahLst/>
            <a:cxnLst/>
            <a:rect l="l" t="t" r="r" b="b"/>
            <a:pathLst>
              <a:path w="1761802" h="661710">
                <a:moveTo>
                  <a:pt x="66171" y="0"/>
                </a:moveTo>
                <a:lnTo>
                  <a:pt x="1695631" y="0"/>
                </a:lnTo>
                <a:cubicBezTo>
                  <a:pt x="1732176" y="0"/>
                  <a:pt x="1761802" y="29626"/>
                  <a:pt x="1761802" y="66171"/>
                </a:cubicBezTo>
                <a:lnTo>
                  <a:pt x="1761802" y="595539"/>
                </a:lnTo>
                <a:cubicBezTo>
                  <a:pt x="1761802" y="632084"/>
                  <a:pt x="1732176" y="661710"/>
                  <a:pt x="1695631" y="661710"/>
                </a:cubicBezTo>
                <a:lnTo>
                  <a:pt x="66171" y="661710"/>
                </a:lnTo>
                <a:cubicBezTo>
                  <a:pt x="29650" y="661710"/>
                  <a:pt x="0" y="632059"/>
                  <a:pt x="0" y="595539"/>
                </a:cubicBezTo>
                <a:lnTo>
                  <a:pt x="0" y="66171"/>
                </a:lnTo>
                <a:cubicBezTo>
                  <a:pt x="0" y="29650"/>
                  <a:pt x="29650" y="0"/>
                  <a:pt x="6617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0121" y="2918140"/>
            <a:ext cx="1687360" cy="297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54" b="1" dirty="0" smtClean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5,856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3206" y="3215909"/>
            <a:ext cx="1621189" cy="16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2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Images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65612" y="2818883"/>
            <a:ext cx="1761802" cy="661710"/>
          </a:xfrm>
          <a:custGeom>
            <a:avLst/>
            <a:gdLst/>
            <a:ahLst/>
            <a:cxnLst/>
            <a:rect l="l" t="t" r="r" b="b"/>
            <a:pathLst>
              <a:path w="1761802" h="661710">
                <a:moveTo>
                  <a:pt x="66171" y="0"/>
                </a:moveTo>
                <a:lnTo>
                  <a:pt x="1695631" y="0"/>
                </a:lnTo>
                <a:cubicBezTo>
                  <a:pt x="1732176" y="0"/>
                  <a:pt x="1761802" y="29626"/>
                  <a:pt x="1761802" y="66171"/>
                </a:cubicBezTo>
                <a:lnTo>
                  <a:pt x="1761802" y="595539"/>
                </a:lnTo>
                <a:cubicBezTo>
                  <a:pt x="1761802" y="632084"/>
                  <a:pt x="1732176" y="661710"/>
                  <a:pt x="1695631" y="661710"/>
                </a:cubicBezTo>
                <a:lnTo>
                  <a:pt x="66171" y="661710"/>
                </a:lnTo>
                <a:cubicBezTo>
                  <a:pt x="29650" y="661710"/>
                  <a:pt x="0" y="632059"/>
                  <a:pt x="0" y="595539"/>
                </a:cubicBezTo>
                <a:lnTo>
                  <a:pt x="0" y="66171"/>
                </a:lnTo>
                <a:cubicBezTo>
                  <a:pt x="0" y="29650"/>
                  <a:pt x="29650" y="0"/>
                  <a:pt x="6617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402833" y="2918140"/>
            <a:ext cx="1687360" cy="297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54" b="1" dirty="0" smtClean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624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35919" y="3215909"/>
            <a:ext cx="1621189" cy="16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2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Images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4163" y="3821374"/>
            <a:ext cx="3960332" cy="3033939"/>
          </a:xfrm>
          <a:custGeom>
            <a:avLst/>
            <a:gdLst/>
            <a:ahLst/>
            <a:cxnLst/>
            <a:rect l="l" t="t" r="r" b="b"/>
            <a:pathLst>
              <a:path w="3960332" h="3033939">
                <a:moveTo>
                  <a:pt x="66170" y="0"/>
                </a:moveTo>
                <a:lnTo>
                  <a:pt x="3894162" y="0"/>
                </a:lnTo>
                <a:cubicBezTo>
                  <a:pt x="3930707" y="0"/>
                  <a:pt x="3960332" y="29625"/>
                  <a:pt x="3960332" y="66170"/>
                </a:cubicBezTo>
                <a:lnTo>
                  <a:pt x="3960332" y="2967768"/>
                </a:lnTo>
                <a:cubicBezTo>
                  <a:pt x="3960332" y="3004313"/>
                  <a:pt x="3930707" y="3033939"/>
                  <a:pt x="3894162" y="3033939"/>
                </a:cubicBezTo>
                <a:lnTo>
                  <a:pt x="66170" y="3033939"/>
                </a:lnTo>
                <a:cubicBezTo>
                  <a:pt x="29625" y="3033939"/>
                  <a:pt x="0" y="3004313"/>
                  <a:pt x="0" y="2967768"/>
                </a:cubicBezTo>
                <a:lnTo>
                  <a:pt x="0" y="66170"/>
                </a:lnTo>
                <a:cubicBezTo>
                  <a:pt x="0" y="29625"/>
                  <a:pt x="29625" y="0"/>
                  <a:pt x="6617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899" y="3990110"/>
            <a:ext cx="397026" cy="397026"/>
          </a:xfrm>
          <a:custGeom>
            <a:avLst/>
            <a:gdLst/>
            <a:ahLst/>
            <a:cxnLst/>
            <a:rect l="l" t="t" r="r" b="b"/>
            <a:pathLst>
              <a:path w="397026" h="397026">
                <a:moveTo>
                  <a:pt x="198513" y="0"/>
                </a:moveTo>
                <a:lnTo>
                  <a:pt x="198513" y="0"/>
                </a:lnTo>
                <a:cubicBezTo>
                  <a:pt x="308149" y="0"/>
                  <a:pt x="397026" y="88877"/>
                  <a:pt x="397026" y="198513"/>
                </a:cubicBezTo>
                <a:lnTo>
                  <a:pt x="397026" y="198513"/>
                </a:lnTo>
                <a:cubicBezTo>
                  <a:pt x="397026" y="308149"/>
                  <a:pt x="308149" y="397026"/>
                  <a:pt x="198513" y="397026"/>
                </a:cubicBezTo>
                <a:lnTo>
                  <a:pt x="198513" y="397026"/>
                </a:lnTo>
                <a:cubicBezTo>
                  <a:pt x="88877" y="397026"/>
                  <a:pt x="0" y="308149"/>
                  <a:pt x="0" y="198513"/>
                </a:cubicBezTo>
                <a:lnTo>
                  <a:pt x="0" y="198513"/>
                </a:lnTo>
                <a:cubicBezTo>
                  <a:pt x="0" y="88877"/>
                  <a:pt x="88877" y="0"/>
                  <a:pt x="19851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98020" y="4105909"/>
            <a:ext cx="206784" cy="165427"/>
          </a:xfrm>
          <a:custGeom>
            <a:avLst/>
            <a:gdLst/>
            <a:ahLst/>
            <a:cxnLst/>
            <a:rect l="l" t="t" r="r" b="b"/>
            <a:pathLst>
              <a:path w="206784" h="165427">
                <a:moveTo>
                  <a:pt x="124071" y="10339"/>
                </a:moveTo>
                <a:lnTo>
                  <a:pt x="165427" y="10339"/>
                </a:lnTo>
                <a:cubicBezTo>
                  <a:pt x="171146" y="10339"/>
                  <a:pt x="175767" y="14960"/>
                  <a:pt x="175767" y="20678"/>
                </a:cubicBezTo>
                <a:cubicBezTo>
                  <a:pt x="175767" y="26397"/>
                  <a:pt x="171146" y="31018"/>
                  <a:pt x="165427" y="31018"/>
                </a:cubicBezTo>
                <a:lnTo>
                  <a:pt x="128723" y="31018"/>
                </a:lnTo>
                <a:cubicBezTo>
                  <a:pt x="127043" y="39354"/>
                  <a:pt x="121324" y="46236"/>
                  <a:pt x="113731" y="49531"/>
                </a:cubicBezTo>
                <a:lnTo>
                  <a:pt x="113731" y="144749"/>
                </a:lnTo>
                <a:lnTo>
                  <a:pt x="165427" y="144749"/>
                </a:lnTo>
                <a:cubicBezTo>
                  <a:pt x="171146" y="144749"/>
                  <a:pt x="175767" y="149369"/>
                  <a:pt x="175767" y="155088"/>
                </a:cubicBezTo>
                <a:cubicBezTo>
                  <a:pt x="175767" y="160807"/>
                  <a:pt x="171146" y="165427"/>
                  <a:pt x="165427" y="165427"/>
                </a:cubicBezTo>
                <a:lnTo>
                  <a:pt x="41357" y="165427"/>
                </a:lnTo>
                <a:cubicBezTo>
                  <a:pt x="35638" y="165427"/>
                  <a:pt x="31018" y="160807"/>
                  <a:pt x="31018" y="155088"/>
                </a:cubicBezTo>
                <a:cubicBezTo>
                  <a:pt x="31018" y="149369"/>
                  <a:pt x="35638" y="144749"/>
                  <a:pt x="41357" y="144749"/>
                </a:cubicBezTo>
                <a:lnTo>
                  <a:pt x="93053" y="144749"/>
                </a:lnTo>
                <a:lnTo>
                  <a:pt x="93053" y="49531"/>
                </a:lnTo>
                <a:cubicBezTo>
                  <a:pt x="85460" y="46203"/>
                  <a:pt x="79741" y="39321"/>
                  <a:pt x="78061" y="31018"/>
                </a:cubicBezTo>
                <a:lnTo>
                  <a:pt x="41357" y="31018"/>
                </a:lnTo>
                <a:cubicBezTo>
                  <a:pt x="35638" y="31018"/>
                  <a:pt x="31018" y="26397"/>
                  <a:pt x="31018" y="20678"/>
                </a:cubicBezTo>
                <a:cubicBezTo>
                  <a:pt x="31018" y="14960"/>
                  <a:pt x="35638" y="10339"/>
                  <a:pt x="41357" y="10339"/>
                </a:cubicBezTo>
                <a:lnTo>
                  <a:pt x="82714" y="10339"/>
                </a:lnTo>
                <a:cubicBezTo>
                  <a:pt x="87431" y="4071"/>
                  <a:pt x="94927" y="0"/>
                  <a:pt x="103392" y="0"/>
                </a:cubicBezTo>
                <a:cubicBezTo>
                  <a:pt x="111857" y="0"/>
                  <a:pt x="119353" y="4071"/>
                  <a:pt x="124071" y="10339"/>
                </a:cubicBezTo>
                <a:close/>
                <a:moveTo>
                  <a:pt x="142035" y="103392"/>
                </a:moveTo>
                <a:lnTo>
                  <a:pt x="188820" y="103392"/>
                </a:lnTo>
                <a:lnTo>
                  <a:pt x="165427" y="63263"/>
                </a:lnTo>
                <a:lnTo>
                  <a:pt x="142035" y="103392"/>
                </a:lnTo>
                <a:close/>
                <a:moveTo>
                  <a:pt x="165427" y="134410"/>
                </a:moveTo>
                <a:cubicBezTo>
                  <a:pt x="145104" y="134410"/>
                  <a:pt x="128206" y="123424"/>
                  <a:pt x="124717" y="108917"/>
                </a:cubicBezTo>
                <a:cubicBezTo>
                  <a:pt x="123877" y="105363"/>
                  <a:pt x="125040" y="101712"/>
                  <a:pt x="126882" y="98546"/>
                </a:cubicBezTo>
                <a:lnTo>
                  <a:pt x="157641" y="45816"/>
                </a:lnTo>
                <a:cubicBezTo>
                  <a:pt x="159256" y="43037"/>
                  <a:pt x="162229" y="41357"/>
                  <a:pt x="165427" y="41357"/>
                </a:cubicBezTo>
                <a:cubicBezTo>
                  <a:pt x="168626" y="41357"/>
                  <a:pt x="171599" y="43069"/>
                  <a:pt x="173214" y="45816"/>
                </a:cubicBezTo>
                <a:lnTo>
                  <a:pt x="203973" y="98546"/>
                </a:lnTo>
                <a:cubicBezTo>
                  <a:pt x="205815" y="101712"/>
                  <a:pt x="206978" y="105363"/>
                  <a:pt x="206138" y="108917"/>
                </a:cubicBezTo>
                <a:cubicBezTo>
                  <a:pt x="202649" y="123392"/>
                  <a:pt x="185750" y="134410"/>
                  <a:pt x="165427" y="134410"/>
                </a:cubicBezTo>
                <a:close/>
                <a:moveTo>
                  <a:pt x="40969" y="63263"/>
                </a:moveTo>
                <a:lnTo>
                  <a:pt x="17577" y="103392"/>
                </a:lnTo>
                <a:lnTo>
                  <a:pt x="64394" y="103392"/>
                </a:lnTo>
                <a:lnTo>
                  <a:pt x="40969" y="63263"/>
                </a:lnTo>
                <a:close/>
                <a:moveTo>
                  <a:pt x="291" y="108917"/>
                </a:moveTo>
                <a:cubicBezTo>
                  <a:pt x="-549" y="105363"/>
                  <a:pt x="614" y="101712"/>
                  <a:pt x="2456" y="98546"/>
                </a:cubicBezTo>
                <a:lnTo>
                  <a:pt x="33215" y="45816"/>
                </a:lnTo>
                <a:cubicBezTo>
                  <a:pt x="34830" y="43037"/>
                  <a:pt x="37803" y="41357"/>
                  <a:pt x="41001" y="41357"/>
                </a:cubicBezTo>
                <a:cubicBezTo>
                  <a:pt x="44200" y="41357"/>
                  <a:pt x="47173" y="43069"/>
                  <a:pt x="48788" y="45816"/>
                </a:cubicBezTo>
                <a:lnTo>
                  <a:pt x="79547" y="98546"/>
                </a:lnTo>
                <a:cubicBezTo>
                  <a:pt x="81389" y="101712"/>
                  <a:pt x="82552" y="105363"/>
                  <a:pt x="81712" y="108917"/>
                </a:cubicBezTo>
                <a:cubicBezTo>
                  <a:pt x="78223" y="123392"/>
                  <a:pt x="61324" y="134410"/>
                  <a:pt x="41001" y="134410"/>
                </a:cubicBezTo>
                <a:cubicBezTo>
                  <a:pt x="20678" y="134410"/>
                  <a:pt x="3780" y="123424"/>
                  <a:pt x="291" y="108917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9" name="Text 17"/>
          <p:cNvSpPr/>
          <p:nvPr/>
        </p:nvSpPr>
        <p:spPr>
          <a:xfrm>
            <a:off x="999182" y="4072824"/>
            <a:ext cx="1364776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Distribution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899" y="4519478"/>
            <a:ext cx="3622860" cy="794052"/>
          </a:xfrm>
          <a:custGeom>
            <a:avLst/>
            <a:gdLst/>
            <a:ahLst/>
            <a:cxnLst/>
            <a:rect l="l" t="t" r="r" b="b"/>
            <a:pathLst>
              <a:path w="3622860" h="794052">
                <a:moveTo>
                  <a:pt x="66168" y="0"/>
                </a:moveTo>
                <a:lnTo>
                  <a:pt x="3556692" y="0"/>
                </a:lnTo>
                <a:cubicBezTo>
                  <a:pt x="3593236" y="0"/>
                  <a:pt x="3622860" y="29625"/>
                  <a:pt x="3622860" y="66168"/>
                </a:cubicBezTo>
                <a:lnTo>
                  <a:pt x="3622860" y="727883"/>
                </a:lnTo>
                <a:cubicBezTo>
                  <a:pt x="3622860" y="764427"/>
                  <a:pt x="3593236" y="794052"/>
                  <a:pt x="3556692" y="794052"/>
                </a:cubicBezTo>
                <a:lnTo>
                  <a:pt x="66168" y="794052"/>
                </a:lnTo>
                <a:cubicBezTo>
                  <a:pt x="29625" y="794052"/>
                  <a:pt x="0" y="764427"/>
                  <a:pt x="0" y="727883"/>
                </a:cubicBezTo>
                <a:lnTo>
                  <a:pt x="0" y="66168"/>
                </a:lnTo>
                <a:cubicBezTo>
                  <a:pt x="0" y="29649"/>
                  <a:pt x="29649" y="0"/>
                  <a:pt x="6616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02156" y="4635277"/>
            <a:ext cx="496282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31132" y="4618734"/>
            <a:ext cx="479739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3" b="1" dirty="0" smtClean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1,581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2156" y="4916504"/>
            <a:ext cx="3424347" cy="99256"/>
          </a:xfrm>
          <a:custGeom>
            <a:avLst/>
            <a:gdLst/>
            <a:ahLst/>
            <a:cxnLst/>
            <a:rect l="l" t="t" r="r" b="b"/>
            <a:pathLst>
              <a:path w="3424347" h="99256">
                <a:moveTo>
                  <a:pt x="49628" y="0"/>
                </a:moveTo>
                <a:lnTo>
                  <a:pt x="3374719" y="0"/>
                </a:lnTo>
                <a:cubicBezTo>
                  <a:pt x="3402128" y="0"/>
                  <a:pt x="3424347" y="22219"/>
                  <a:pt x="3424347" y="49628"/>
                </a:cubicBezTo>
                <a:lnTo>
                  <a:pt x="3424347" y="49628"/>
                </a:lnTo>
                <a:cubicBezTo>
                  <a:pt x="3424347" y="77037"/>
                  <a:pt x="3402128" y="99256"/>
                  <a:pt x="3374719" y="99256"/>
                </a:cubicBezTo>
                <a:lnTo>
                  <a:pt x="49628" y="99256"/>
                </a:lnTo>
                <a:cubicBezTo>
                  <a:pt x="22219" y="99256"/>
                  <a:pt x="0" y="77037"/>
                  <a:pt x="0" y="49628"/>
                </a:cubicBezTo>
                <a:lnTo>
                  <a:pt x="0" y="49628"/>
                </a:lnTo>
                <a:cubicBezTo>
                  <a:pt x="0" y="22219"/>
                  <a:pt x="22219" y="0"/>
                  <a:pt x="49628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02156" y="4916504"/>
            <a:ext cx="926393" cy="99256"/>
          </a:xfrm>
          <a:custGeom>
            <a:avLst/>
            <a:gdLst/>
            <a:ahLst/>
            <a:cxnLst/>
            <a:rect l="l" t="t" r="r" b="b"/>
            <a:pathLst>
              <a:path w="926393" h="99256">
                <a:moveTo>
                  <a:pt x="49628" y="0"/>
                </a:moveTo>
                <a:lnTo>
                  <a:pt x="876765" y="0"/>
                </a:lnTo>
                <a:cubicBezTo>
                  <a:pt x="904174" y="0"/>
                  <a:pt x="926393" y="22219"/>
                  <a:pt x="926393" y="49628"/>
                </a:cubicBezTo>
                <a:lnTo>
                  <a:pt x="926393" y="49628"/>
                </a:lnTo>
                <a:cubicBezTo>
                  <a:pt x="926393" y="77037"/>
                  <a:pt x="904174" y="99256"/>
                  <a:pt x="876765" y="99256"/>
                </a:cubicBezTo>
                <a:lnTo>
                  <a:pt x="49628" y="99256"/>
                </a:lnTo>
                <a:cubicBezTo>
                  <a:pt x="22219" y="99256"/>
                  <a:pt x="0" y="77037"/>
                  <a:pt x="0" y="49628"/>
                </a:cubicBezTo>
                <a:lnTo>
                  <a:pt x="0" y="49628"/>
                </a:lnTo>
                <a:cubicBezTo>
                  <a:pt x="0" y="22219"/>
                  <a:pt x="22219" y="0"/>
                  <a:pt x="49628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5" name="Text 23"/>
          <p:cNvSpPr/>
          <p:nvPr/>
        </p:nvSpPr>
        <p:spPr>
          <a:xfrm>
            <a:off x="602156" y="5048846"/>
            <a:ext cx="3482247" cy="16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2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27% of dataset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899" y="5412786"/>
            <a:ext cx="3622860" cy="794052"/>
          </a:xfrm>
          <a:custGeom>
            <a:avLst/>
            <a:gdLst/>
            <a:ahLst/>
            <a:cxnLst/>
            <a:rect l="l" t="t" r="r" b="b"/>
            <a:pathLst>
              <a:path w="3622860" h="794052">
                <a:moveTo>
                  <a:pt x="66168" y="0"/>
                </a:moveTo>
                <a:lnTo>
                  <a:pt x="3556692" y="0"/>
                </a:lnTo>
                <a:cubicBezTo>
                  <a:pt x="3593236" y="0"/>
                  <a:pt x="3622860" y="29625"/>
                  <a:pt x="3622860" y="66168"/>
                </a:cubicBezTo>
                <a:lnTo>
                  <a:pt x="3622860" y="727883"/>
                </a:lnTo>
                <a:cubicBezTo>
                  <a:pt x="3622860" y="764427"/>
                  <a:pt x="3593236" y="794052"/>
                  <a:pt x="3556692" y="794052"/>
                </a:cubicBezTo>
                <a:lnTo>
                  <a:pt x="66168" y="794052"/>
                </a:lnTo>
                <a:cubicBezTo>
                  <a:pt x="29625" y="794052"/>
                  <a:pt x="0" y="764427"/>
                  <a:pt x="0" y="727883"/>
                </a:cubicBezTo>
                <a:lnTo>
                  <a:pt x="0" y="66168"/>
                </a:lnTo>
                <a:cubicBezTo>
                  <a:pt x="0" y="29649"/>
                  <a:pt x="29649" y="0"/>
                  <a:pt x="6616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02156" y="5528585"/>
            <a:ext cx="719609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Pneumonia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615830" y="5512042"/>
            <a:ext cx="496282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3" b="1" dirty="0" smtClean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4,274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2156" y="5809812"/>
            <a:ext cx="3424347" cy="99256"/>
          </a:xfrm>
          <a:custGeom>
            <a:avLst/>
            <a:gdLst/>
            <a:ahLst/>
            <a:cxnLst/>
            <a:rect l="l" t="t" r="r" b="b"/>
            <a:pathLst>
              <a:path w="3424347" h="99256">
                <a:moveTo>
                  <a:pt x="49628" y="0"/>
                </a:moveTo>
                <a:lnTo>
                  <a:pt x="3374719" y="0"/>
                </a:lnTo>
                <a:cubicBezTo>
                  <a:pt x="3402128" y="0"/>
                  <a:pt x="3424347" y="22219"/>
                  <a:pt x="3424347" y="49628"/>
                </a:cubicBezTo>
                <a:lnTo>
                  <a:pt x="3424347" y="49628"/>
                </a:lnTo>
                <a:cubicBezTo>
                  <a:pt x="3424347" y="77037"/>
                  <a:pt x="3402128" y="99256"/>
                  <a:pt x="3374719" y="99256"/>
                </a:cubicBezTo>
                <a:lnTo>
                  <a:pt x="49628" y="99256"/>
                </a:lnTo>
                <a:cubicBezTo>
                  <a:pt x="22219" y="99256"/>
                  <a:pt x="0" y="77037"/>
                  <a:pt x="0" y="49628"/>
                </a:cubicBezTo>
                <a:lnTo>
                  <a:pt x="0" y="49628"/>
                </a:lnTo>
                <a:cubicBezTo>
                  <a:pt x="0" y="22219"/>
                  <a:pt x="22219" y="0"/>
                  <a:pt x="49628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02156" y="5809812"/>
            <a:ext cx="2506225" cy="99256"/>
          </a:xfrm>
          <a:custGeom>
            <a:avLst/>
            <a:gdLst/>
            <a:ahLst/>
            <a:cxnLst/>
            <a:rect l="l" t="t" r="r" b="b"/>
            <a:pathLst>
              <a:path w="2506225" h="99256">
                <a:moveTo>
                  <a:pt x="49628" y="0"/>
                </a:moveTo>
                <a:lnTo>
                  <a:pt x="2456597" y="0"/>
                </a:lnTo>
                <a:cubicBezTo>
                  <a:pt x="2484006" y="0"/>
                  <a:pt x="2506225" y="22219"/>
                  <a:pt x="2506225" y="49628"/>
                </a:cubicBezTo>
                <a:lnTo>
                  <a:pt x="2506225" y="49628"/>
                </a:lnTo>
                <a:cubicBezTo>
                  <a:pt x="2506225" y="77037"/>
                  <a:pt x="2484006" y="99256"/>
                  <a:pt x="2456597" y="99256"/>
                </a:cubicBezTo>
                <a:lnTo>
                  <a:pt x="49628" y="99256"/>
                </a:lnTo>
                <a:cubicBezTo>
                  <a:pt x="22219" y="99256"/>
                  <a:pt x="0" y="77037"/>
                  <a:pt x="0" y="49628"/>
                </a:cubicBezTo>
                <a:lnTo>
                  <a:pt x="0" y="49628"/>
                </a:lnTo>
                <a:cubicBezTo>
                  <a:pt x="0" y="22219"/>
                  <a:pt x="22219" y="0"/>
                  <a:pt x="49628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1" name="Text 29"/>
          <p:cNvSpPr/>
          <p:nvPr/>
        </p:nvSpPr>
        <p:spPr>
          <a:xfrm>
            <a:off x="602156" y="5942154"/>
            <a:ext cx="3482247" cy="16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2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73% of dataset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02934" y="1128215"/>
            <a:ext cx="7351594" cy="2223344"/>
          </a:xfrm>
          <a:custGeom>
            <a:avLst/>
            <a:gdLst/>
            <a:ahLst/>
            <a:cxnLst/>
            <a:rect l="l" t="t" r="r" b="b"/>
            <a:pathLst>
              <a:path w="7351594" h="2223344">
                <a:moveTo>
                  <a:pt x="66167" y="0"/>
                </a:moveTo>
                <a:lnTo>
                  <a:pt x="7285427" y="0"/>
                </a:lnTo>
                <a:cubicBezTo>
                  <a:pt x="7321970" y="0"/>
                  <a:pt x="7351594" y="29624"/>
                  <a:pt x="7351594" y="66167"/>
                </a:cubicBezTo>
                <a:lnTo>
                  <a:pt x="7351594" y="2157178"/>
                </a:lnTo>
                <a:cubicBezTo>
                  <a:pt x="7351594" y="2193721"/>
                  <a:pt x="7321970" y="2223344"/>
                  <a:pt x="7285427" y="2223344"/>
                </a:cubicBezTo>
                <a:lnTo>
                  <a:pt x="66167" y="2223344"/>
                </a:lnTo>
                <a:cubicBezTo>
                  <a:pt x="29624" y="2223344"/>
                  <a:pt x="0" y="2193721"/>
                  <a:pt x="0" y="2157178"/>
                </a:cubicBezTo>
                <a:lnTo>
                  <a:pt x="0" y="66167"/>
                </a:lnTo>
                <a:cubicBezTo>
                  <a:pt x="0" y="29624"/>
                  <a:pt x="29624" y="0"/>
                  <a:pt x="66167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71670" y="1296951"/>
            <a:ext cx="397026" cy="397026"/>
          </a:xfrm>
          <a:custGeom>
            <a:avLst/>
            <a:gdLst/>
            <a:ahLst/>
            <a:cxnLst/>
            <a:rect l="l" t="t" r="r" b="b"/>
            <a:pathLst>
              <a:path w="397026" h="397026">
                <a:moveTo>
                  <a:pt x="198513" y="0"/>
                </a:moveTo>
                <a:lnTo>
                  <a:pt x="198513" y="0"/>
                </a:lnTo>
                <a:cubicBezTo>
                  <a:pt x="308149" y="0"/>
                  <a:pt x="397026" y="88877"/>
                  <a:pt x="397026" y="198513"/>
                </a:cubicBezTo>
                <a:lnTo>
                  <a:pt x="397026" y="198513"/>
                </a:lnTo>
                <a:cubicBezTo>
                  <a:pt x="397026" y="308149"/>
                  <a:pt x="308149" y="397026"/>
                  <a:pt x="198513" y="397026"/>
                </a:cubicBezTo>
                <a:lnTo>
                  <a:pt x="198513" y="397026"/>
                </a:lnTo>
                <a:cubicBezTo>
                  <a:pt x="88877" y="397026"/>
                  <a:pt x="0" y="308149"/>
                  <a:pt x="0" y="198513"/>
                </a:cubicBezTo>
                <a:lnTo>
                  <a:pt x="0" y="198513"/>
                </a:lnTo>
                <a:cubicBezTo>
                  <a:pt x="0" y="88877"/>
                  <a:pt x="88877" y="0"/>
                  <a:pt x="198513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766791" y="1412750"/>
            <a:ext cx="206784" cy="165427"/>
          </a:xfrm>
          <a:custGeom>
            <a:avLst/>
            <a:gdLst/>
            <a:ahLst/>
            <a:cxnLst/>
            <a:rect l="l" t="t" r="r" b="b"/>
            <a:pathLst>
              <a:path w="206784" h="165427">
                <a:moveTo>
                  <a:pt x="134377" y="68013"/>
                </a:moveTo>
                <a:cubicBezTo>
                  <a:pt x="138319" y="66946"/>
                  <a:pt x="142455" y="68820"/>
                  <a:pt x="144232" y="72471"/>
                </a:cubicBezTo>
                <a:lnTo>
                  <a:pt x="150242" y="84620"/>
                </a:lnTo>
                <a:cubicBezTo>
                  <a:pt x="153570" y="85072"/>
                  <a:pt x="156833" y="85977"/>
                  <a:pt x="159902" y="87237"/>
                </a:cubicBezTo>
                <a:lnTo>
                  <a:pt x="171211" y="79709"/>
                </a:lnTo>
                <a:cubicBezTo>
                  <a:pt x="174603" y="77447"/>
                  <a:pt x="179095" y="77900"/>
                  <a:pt x="181970" y="80775"/>
                </a:cubicBezTo>
                <a:lnTo>
                  <a:pt x="188174" y="86979"/>
                </a:lnTo>
                <a:cubicBezTo>
                  <a:pt x="191049" y="89854"/>
                  <a:pt x="191502" y="94378"/>
                  <a:pt x="189240" y="97738"/>
                </a:cubicBezTo>
                <a:lnTo>
                  <a:pt x="181712" y="109014"/>
                </a:lnTo>
                <a:cubicBezTo>
                  <a:pt x="182326" y="110533"/>
                  <a:pt x="182875" y="112116"/>
                  <a:pt x="183327" y="113764"/>
                </a:cubicBezTo>
                <a:cubicBezTo>
                  <a:pt x="183780" y="115411"/>
                  <a:pt x="184070" y="117027"/>
                  <a:pt x="184296" y="118675"/>
                </a:cubicBezTo>
                <a:lnTo>
                  <a:pt x="196477" y="124684"/>
                </a:lnTo>
                <a:cubicBezTo>
                  <a:pt x="200128" y="126494"/>
                  <a:pt x="202002" y="130629"/>
                  <a:pt x="200936" y="134539"/>
                </a:cubicBezTo>
                <a:lnTo>
                  <a:pt x="198674" y="143004"/>
                </a:lnTo>
                <a:cubicBezTo>
                  <a:pt x="197608" y="146914"/>
                  <a:pt x="193957" y="149563"/>
                  <a:pt x="189886" y="149305"/>
                </a:cubicBezTo>
                <a:lnTo>
                  <a:pt x="176316" y="148432"/>
                </a:lnTo>
                <a:cubicBezTo>
                  <a:pt x="174280" y="151049"/>
                  <a:pt x="171922" y="153473"/>
                  <a:pt x="169240" y="155541"/>
                </a:cubicBezTo>
                <a:lnTo>
                  <a:pt x="170112" y="169078"/>
                </a:lnTo>
                <a:cubicBezTo>
                  <a:pt x="170371" y="173150"/>
                  <a:pt x="167721" y="176833"/>
                  <a:pt x="163812" y="177867"/>
                </a:cubicBezTo>
                <a:lnTo>
                  <a:pt x="155347" y="180128"/>
                </a:lnTo>
                <a:cubicBezTo>
                  <a:pt x="151405" y="181195"/>
                  <a:pt x="147301" y="179321"/>
                  <a:pt x="145492" y="175670"/>
                </a:cubicBezTo>
                <a:lnTo>
                  <a:pt x="139482" y="163521"/>
                </a:lnTo>
                <a:cubicBezTo>
                  <a:pt x="136155" y="163069"/>
                  <a:pt x="132891" y="162164"/>
                  <a:pt x="129822" y="160904"/>
                </a:cubicBezTo>
                <a:lnTo>
                  <a:pt x="118513" y="168432"/>
                </a:lnTo>
                <a:cubicBezTo>
                  <a:pt x="115121" y="170694"/>
                  <a:pt x="110630" y="170242"/>
                  <a:pt x="107754" y="167366"/>
                </a:cubicBezTo>
                <a:lnTo>
                  <a:pt x="101550" y="161162"/>
                </a:lnTo>
                <a:cubicBezTo>
                  <a:pt x="98675" y="158287"/>
                  <a:pt x="98223" y="153796"/>
                  <a:pt x="100484" y="150403"/>
                </a:cubicBezTo>
                <a:lnTo>
                  <a:pt x="108012" y="139095"/>
                </a:lnTo>
                <a:cubicBezTo>
                  <a:pt x="107399" y="137576"/>
                  <a:pt x="106849" y="135993"/>
                  <a:pt x="106397" y="134345"/>
                </a:cubicBezTo>
                <a:cubicBezTo>
                  <a:pt x="105945" y="132697"/>
                  <a:pt x="105654" y="131050"/>
                  <a:pt x="105428" y="129434"/>
                </a:cubicBezTo>
                <a:lnTo>
                  <a:pt x="93247" y="123424"/>
                </a:lnTo>
                <a:cubicBezTo>
                  <a:pt x="89596" y="121615"/>
                  <a:pt x="87754" y="117479"/>
                  <a:pt x="88788" y="113570"/>
                </a:cubicBezTo>
                <a:lnTo>
                  <a:pt x="91050" y="105105"/>
                </a:lnTo>
                <a:cubicBezTo>
                  <a:pt x="92116" y="101195"/>
                  <a:pt x="95767" y="98546"/>
                  <a:pt x="99838" y="98804"/>
                </a:cubicBezTo>
                <a:lnTo>
                  <a:pt x="113376" y="99676"/>
                </a:lnTo>
                <a:cubicBezTo>
                  <a:pt x="115411" y="97059"/>
                  <a:pt x="117770" y="94636"/>
                  <a:pt x="120452" y="92568"/>
                </a:cubicBezTo>
                <a:lnTo>
                  <a:pt x="119579" y="79063"/>
                </a:lnTo>
                <a:cubicBezTo>
                  <a:pt x="119321" y="74992"/>
                  <a:pt x="121970" y="71308"/>
                  <a:pt x="125880" y="70274"/>
                </a:cubicBezTo>
                <a:lnTo>
                  <a:pt x="134345" y="68013"/>
                </a:lnTo>
                <a:close/>
                <a:moveTo>
                  <a:pt x="144878" y="109854"/>
                </a:moveTo>
                <a:cubicBezTo>
                  <a:pt x="137032" y="109863"/>
                  <a:pt x="130669" y="116240"/>
                  <a:pt x="130678" y="124087"/>
                </a:cubicBezTo>
                <a:cubicBezTo>
                  <a:pt x="130687" y="131933"/>
                  <a:pt x="137064" y="138296"/>
                  <a:pt x="144911" y="138287"/>
                </a:cubicBezTo>
                <a:cubicBezTo>
                  <a:pt x="152757" y="138278"/>
                  <a:pt x="159120" y="131901"/>
                  <a:pt x="159111" y="124054"/>
                </a:cubicBezTo>
                <a:cubicBezTo>
                  <a:pt x="159102" y="116208"/>
                  <a:pt x="152724" y="109845"/>
                  <a:pt x="144878" y="109854"/>
                </a:cubicBezTo>
                <a:close/>
                <a:moveTo>
                  <a:pt x="72665" y="-14701"/>
                </a:moveTo>
                <a:lnTo>
                  <a:pt x="81131" y="-12439"/>
                </a:lnTo>
                <a:cubicBezTo>
                  <a:pt x="85040" y="-11373"/>
                  <a:pt x="87689" y="-7690"/>
                  <a:pt x="87431" y="-3651"/>
                </a:cubicBezTo>
                <a:lnTo>
                  <a:pt x="86559" y="9855"/>
                </a:lnTo>
                <a:cubicBezTo>
                  <a:pt x="89240" y="11922"/>
                  <a:pt x="91599" y="14313"/>
                  <a:pt x="93634" y="16963"/>
                </a:cubicBezTo>
                <a:lnTo>
                  <a:pt x="107205" y="16090"/>
                </a:lnTo>
                <a:cubicBezTo>
                  <a:pt x="111243" y="15832"/>
                  <a:pt x="114927" y="18481"/>
                  <a:pt x="115993" y="22391"/>
                </a:cubicBezTo>
                <a:lnTo>
                  <a:pt x="118255" y="30856"/>
                </a:lnTo>
                <a:cubicBezTo>
                  <a:pt x="119289" y="34766"/>
                  <a:pt x="117447" y="38901"/>
                  <a:pt x="113796" y="40711"/>
                </a:cubicBezTo>
                <a:lnTo>
                  <a:pt x="101615" y="46720"/>
                </a:lnTo>
                <a:cubicBezTo>
                  <a:pt x="101389" y="48368"/>
                  <a:pt x="101066" y="50016"/>
                  <a:pt x="100646" y="51631"/>
                </a:cubicBezTo>
                <a:cubicBezTo>
                  <a:pt x="100226" y="53247"/>
                  <a:pt x="99644" y="54862"/>
                  <a:pt x="99030" y="56381"/>
                </a:cubicBezTo>
                <a:lnTo>
                  <a:pt x="106559" y="67690"/>
                </a:lnTo>
                <a:cubicBezTo>
                  <a:pt x="108820" y="71082"/>
                  <a:pt x="108368" y="75573"/>
                  <a:pt x="105492" y="78449"/>
                </a:cubicBezTo>
                <a:lnTo>
                  <a:pt x="99289" y="84652"/>
                </a:lnTo>
                <a:cubicBezTo>
                  <a:pt x="96413" y="87528"/>
                  <a:pt x="91922" y="87980"/>
                  <a:pt x="88530" y="85719"/>
                </a:cubicBezTo>
                <a:lnTo>
                  <a:pt x="77221" y="78190"/>
                </a:lnTo>
                <a:cubicBezTo>
                  <a:pt x="74152" y="79450"/>
                  <a:pt x="70888" y="80355"/>
                  <a:pt x="67560" y="80807"/>
                </a:cubicBezTo>
                <a:lnTo>
                  <a:pt x="61551" y="92956"/>
                </a:lnTo>
                <a:cubicBezTo>
                  <a:pt x="59741" y="96607"/>
                  <a:pt x="55606" y="98449"/>
                  <a:pt x="51696" y="97415"/>
                </a:cubicBezTo>
                <a:lnTo>
                  <a:pt x="43231" y="95153"/>
                </a:lnTo>
                <a:cubicBezTo>
                  <a:pt x="39289" y="94087"/>
                  <a:pt x="36672" y="90403"/>
                  <a:pt x="36930" y="86365"/>
                </a:cubicBezTo>
                <a:lnTo>
                  <a:pt x="37803" y="72827"/>
                </a:lnTo>
                <a:cubicBezTo>
                  <a:pt x="35121" y="70759"/>
                  <a:pt x="32762" y="68368"/>
                  <a:pt x="30727" y="65719"/>
                </a:cubicBezTo>
                <a:lnTo>
                  <a:pt x="17157" y="66591"/>
                </a:lnTo>
                <a:cubicBezTo>
                  <a:pt x="13118" y="66849"/>
                  <a:pt x="9435" y="64200"/>
                  <a:pt x="8368" y="60291"/>
                </a:cubicBezTo>
                <a:lnTo>
                  <a:pt x="6107" y="51825"/>
                </a:lnTo>
                <a:cubicBezTo>
                  <a:pt x="5073" y="47916"/>
                  <a:pt x="6914" y="43780"/>
                  <a:pt x="10565" y="41971"/>
                </a:cubicBezTo>
                <a:lnTo>
                  <a:pt x="22746" y="35961"/>
                </a:lnTo>
                <a:cubicBezTo>
                  <a:pt x="22972" y="34313"/>
                  <a:pt x="23296" y="32698"/>
                  <a:pt x="23716" y="31050"/>
                </a:cubicBezTo>
                <a:cubicBezTo>
                  <a:pt x="24168" y="29402"/>
                  <a:pt x="24685" y="27819"/>
                  <a:pt x="25331" y="26300"/>
                </a:cubicBezTo>
                <a:lnTo>
                  <a:pt x="17803" y="15024"/>
                </a:lnTo>
                <a:cubicBezTo>
                  <a:pt x="15541" y="11632"/>
                  <a:pt x="15993" y="7141"/>
                  <a:pt x="18869" y="4265"/>
                </a:cubicBezTo>
                <a:lnTo>
                  <a:pt x="25073" y="-1939"/>
                </a:lnTo>
                <a:cubicBezTo>
                  <a:pt x="27948" y="-4814"/>
                  <a:pt x="32439" y="-5267"/>
                  <a:pt x="35832" y="-3005"/>
                </a:cubicBezTo>
                <a:lnTo>
                  <a:pt x="47140" y="4523"/>
                </a:lnTo>
                <a:cubicBezTo>
                  <a:pt x="50210" y="3263"/>
                  <a:pt x="53473" y="2359"/>
                  <a:pt x="56801" y="1906"/>
                </a:cubicBezTo>
                <a:lnTo>
                  <a:pt x="62811" y="-10242"/>
                </a:lnTo>
                <a:cubicBezTo>
                  <a:pt x="64620" y="-13893"/>
                  <a:pt x="68723" y="-15735"/>
                  <a:pt x="72665" y="-14701"/>
                </a:cubicBezTo>
                <a:close/>
                <a:moveTo>
                  <a:pt x="62165" y="27140"/>
                </a:moveTo>
                <a:cubicBezTo>
                  <a:pt x="54318" y="27140"/>
                  <a:pt x="47948" y="33511"/>
                  <a:pt x="47948" y="41357"/>
                </a:cubicBezTo>
                <a:cubicBezTo>
                  <a:pt x="47948" y="49203"/>
                  <a:pt x="54318" y="55573"/>
                  <a:pt x="62165" y="55573"/>
                </a:cubicBezTo>
                <a:cubicBezTo>
                  <a:pt x="70011" y="55573"/>
                  <a:pt x="76381" y="49203"/>
                  <a:pt x="76381" y="41357"/>
                </a:cubicBezTo>
                <a:cubicBezTo>
                  <a:pt x="76381" y="33511"/>
                  <a:pt x="70011" y="27140"/>
                  <a:pt x="62165" y="2714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8" name="Text 36"/>
          <p:cNvSpPr/>
          <p:nvPr/>
        </p:nvSpPr>
        <p:spPr>
          <a:xfrm>
            <a:off x="5167952" y="1379665"/>
            <a:ext cx="1513661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671670" y="1826319"/>
            <a:ext cx="3457433" cy="628624"/>
          </a:xfrm>
          <a:custGeom>
            <a:avLst/>
            <a:gdLst/>
            <a:ahLst/>
            <a:cxnLst/>
            <a:rect l="l" t="t" r="r" b="b"/>
            <a:pathLst>
              <a:path w="3457433" h="628624">
                <a:moveTo>
                  <a:pt x="66169" y="0"/>
                </a:moveTo>
                <a:lnTo>
                  <a:pt x="3391264" y="0"/>
                </a:lnTo>
                <a:cubicBezTo>
                  <a:pt x="3427808" y="0"/>
                  <a:pt x="3457433" y="29625"/>
                  <a:pt x="3457433" y="66169"/>
                </a:cubicBezTo>
                <a:lnTo>
                  <a:pt x="3457433" y="562455"/>
                </a:lnTo>
                <a:cubicBezTo>
                  <a:pt x="3457433" y="598999"/>
                  <a:pt x="3427808" y="628624"/>
                  <a:pt x="3391264" y="628624"/>
                </a:cubicBezTo>
                <a:lnTo>
                  <a:pt x="66169" y="628624"/>
                </a:lnTo>
                <a:cubicBezTo>
                  <a:pt x="29625" y="628624"/>
                  <a:pt x="0" y="598999"/>
                  <a:pt x="0" y="562455"/>
                </a:cubicBezTo>
                <a:lnTo>
                  <a:pt x="0" y="66169"/>
                </a:lnTo>
                <a:cubicBezTo>
                  <a:pt x="0" y="29649"/>
                  <a:pt x="29649" y="0"/>
                  <a:pt x="6616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795740" y="1958661"/>
            <a:ext cx="115799" cy="132342"/>
          </a:xfrm>
          <a:custGeom>
            <a:avLst/>
            <a:gdLst/>
            <a:ahLst/>
            <a:cxnLst/>
            <a:rect l="l" t="t" r="r" b="b"/>
            <a:pathLst>
              <a:path w="115799" h="132342">
                <a:moveTo>
                  <a:pt x="8271" y="8271"/>
                </a:moveTo>
                <a:cubicBezTo>
                  <a:pt x="3696" y="8271"/>
                  <a:pt x="0" y="11968"/>
                  <a:pt x="0" y="16543"/>
                </a:cubicBezTo>
                <a:lnTo>
                  <a:pt x="0" y="41357"/>
                </a:lnTo>
                <a:cubicBezTo>
                  <a:pt x="0" y="45932"/>
                  <a:pt x="3696" y="49628"/>
                  <a:pt x="8271" y="49628"/>
                </a:cubicBezTo>
                <a:cubicBezTo>
                  <a:pt x="12846" y="49628"/>
                  <a:pt x="16543" y="45932"/>
                  <a:pt x="16543" y="41357"/>
                </a:cubicBezTo>
                <a:lnTo>
                  <a:pt x="16543" y="24814"/>
                </a:lnTo>
                <a:lnTo>
                  <a:pt x="33085" y="24814"/>
                </a:lnTo>
                <a:cubicBezTo>
                  <a:pt x="37661" y="24814"/>
                  <a:pt x="41357" y="21118"/>
                  <a:pt x="41357" y="16543"/>
                </a:cubicBezTo>
                <a:cubicBezTo>
                  <a:pt x="41357" y="11968"/>
                  <a:pt x="37661" y="8271"/>
                  <a:pt x="33085" y="8271"/>
                </a:cubicBezTo>
                <a:lnTo>
                  <a:pt x="8271" y="8271"/>
                </a:lnTo>
                <a:close/>
                <a:moveTo>
                  <a:pt x="16543" y="90985"/>
                </a:moveTo>
                <a:cubicBezTo>
                  <a:pt x="16543" y="86410"/>
                  <a:pt x="12846" y="82714"/>
                  <a:pt x="8271" y="82714"/>
                </a:cubicBezTo>
                <a:cubicBezTo>
                  <a:pt x="3696" y="82714"/>
                  <a:pt x="0" y="86410"/>
                  <a:pt x="0" y="90985"/>
                </a:cubicBezTo>
                <a:lnTo>
                  <a:pt x="0" y="115799"/>
                </a:lnTo>
                <a:cubicBezTo>
                  <a:pt x="0" y="120374"/>
                  <a:pt x="3696" y="124071"/>
                  <a:pt x="8271" y="124071"/>
                </a:cubicBezTo>
                <a:lnTo>
                  <a:pt x="33085" y="124071"/>
                </a:lnTo>
                <a:cubicBezTo>
                  <a:pt x="37661" y="124071"/>
                  <a:pt x="41357" y="120374"/>
                  <a:pt x="41357" y="115799"/>
                </a:cubicBezTo>
                <a:cubicBezTo>
                  <a:pt x="41357" y="111224"/>
                  <a:pt x="37661" y="107528"/>
                  <a:pt x="33085" y="107528"/>
                </a:cubicBezTo>
                <a:lnTo>
                  <a:pt x="16543" y="107528"/>
                </a:lnTo>
                <a:lnTo>
                  <a:pt x="16543" y="90985"/>
                </a:lnTo>
                <a:close/>
                <a:moveTo>
                  <a:pt x="82714" y="8271"/>
                </a:moveTo>
                <a:cubicBezTo>
                  <a:pt x="78139" y="8271"/>
                  <a:pt x="74442" y="11968"/>
                  <a:pt x="74442" y="16543"/>
                </a:cubicBezTo>
                <a:cubicBezTo>
                  <a:pt x="74442" y="21118"/>
                  <a:pt x="78139" y="24814"/>
                  <a:pt x="82714" y="24814"/>
                </a:cubicBezTo>
                <a:lnTo>
                  <a:pt x="99256" y="24814"/>
                </a:lnTo>
                <a:lnTo>
                  <a:pt x="99256" y="41357"/>
                </a:lnTo>
                <a:cubicBezTo>
                  <a:pt x="99256" y="45932"/>
                  <a:pt x="102953" y="49628"/>
                  <a:pt x="107528" y="49628"/>
                </a:cubicBezTo>
                <a:cubicBezTo>
                  <a:pt x="112103" y="49628"/>
                  <a:pt x="115799" y="45932"/>
                  <a:pt x="115799" y="41357"/>
                </a:cubicBezTo>
                <a:lnTo>
                  <a:pt x="115799" y="16543"/>
                </a:lnTo>
                <a:cubicBezTo>
                  <a:pt x="115799" y="11968"/>
                  <a:pt x="112103" y="8271"/>
                  <a:pt x="107528" y="8271"/>
                </a:cubicBezTo>
                <a:lnTo>
                  <a:pt x="82714" y="8271"/>
                </a:lnTo>
                <a:close/>
                <a:moveTo>
                  <a:pt x="115799" y="90985"/>
                </a:moveTo>
                <a:cubicBezTo>
                  <a:pt x="115799" y="86410"/>
                  <a:pt x="112103" y="82714"/>
                  <a:pt x="107528" y="82714"/>
                </a:cubicBezTo>
                <a:cubicBezTo>
                  <a:pt x="102953" y="82714"/>
                  <a:pt x="99256" y="86410"/>
                  <a:pt x="99256" y="90985"/>
                </a:cubicBezTo>
                <a:lnTo>
                  <a:pt x="99256" y="107528"/>
                </a:lnTo>
                <a:lnTo>
                  <a:pt x="82714" y="107528"/>
                </a:lnTo>
                <a:cubicBezTo>
                  <a:pt x="78139" y="107528"/>
                  <a:pt x="74442" y="111224"/>
                  <a:pt x="74442" y="115799"/>
                </a:cubicBezTo>
                <a:cubicBezTo>
                  <a:pt x="74442" y="120374"/>
                  <a:pt x="78139" y="124071"/>
                  <a:pt x="82714" y="124071"/>
                </a:cubicBezTo>
                <a:lnTo>
                  <a:pt x="107528" y="124071"/>
                </a:lnTo>
                <a:cubicBezTo>
                  <a:pt x="112103" y="124071"/>
                  <a:pt x="115799" y="120374"/>
                  <a:pt x="115799" y="115799"/>
                </a:cubicBezTo>
                <a:lnTo>
                  <a:pt x="115799" y="9098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1" name="Text 39"/>
          <p:cNvSpPr/>
          <p:nvPr/>
        </p:nvSpPr>
        <p:spPr>
          <a:xfrm>
            <a:off x="5002525" y="1925575"/>
            <a:ext cx="554182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Resizing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770926" y="2190259"/>
            <a:ext cx="3316820" cy="16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2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Standardized to 150×150 pixels for uniform input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29083" y="1826319"/>
            <a:ext cx="3457433" cy="628624"/>
          </a:xfrm>
          <a:custGeom>
            <a:avLst/>
            <a:gdLst/>
            <a:ahLst/>
            <a:cxnLst/>
            <a:rect l="l" t="t" r="r" b="b"/>
            <a:pathLst>
              <a:path w="3457433" h="628624">
                <a:moveTo>
                  <a:pt x="66169" y="0"/>
                </a:moveTo>
                <a:lnTo>
                  <a:pt x="3391264" y="0"/>
                </a:lnTo>
                <a:cubicBezTo>
                  <a:pt x="3427808" y="0"/>
                  <a:pt x="3457433" y="29625"/>
                  <a:pt x="3457433" y="66169"/>
                </a:cubicBezTo>
                <a:lnTo>
                  <a:pt x="3457433" y="562455"/>
                </a:lnTo>
                <a:cubicBezTo>
                  <a:pt x="3457433" y="598999"/>
                  <a:pt x="3427808" y="628624"/>
                  <a:pt x="3391264" y="628624"/>
                </a:cubicBezTo>
                <a:lnTo>
                  <a:pt x="66169" y="628624"/>
                </a:lnTo>
                <a:cubicBezTo>
                  <a:pt x="29625" y="628624"/>
                  <a:pt x="0" y="598999"/>
                  <a:pt x="0" y="562455"/>
                </a:cubicBezTo>
                <a:lnTo>
                  <a:pt x="0" y="66169"/>
                </a:lnTo>
                <a:cubicBezTo>
                  <a:pt x="0" y="29649"/>
                  <a:pt x="29649" y="0"/>
                  <a:pt x="6616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344882" y="1958661"/>
            <a:ext cx="132342" cy="132342"/>
          </a:xfrm>
          <a:custGeom>
            <a:avLst/>
            <a:gdLst/>
            <a:ahLst/>
            <a:cxnLst/>
            <a:rect l="l" t="t" r="r" b="b"/>
            <a:pathLst>
              <a:path w="132342" h="132342">
                <a:moveTo>
                  <a:pt x="115799" y="66171"/>
                </a:moveTo>
                <a:cubicBezTo>
                  <a:pt x="115799" y="38772"/>
                  <a:pt x="93570" y="16543"/>
                  <a:pt x="66171" y="16543"/>
                </a:cubicBezTo>
                <a:lnTo>
                  <a:pt x="66171" y="115799"/>
                </a:lnTo>
                <a:cubicBezTo>
                  <a:pt x="93570" y="115799"/>
                  <a:pt x="115799" y="93570"/>
                  <a:pt x="115799" y="66171"/>
                </a:cubicBezTo>
                <a:close/>
                <a:moveTo>
                  <a:pt x="0" y="66171"/>
                </a:moveTo>
                <a:cubicBezTo>
                  <a:pt x="0" y="29650"/>
                  <a:pt x="29650" y="0"/>
                  <a:pt x="66171" y="0"/>
                </a:cubicBezTo>
                <a:cubicBezTo>
                  <a:pt x="102692" y="0"/>
                  <a:pt x="132342" y="29650"/>
                  <a:pt x="132342" y="66171"/>
                </a:cubicBezTo>
                <a:cubicBezTo>
                  <a:pt x="132342" y="102692"/>
                  <a:pt x="102692" y="132342"/>
                  <a:pt x="66171" y="132342"/>
                </a:cubicBezTo>
                <a:cubicBezTo>
                  <a:pt x="29650" y="132342"/>
                  <a:pt x="0" y="102692"/>
                  <a:pt x="0" y="6617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5" name="Text 43"/>
          <p:cNvSpPr/>
          <p:nvPr/>
        </p:nvSpPr>
        <p:spPr>
          <a:xfrm>
            <a:off x="8559938" y="1925575"/>
            <a:ext cx="876765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28340" y="2190259"/>
            <a:ext cx="3316820" cy="16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2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Pixel values scaled to [0,1] range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671670" y="2554200"/>
            <a:ext cx="3457433" cy="628624"/>
          </a:xfrm>
          <a:custGeom>
            <a:avLst/>
            <a:gdLst/>
            <a:ahLst/>
            <a:cxnLst/>
            <a:rect l="l" t="t" r="r" b="b"/>
            <a:pathLst>
              <a:path w="3457433" h="628624">
                <a:moveTo>
                  <a:pt x="66169" y="0"/>
                </a:moveTo>
                <a:lnTo>
                  <a:pt x="3391264" y="0"/>
                </a:lnTo>
                <a:cubicBezTo>
                  <a:pt x="3427808" y="0"/>
                  <a:pt x="3457433" y="29625"/>
                  <a:pt x="3457433" y="66169"/>
                </a:cubicBezTo>
                <a:lnTo>
                  <a:pt x="3457433" y="562455"/>
                </a:lnTo>
                <a:cubicBezTo>
                  <a:pt x="3457433" y="598999"/>
                  <a:pt x="3427808" y="628624"/>
                  <a:pt x="3391264" y="628624"/>
                </a:cubicBezTo>
                <a:lnTo>
                  <a:pt x="66169" y="628624"/>
                </a:lnTo>
                <a:cubicBezTo>
                  <a:pt x="29625" y="628624"/>
                  <a:pt x="0" y="598999"/>
                  <a:pt x="0" y="562455"/>
                </a:cubicBezTo>
                <a:lnTo>
                  <a:pt x="0" y="66169"/>
                </a:lnTo>
                <a:cubicBezTo>
                  <a:pt x="0" y="29649"/>
                  <a:pt x="29649" y="0"/>
                  <a:pt x="6616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87469" y="2686542"/>
            <a:ext cx="132342" cy="132342"/>
          </a:xfrm>
          <a:custGeom>
            <a:avLst/>
            <a:gdLst/>
            <a:ahLst/>
            <a:cxnLst/>
            <a:rect l="l" t="t" r="r" b="b"/>
            <a:pathLst>
              <a:path w="132342" h="132342">
                <a:moveTo>
                  <a:pt x="132342" y="66171"/>
                </a:moveTo>
                <a:cubicBezTo>
                  <a:pt x="132342" y="66404"/>
                  <a:pt x="132342" y="66636"/>
                  <a:pt x="132342" y="66869"/>
                </a:cubicBezTo>
                <a:cubicBezTo>
                  <a:pt x="132239" y="76303"/>
                  <a:pt x="123657" y="82714"/>
                  <a:pt x="114222" y="82714"/>
                </a:cubicBezTo>
                <a:lnTo>
                  <a:pt x="88917" y="82714"/>
                </a:lnTo>
                <a:cubicBezTo>
                  <a:pt x="82068" y="82714"/>
                  <a:pt x="76510" y="88271"/>
                  <a:pt x="76510" y="95121"/>
                </a:cubicBezTo>
                <a:cubicBezTo>
                  <a:pt x="76510" y="96000"/>
                  <a:pt x="76614" y="96853"/>
                  <a:pt x="76769" y="97680"/>
                </a:cubicBezTo>
                <a:cubicBezTo>
                  <a:pt x="77311" y="100316"/>
                  <a:pt x="78449" y="102849"/>
                  <a:pt x="79560" y="105408"/>
                </a:cubicBezTo>
                <a:cubicBezTo>
                  <a:pt x="81137" y="108975"/>
                  <a:pt x="82688" y="112516"/>
                  <a:pt x="82688" y="116264"/>
                </a:cubicBezTo>
                <a:cubicBezTo>
                  <a:pt x="82688" y="124484"/>
                  <a:pt x="77105" y="131954"/>
                  <a:pt x="68885" y="132290"/>
                </a:cubicBezTo>
                <a:cubicBezTo>
                  <a:pt x="67980" y="132316"/>
                  <a:pt x="67076" y="132342"/>
                  <a:pt x="66145" y="132342"/>
                </a:cubicBezTo>
                <a:cubicBezTo>
                  <a:pt x="29596" y="132342"/>
                  <a:pt x="-26" y="102720"/>
                  <a:pt x="-26" y="66171"/>
                </a:cubicBezTo>
                <a:cubicBezTo>
                  <a:pt x="-26" y="29622"/>
                  <a:pt x="29622" y="0"/>
                  <a:pt x="66171" y="0"/>
                </a:cubicBezTo>
                <a:cubicBezTo>
                  <a:pt x="102720" y="0"/>
                  <a:pt x="132342" y="29622"/>
                  <a:pt x="132342" y="66171"/>
                </a:cubicBezTo>
                <a:close/>
                <a:moveTo>
                  <a:pt x="33085" y="74442"/>
                </a:moveTo>
                <a:cubicBezTo>
                  <a:pt x="33085" y="69877"/>
                  <a:pt x="29379" y="66171"/>
                  <a:pt x="24814" y="66171"/>
                </a:cubicBezTo>
                <a:cubicBezTo>
                  <a:pt x="20249" y="66171"/>
                  <a:pt x="16543" y="69877"/>
                  <a:pt x="16543" y="74442"/>
                </a:cubicBezTo>
                <a:cubicBezTo>
                  <a:pt x="16543" y="79007"/>
                  <a:pt x="20249" y="82714"/>
                  <a:pt x="24814" y="82714"/>
                </a:cubicBezTo>
                <a:cubicBezTo>
                  <a:pt x="29379" y="82714"/>
                  <a:pt x="33085" y="79007"/>
                  <a:pt x="33085" y="74442"/>
                </a:cubicBezTo>
                <a:close/>
                <a:moveTo>
                  <a:pt x="33085" y="49628"/>
                </a:moveTo>
                <a:cubicBezTo>
                  <a:pt x="37651" y="49628"/>
                  <a:pt x="41357" y="45922"/>
                  <a:pt x="41357" y="41357"/>
                </a:cubicBezTo>
                <a:cubicBezTo>
                  <a:pt x="41357" y="36792"/>
                  <a:pt x="37651" y="33085"/>
                  <a:pt x="33085" y="33085"/>
                </a:cubicBezTo>
                <a:cubicBezTo>
                  <a:pt x="28520" y="33085"/>
                  <a:pt x="24814" y="36792"/>
                  <a:pt x="24814" y="41357"/>
                </a:cubicBezTo>
                <a:cubicBezTo>
                  <a:pt x="24814" y="45922"/>
                  <a:pt x="28520" y="49628"/>
                  <a:pt x="33085" y="49628"/>
                </a:cubicBezTo>
                <a:close/>
                <a:moveTo>
                  <a:pt x="74442" y="24814"/>
                </a:moveTo>
                <a:cubicBezTo>
                  <a:pt x="74442" y="20249"/>
                  <a:pt x="70736" y="16543"/>
                  <a:pt x="66171" y="16543"/>
                </a:cubicBezTo>
                <a:cubicBezTo>
                  <a:pt x="61606" y="16543"/>
                  <a:pt x="57900" y="20249"/>
                  <a:pt x="57900" y="24814"/>
                </a:cubicBezTo>
                <a:cubicBezTo>
                  <a:pt x="57900" y="29379"/>
                  <a:pt x="61606" y="33085"/>
                  <a:pt x="66171" y="33085"/>
                </a:cubicBezTo>
                <a:cubicBezTo>
                  <a:pt x="70736" y="33085"/>
                  <a:pt x="74442" y="29379"/>
                  <a:pt x="74442" y="24814"/>
                </a:cubicBezTo>
                <a:close/>
                <a:moveTo>
                  <a:pt x="99256" y="49628"/>
                </a:moveTo>
                <a:cubicBezTo>
                  <a:pt x="103822" y="49628"/>
                  <a:pt x="107528" y="45922"/>
                  <a:pt x="107528" y="41357"/>
                </a:cubicBezTo>
                <a:cubicBezTo>
                  <a:pt x="107528" y="36792"/>
                  <a:pt x="103822" y="33085"/>
                  <a:pt x="99256" y="33085"/>
                </a:cubicBezTo>
                <a:cubicBezTo>
                  <a:pt x="94691" y="33085"/>
                  <a:pt x="90985" y="36792"/>
                  <a:pt x="90985" y="41357"/>
                </a:cubicBezTo>
                <a:cubicBezTo>
                  <a:pt x="90985" y="45922"/>
                  <a:pt x="94691" y="49628"/>
                  <a:pt x="99256" y="4962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9" name="Text 47"/>
          <p:cNvSpPr/>
          <p:nvPr/>
        </p:nvSpPr>
        <p:spPr>
          <a:xfrm>
            <a:off x="5002525" y="2653456"/>
            <a:ext cx="645167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Grayscale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770926" y="2918140"/>
            <a:ext cx="3316820" cy="16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2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Converted to single-channel images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29083" y="2554200"/>
            <a:ext cx="3457433" cy="628624"/>
          </a:xfrm>
          <a:custGeom>
            <a:avLst/>
            <a:gdLst/>
            <a:ahLst/>
            <a:cxnLst/>
            <a:rect l="l" t="t" r="r" b="b"/>
            <a:pathLst>
              <a:path w="3457433" h="628624">
                <a:moveTo>
                  <a:pt x="66169" y="0"/>
                </a:moveTo>
                <a:lnTo>
                  <a:pt x="3391264" y="0"/>
                </a:lnTo>
                <a:cubicBezTo>
                  <a:pt x="3427808" y="0"/>
                  <a:pt x="3457433" y="29625"/>
                  <a:pt x="3457433" y="66169"/>
                </a:cubicBezTo>
                <a:lnTo>
                  <a:pt x="3457433" y="562455"/>
                </a:lnTo>
                <a:cubicBezTo>
                  <a:pt x="3457433" y="598999"/>
                  <a:pt x="3427808" y="628624"/>
                  <a:pt x="3391264" y="628624"/>
                </a:cubicBezTo>
                <a:lnTo>
                  <a:pt x="66169" y="628624"/>
                </a:lnTo>
                <a:cubicBezTo>
                  <a:pt x="29625" y="628624"/>
                  <a:pt x="0" y="598999"/>
                  <a:pt x="0" y="562455"/>
                </a:cubicBezTo>
                <a:lnTo>
                  <a:pt x="0" y="66169"/>
                </a:lnTo>
                <a:cubicBezTo>
                  <a:pt x="0" y="29649"/>
                  <a:pt x="29649" y="0"/>
                  <a:pt x="6616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344882" y="2686542"/>
            <a:ext cx="132342" cy="132342"/>
          </a:xfrm>
          <a:custGeom>
            <a:avLst/>
            <a:gdLst/>
            <a:ahLst/>
            <a:cxnLst/>
            <a:rect l="l" t="t" r="r" b="b"/>
            <a:pathLst>
              <a:path w="132342" h="132342">
                <a:moveTo>
                  <a:pt x="8271" y="16543"/>
                </a:moveTo>
                <a:cubicBezTo>
                  <a:pt x="4937" y="16543"/>
                  <a:pt x="1913" y="18559"/>
                  <a:pt x="620" y="21661"/>
                </a:cubicBezTo>
                <a:cubicBezTo>
                  <a:pt x="-672" y="24762"/>
                  <a:pt x="52" y="28304"/>
                  <a:pt x="2430" y="30656"/>
                </a:cubicBezTo>
                <a:lnTo>
                  <a:pt x="49628" y="77880"/>
                </a:lnTo>
                <a:lnTo>
                  <a:pt x="49628" y="107528"/>
                </a:lnTo>
                <a:cubicBezTo>
                  <a:pt x="49628" y="109725"/>
                  <a:pt x="50507" y="111819"/>
                  <a:pt x="52058" y="113369"/>
                </a:cubicBezTo>
                <a:lnTo>
                  <a:pt x="68601" y="129912"/>
                </a:lnTo>
                <a:cubicBezTo>
                  <a:pt x="70979" y="132290"/>
                  <a:pt x="74520" y="132988"/>
                  <a:pt x="77622" y="131696"/>
                </a:cubicBezTo>
                <a:cubicBezTo>
                  <a:pt x="80723" y="130403"/>
                  <a:pt x="82714" y="127405"/>
                  <a:pt x="82714" y="124071"/>
                </a:cubicBezTo>
                <a:lnTo>
                  <a:pt x="82714" y="77880"/>
                </a:lnTo>
                <a:lnTo>
                  <a:pt x="129912" y="30682"/>
                </a:lnTo>
                <a:cubicBezTo>
                  <a:pt x="132290" y="28304"/>
                  <a:pt x="132988" y="24762"/>
                  <a:pt x="131696" y="21661"/>
                </a:cubicBezTo>
                <a:cubicBezTo>
                  <a:pt x="130403" y="18559"/>
                  <a:pt x="127405" y="16543"/>
                  <a:pt x="124071" y="16543"/>
                </a:cubicBezTo>
                <a:lnTo>
                  <a:pt x="8271" y="1654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3" name="Text 51"/>
          <p:cNvSpPr/>
          <p:nvPr/>
        </p:nvSpPr>
        <p:spPr>
          <a:xfrm>
            <a:off x="8559938" y="2653456"/>
            <a:ext cx="570725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Contrast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328340" y="2918140"/>
            <a:ext cx="3316820" cy="16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2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for better feature visibility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502934" y="3523605"/>
            <a:ext cx="7351594" cy="2835426"/>
          </a:xfrm>
          <a:custGeom>
            <a:avLst/>
            <a:gdLst/>
            <a:ahLst/>
            <a:cxnLst/>
            <a:rect l="l" t="t" r="r" b="b"/>
            <a:pathLst>
              <a:path w="7351594" h="2835426">
                <a:moveTo>
                  <a:pt x="66179" y="0"/>
                </a:moveTo>
                <a:lnTo>
                  <a:pt x="7285415" y="0"/>
                </a:lnTo>
                <a:cubicBezTo>
                  <a:pt x="7321965" y="0"/>
                  <a:pt x="7351594" y="29629"/>
                  <a:pt x="7351594" y="66179"/>
                </a:cubicBezTo>
                <a:lnTo>
                  <a:pt x="7351594" y="2769247"/>
                </a:lnTo>
                <a:cubicBezTo>
                  <a:pt x="7351594" y="2805797"/>
                  <a:pt x="7321965" y="2835426"/>
                  <a:pt x="7285415" y="2835426"/>
                </a:cubicBezTo>
                <a:lnTo>
                  <a:pt x="66179" y="2835426"/>
                </a:lnTo>
                <a:cubicBezTo>
                  <a:pt x="29629" y="2835426"/>
                  <a:pt x="0" y="2805797"/>
                  <a:pt x="0" y="2769247"/>
                </a:cubicBezTo>
                <a:lnTo>
                  <a:pt x="0" y="66179"/>
                </a:lnTo>
                <a:cubicBezTo>
                  <a:pt x="0" y="29629"/>
                  <a:pt x="29629" y="0"/>
                  <a:pt x="66179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71670" y="3692341"/>
            <a:ext cx="397026" cy="397026"/>
          </a:xfrm>
          <a:custGeom>
            <a:avLst/>
            <a:gdLst/>
            <a:ahLst/>
            <a:cxnLst/>
            <a:rect l="l" t="t" r="r" b="b"/>
            <a:pathLst>
              <a:path w="397026" h="397026">
                <a:moveTo>
                  <a:pt x="198513" y="0"/>
                </a:moveTo>
                <a:lnTo>
                  <a:pt x="198513" y="0"/>
                </a:lnTo>
                <a:cubicBezTo>
                  <a:pt x="308149" y="0"/>
                  <a:pt x="397026" y="88877"/>
                  <a:pt x="397026" y="198513"/>
                </a:cubicBezTo>
                <a:lnTo>
                  <a:pt x="397026" y="198513"/>
                </a:lnTo>
                <a:cubicBezTo>
                  <a:pt x="397026" y="308149"/>
                  <a:pt x="308149" y="397026"/>
                  <a:pt x="198513" y="397026"/>
                </a:cubicBezTo>
                <a:lnTo>
                  <a:pt x="198513" y="397026"/>
                </a:lnTo>
                <a:cubicBezTo>
                  <a:pt x="88877" y="397026"/>
                  <a:pt x="0" y="308149"/>
                  <a:pt x="0" y="198513"/>
                </a:cubicBezTo>
                <a:lnTo>
                  <a:pt x="0" y="198513"/>
                </a:lnTo>
                <a:cubicBezTo>
                  <a:pt x="0" y="88877"/>
                  <a:pt x="88877" y="0"/>
                  <a:pt x="19851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787469" y="3808140"/>
            <a:ext cx="165427" cy="165427"/>
          </a:xfrm>
          <a:custGeom>
            <a:avLst/>
            <a:gdLst/>
            <a:ahLst/>
            <a:cxnLst/>
            <a:rect l="l" t="t" r="r" b="b"/>
            <a:pathLst>
              <a:path w="165427" h="165427">
                <a:moveTo>
                  <a:pt x="130468" y="11115"/>
                </a:moveTo>
                <a:cubicBezTo>
                  <a:pt x="134345" y="9499"/>
                  <a:pt x="138772" y="10404"/>
                  <a:pt x="141744" y="13344"/>
                </a:cubicBezTo>
                <a:lnTo>
                  <a:pt x="162423" y="34022"/>
                </a:lnTo>
                <a:cubicBezTo>
                  <a:pt x="164361" y="35961"/>
                  <a:pt x="165460" y="38578"/>
                  <a:pt x="165460" y="41325"/>
                </a:cubicBezTo>
                <a:cubicBezTo>
                  <a:pt x="165460" y="44071"/>
                  <a:pt x="164361" y="46688"/>
                  <a:pt x="162423" y="48627"/>
                </a:cubicBezTo>
                <a:lnTo>
                  <a:pt x="141744" y="69305"/>
                </a:lnTo>
                <a:cubicBezTo>
                  <a:pt x="138772" y="72278"/>
                  <a:pt x="134345" y="73150"/>
                  <a:pt x="130468" y="71534"/>
                </a:cubicBezTo>
                <a:cubicBezTo>
                  <a:pt x="126591" y="69919"/>
                  <a:pt x="124071" y="66203"/>
                  <a:pt x="124071" y="62035"/>
                </a:cubicBezTo>
                <a:lnTo>
                  <a:pt x="124071" y="51696"/>
                </a:lnTo>
                <a:lnTo>
                  <a:pt x="113731" y="51696"/>
                </a:lnTo>
                <a:cubicBezTo>
                  <a:pt x="110468" y="51696"/>
                  <a:pt x="107399" y="53215"/>
                  <a:pt x="105460" y="55832"/>
                </a:cubicBezTo>
                <a:lnTo>
                  <a:pt x="94992" y="69790"/>
                </a:lnTo>
                <a:lnTo>
                  <a:pt x="82068" y="52568"/>
                </a:lnTo>
                <a:lnTo>
                  <a:pt x="88917" y="43425"/>
                </a:lnTo>
                <a:cubicBezTo>
                  <a:pt x="94765" y="35606"/>
                  <a:pt x="103974" y="31018"/>
                  <a:pt x="113731" y="31018"/>
                </a:cubicBezTo>
                <a:lnTo>
                  <a:pt x="124071" y="31018"/>
                </a:lnTo>
                <a:lnTo>
                  <a:pt x="124071" y="20678"/>
                </a:lnTo>
                <a:cubicBezTo>
                  <a:pt x="124071" y="16510"/>
                  <a:pt x="126591" y="12730"/>
                  <a:pt x="130468" y="11115"/>
                </a:cubicBezTo>
                <a:close/>
                <a:moveTo>
                  <a:pt x="49757" y="95638"/>
                </a:moveTo>
                <a:lnTo>
                  <a:pt x="62681" y="112859"/>
                </a:lnTo>
                <a:lnTo>
                  <a:pt x="55832" y="122003"/>
                </a:lnTo>
                <a:cubicBezTo>
                  <a:pt x="49984" y="129822"/>
                  <a:pt x="40775" y="134410"/>
                  <a:pt x="31018" y="134410"/>
                </a:cubicBezTo>
                <a:lnTo>
                  <a:pt x="10339" y="134410"/>
                </a:lnTo>
                <a:cubicBezTo>
                  <a:pt x="4620" y="134410"/>
                  <a:pt x="0" y="129789"/>
                  <a:pt x="0" y="124071"/>
                </a:cubicBezTo>
                <a:cubicBezTo>
                  <a:pt x="0" y="118352"/>
                  <a:pt x="4620" y="113731"/>
                  <a:pt x="10339" y="113731"/>
                </a:cubicBezTo>
                <a:lnTo>
                  <a:pt x="31018" y="113731"/>
                </a:lnTo>
                <a:cubicBezTo>
                  <a:pt x="34281" y="113731"/>
                  <a:pt x="37350" y="112213"/>
                  <a:pt x="39289" y="109596"/>
                </a:cubicBezTo>
                <a:lnTo>
                  <a:pt x="49757" y="95638"/>
                </a:lnTo>
                <a:close/>
                <a:moveTo>
                  <a:pt x="141712" y="152051"/>
                </a:moveTo>
                <a:cubicBezTo>
                  <a:pt x="138739" y="155024"/>
                  <a:pt x="134313" y="155896"/>
                  <a:pt x="130436" y="154280"/>
                </a:cubicBezTo>
                <a:cubicBezTo>
                  <a:pt x="126558" y="152665"/>
                  <a:pt x="124071" y="148917"/>
                  <a:pt x="124071" y="144749"/>
                </a:cubicBezTo>
                <a:lnTo>
                  <a:pt x="124071" y="134410"/>
                </a:lnTo>
                <a:lnTo>
                  <a:pt x="113731" y="134410"/>
                </a:lnTo>
                <a:cubicBezTo>
                  <a:pt x="103974" y="134410"/>
                  <a:pt x="94765" y="129822"/>
                  <a:pt x="88917" y="122003"/>
                </a:cubicBezTo>
                <a:lnTo>
                  <a:pt x="39289" y="55832"/>
                </a:lnTo>
                <a:cubicBezTo>
                  <a:pt x="37350" y="53215"/>
                  <a:pt x="34281" y="51696"/>
                  <a:pt x="31018" y="51696"/>
                </a:cubicBezTo>
                <a:lnTo>
                  <a:pt x="10339" y="51696"/>
                </a:lnTo>
                <a:cubicBezTo>
                  <a:pt x="4620" y="51696"/>
                  <a:pt x="0" y="47076"/>
                  <a:pt x="0" y="41357"/>
                </a:cubicBezTo>
                <a:cubicBezTo>
                  <a:pt x="0" y="35638"/>
                  <a:pt x="4620" y="31018"/>
                  <a:pt x="10339" y="31018"/>
                </a:cubicBezTo>
                <a:lnTo>
                  <a:pt x="31018" y="31018"/>
                </a:lnTo>
                <a:cubicBezTo>
                  <a:pt x="40775" y="31018"/>
                  <a:pt x="49984" y="35606"/>
                  <a:pt x="55832" y="43425"/>
                </a:cubicBezTo>
                <a:lnTo>
                  <a:pt x="105460" y="109596"/>
                </a:lnTo>
                <a:cubicBezTo>
                  <a:pt x="107399" y="112213"/>
                  <a:pt x="110468" y="113731"/>
                  <a:pt x="113731" y="113731"/>
                </a:cubicBezTo>
                <a:lnTo>
                  <a:pt x="124071" y="113731"/>
                </a:lnTo>
                <a:lnTo>
                  <a:pt x="124071" y="103392"/>
                </a:lnTo>
                <a:cubicBezTo>
                  <a:pt x="124071" y="99224"/>
                  <a:pt x="126591" y="95444"/>
                  <a:pt x="130468" y="93828"/>
                </a:cubicBezTo>
                <a:cubicBezTo>
                  <a:pt x="134345" y="92213"/>
                  <a:pt x="138772" y="93118"/>
                  <a:pt x="141744" y="96058"/>
                </a:cubicBezTo>
                <a:lnTo>
                  <a:pt x="162423" y="116736"/>
                </a:lnTo>
                <a:cubicBezTo>
                  <a:pt x="164361" y="118675"/>
                  <a:pt x="165460" y="121292"/>
                  <a:pt x="165460" y="124038"/>
                </a:cubicBezTo>
                <a:cubicBezTo>
                  <a:pt x="165460" y="126785"/>
                  <a:pt x="164361" y="129402"/>
                  <a:pt x="162423" y="131340"/>
                </a:cubicBezTo>
                <a:lnTo>
                  <a:pt x="141744" y="152019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8" name="Text 56"/>
          <p:cNvSpPr/>
          <p:nvPr/>
        </p:nvSpPr>
        <p:spPr>
          <a:xfrm>
            <a:off x="5167952" y="3775055"/>
            <a:ext cx="1488847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Augmentation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671670" y="4221709"/>
            <a:ext cx="7080293" cy="21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2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Applied to normal class images to balance dataset and improve model generalization: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671670" y="4569106"/>
            <a:ext cx="2274627" cy="760966"/>
          </a:xfrm>
          <a:custGeom>
            <a:avLst/>
            <a:gdLst/>
            <a:ahLst/>
            <a:cxnLst/>
            <a:rect l="l" t="t" r="r" b="b"/>
            <a:pathLst>
              <a:path w="2274627" h="760966">
                <a:moveTo>
                  <a:pt x="66174" y="0"/>
                </a:moveTo>
                <a:lnTo>
                  <a:pt x="2208453" y="0"/>
                </a:lnTo>
                <a:cubicBezTo>
                  <a:pt x="2244975" y="0"/>
                  <a:pt x="2274627" y="29651"/>
                  <a:pt x="2274627" y="66174"/>
                </a:cubicBezTo>
                <a:lnTo>
                  <a:pt x="2274627" y="694792"/>
                </a:lnTo>
                <a:cubicBezTo>
                  <a:pt x="2274627" y="731315"/>
                  <a:pt x="2244975" y="760966"/>
                  <a:pt x="2208453" y="760966"/>
                </a:cubicBezTo>
                <a:lnTo>
                  <a:pt x="66174" y="760966"/>
                </a:lnTo>
                <a:cubicBezTo>
                  <a:pt x="29651" y="760966"/>
                  <a:pt x="0" y="731315"/>
                  <a:pt x="0" y="694792"/>
                </a:cubicBezTo>
                <a:lnTo>
                  <a:pt x="0" y="66174"/>
                </a:lnTo>
                <a:cubicBezTo>
                  <a:pt x="0" y="29651"/>
                  <a:pt x="29651" y="0"/>
                  <a:pt x="6617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708590" y="4668363"/>
            <a:ext cx="198513" cy="198513"/>
          </a:xfrm>
          <a:custGeom>
            <a:avLst/>
            <a:gdLst/>
            <a:ahLst/>
            <a:cxnLst/>
            <a:rect l="l" t="t" r="r" b="b"/>
            <a:pathLst>
              <a:path w="198513" h="198513">
                <a:moveTo>
                  <a:pt x="186145" y="74442"/>
                </a:moveTo>
                <a:lnTo>
                  <a:pt x="189208" y="74442"/>
                </a:lnTo>
                <a:cubicBezTo>
                  <a:pt x="194364" y="74442"/>
                  <a:pt x="198513" y="70294"/>
                  <a:pt x="198513" y="65137"/>
                </a:cubicBezTo>
                <a:lnTo>
                  <a:pt x="198513" y="9305"/>
                </a:lnTo>
                <a:cubicBezTo>
                  <a:pt x="198513" y="5544"/>
                  <a:pt x="196264" y="2132"/>
                  <a:pt x="192775" y="698"/>
                </a:cubicBezTo>
                <a:cubicBezTo>
                  <a:pt x="189285" y="-737"/>
                  <a:pt x="185292" y="78"/>
                  <a:pt x="182616" y="2714"/>
                </a:cubicBezTo>
                <a:lnTo>
                  <a:pt x="162571" y="22798"/>
                </a:lnTo>
                <a:cubicBezTo>
                  <a:pt x="145395" y="8569"/>
                  <a:pt x="123295" y="0"/>
                  <a:pt x="99256" y="0"/>
                </a:cubicBezTo>
                <a:cubicBezTo>
                  <a:pt x="49241" y="0"/>
                  <a:pt x="7871" y="36989"/>
                  <a:pt x="1008" y="85105"/>
                </a:cubicBezTo>
                <a:cubicBezTo>
                  <a:pt x="39" y="91890"/>
                  <a:pt x="4730" y="98171"/>
                  <a:pt x="11515" y="99140"/>
                </a:cubicBezTo>
                <a:cubicBezTo>
                  <a:pt x="18300" y="100109"/>
                  <a:pt x="24581" y="95379"/>
                  <a:pt x="25551" y="88633"/>
                </a:cubicBezTo>
                <a:cubicBezTo>
                  <a:pt x="30707" y="52536"/>
                  <a:pt x="61764" y="24814"/>
                  <a:pt x="99256" y="24814"/>
                </a:cubicBezTo>
                <a:cubicBezTo>
                  <a:pt x="116471" y="24814"/>
                  <a:pt x="132290" y="30630"/>
                  <a:pt x="144891" y="40439"/>
                </a:cubicBezTo>
                <a:lnTo>
                  <a:pt x="126785" y="58546"/>
                </a:lnTo>
                <a:cubicBezTo>
                  <a:pt x="124109" y="61221"/>
                  <a:pt x="123334" y="65215"/>
                  <a:pt x="124768" y="68704"/>
                </a:cubicBezTo>
                <a:cubicBezTo>
                  <a:pt x="126203" y="72194"/>
                  <a:pt x="129615" y="74442"/>
                  <a:pt x="133376" y="74442"/>
                </a:cubicBezTo>
                <a:lnTo>
                  <a:pt x="186145" y="74442"/>
                </a:lnTo>
                <a:close/>
                <a:moveTo>
                  <a:pt x="197544" y="113408"/>
                </a:moveTo>
                <a:cubicBezTo>
                  <a:pt x="198513" y="106623"/>
                  <a:pt x="193783" y="100342"/>
                  <a:pt x="187036" y="99373"/>
                </a:cubicBezTo>
                <a:cubicBezTo>
                  <a:pt x="180290" y="98403"/>
                  <a:pt x="173970" y="103134"/>
                  <a:pt x="173001" y="109880"/>
                </a:cubicBezTo>
                <a:cubicBezTo>
                  <a:pt x="167844" y="145938"/>
                  <a:pt x="136788" y="173660"/>
                  <a:pt x="99295" y="173660"/>
                </a:cubicBezTo>
                <a:cubicBezTo>
                  <a:pt x="82080" y="173660"/>
                  <a:pt x="66261" y="167844"/>
                  <a:pt x="53661" y="158035"/>
                </a:cubicBezTo>
                <a:lnTo>
                  <a:pt x="71728" y="139967"/>
                </a:lnTo>
                <a:cubicBezTo>
                  <a:pt x="74404" y="137292"/>
                  <a:pt x="75179" y="133298"/>
                  <a:pt x="73744" y="129809"/>
                </a:cubicBezTo>
                <a:cubicBezTo>
                  <a:pt x="72310" y="126319"/>
                  <a:pt x="68898" y="124071"/>
                  <a:pt x="65137" y="124071"/>
                </a:cubicBezTo>
                <a:lnTo>
                  <a:pt x="9305" y="124071"/>
                </a:lnTo>
                <a:cubicBezTo>
                  <a:pt x="4149" y="124071"/>
                  <a:pt x="0" y="128219"/>
                  <a:pt x="0" y="133376"/>
                </a:cubicBezTo>
                <a:lnTo>
                  <a:pt x="0" y="189208"/>
                </a:lnTo>
                <a:cubicBezTo>
                  <a:pt x="0" y="192968"/>
                  <a:pt x="2249" y="196380"/>
                  <a:pt x="5738" y="197815"/>
                </a:cubicBezTo>
                <a:cubicBezTo>
                  <a:pt x="9228" y="199250"/>
                  <a:pt x="13221" y="198435"/>
                  <a:pt x="15897" y="195799"/>
                </a:cubicBezTo>
                <a:lnTo>
                  <a:pt x="35980" y="175715"/>
                </a:lnTo>
                <a:cubicBezTo>
                  <a:pt x="53118" y="189944"/>
                  <a:pt x="75218" y="198513"/>
                  <a:pt x="99256" y="198513"/>
                </a:cubicBezTo>
                <a:cubicBezTo>
                  <a:pt x="149272" y="198513"/>
                  <a:pt x="190642" y="161524"/>
                  <a:pt x="197505" y="113408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62" name="Text 60"/>
          <p:cNvSpPr/>
          <p:nvPr/>
        </p:nvSpPr>
        <p:spPr>
          <a:xfrm>
            <a:off x="4741977" y="4933047"/>
            <a:ext cx="2134014" cy="16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Rotation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746112" y="5098474"/>
            <a:ext cx="2125742" cy="132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2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±15°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043279" y="4569106"/>
            <a:ext cx="2274627" cy="760966"/>
          </a:xfrm>
          <a:custGeom>
            <a:avLst/>
            <a:gdLst/>
            <a:ahLst/>
            <a:cxnLst/>
            <a:rect l="l" t="t" r="r" b="b"/>
            <a:pathLst>
              <a:path w="2274627" h="760966">
                <a:moveTo>
                  <a:pt x="66174" y="0"/>
                </a:moveTo>
                <a:lnTo>
                  <a:pt x="2208453" y="0"/>
                </a:lnTo>
                <a:cubicBezTo>
                  <a:pt x="2244975" y="0"/>
                  <a:pt x="2274627" y="29651"/>
                  <a:pt x="2274627" y="66174"/>
                </a:cubicBezTo>
                <a:lnTo>
                  <a:pt x="2274627" y="694792"/>
                </a:lnTo>
                <a:cubicBezTo>
                  <a:pt x="2274627" y="731315"/>
                  <a:pt x="2244975" y="760966"/>
                  <a:pt x="2208453" y="760966"/>
                </a:cubicBezTo>
                <a:lnTo>
                  <a:pt x="66174" y="760966"/>
                </a:lnTo>
                <a:cubicBezTo>
                  <a:pt x="29651" y="760966"/>
                  <a:pt x="0" y="731315"/>
                  <a:pt x="0" y="694792"/>
                </a:cubicBezTo>
                <a:lnTo>
                  <a:pt x="0" y="66174"/>
                </a:lnTo>
                <a:cubicBezTo>
                  <a:pt x="0" y="29651"/>
                  <a:pt x="29651" y="0"/>
                  <a:pt x="6617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80198" y="4668363"/>
            <a:ext cx="198513" cy="198513"/>
          </a:xfrm>
          <a:custGeom>
            <a:avLst/>
            <a:gdLst/>
            <a:ahLst/>
            <a:cxnLst/>
            <a:rect l="l" t="t" r="r" b="b"/>
            <a:pathLst>
              <a:path w="198513" h="198513">
                <a:moveTo>
                  <a:pt x="161292" y="80646"/>
                </a:moveTo>
                <a:cubicBezTo>
                  <a:pt x="161292" y="98442"/>
                  <a:pt x="155515" y="114882"/>
                  <a:pt x="145783" y="128219"/>
                </a:cubicBezTo>
                <a:lnTo>
                  <a:pt x="194868" y="177343"/>
                </a:lnTo>
                <a:cubicBezTo>
                  <a:pt x="199715" y="182190"/>
                  <a:pt x="199715" y="190061"/>
                  <a:pt x="194868" y="194907"/>
                </a:cubicBezTo>
                <a:cubicBezTo>
                  <a:pt x="190022" y="199754"/>
                  <a:pt x="182151" y="199754"/>
                  <a:pt x="177305" y="194907"/>
                </a:cubicBezTo>
                <a:lnTo>
                  <a:pt x="128219" y="145783"/>
                </a:lnTo>
                <a:cubicBezTo>
                  <a:pt x="114882" y="155515"/>
                  <a:pt x="98442" y="161292"/>
                  <a:pt x="80646" y="161292"/>
                </a:cubicBezTo>
                <a:cubicBezTo>
                  <a:pt x="36097" y="161292"/>
                  <a:pt x="0" y="125195"/>
                  <a:pt x="0" y="80646"/>
                </a:cubicBezTo>
                <a:cubicBezTo>
                  <a:pt x="0" y="36097"/>
                  <a:pt x="36097" y="0"/>
                  <a:pt x="80646" y="0"/>
                </a:cubicBezTo>
                <a:cubicBezTo>
                  <a:pt x="125195" y="0"/>
                  <a:pt x="161292" y="36097"/>
                  <a:pt x="161292" y="80646"/>
                </a:cubicBezTo>
                <a:close/>
                <a:moveTo>
                  <a:pt x="80646" y="43425"/>
                </a:moveTo>
                <a:cubicBezTo>
                  <a:pt x="75489" y="43425"/>
                  <a:pt x="71341" y="47573"/>
                  <a:pt x="71341" y="52730"/>
                </a:cubicBezTo>
                <a:lnTo>
                  <a:pt x="71341" y="71341"/>
                </a:lnTo>
                <a:lnTo>
                  <a:pt x="52730" y="71341"/>
                </a:lnTo>
                <a:cubicBezTo>
                  <a:pt x="47573" y="71341"/>
                  <a:pt x="43425" y="75489"/>
                  <a:pt x="43425" y="80646"/>
                </a:cubicBezTo>
                <a:cubicBezTo>
                  <a:pt x="43425" y="85803"/>
                  <a:pt x="47573" y="89951"/>
                  <a:pt x="52730" y="89951"/>
                </a:cubicBezTo>
                <a:lnTo>
                  <a:pt x="71341" y="89951"/>
                </a:lnTo>
                <a:lnTo>
                  <a:pt x="71341" y="108562"/>
                </a:lnTo>
                <a:cubicBezTo>
                  <a:pt x="71341" y="113718"/>
                  <a:pt x="75489" y="117867"/>
                  <a:pt x="80646" y="117867"/>
                </a:cubicBezTo>
                <a:cubicBezTo>
                  <a:pt x="85803" y="117867"/>
                  <a:pt x="89951" y="113718"/>
                  <a:pt x="89951" y="108562"/>
                </a:cubicBezTo>
                <a:lnTo>
                  <a:pt x="89951" y="89951"/>
                </a:lnTo>
                <a:lnTo>
                  <a:pt x="108562" y="89951"/>
                </a:lnTo>
                <a:cubicBezTo>
                  <a:pt x="113718" y="89951"/>
                  <a:pt x="117867" y="85803"/>
                  <a:pt x="117867" y="80646"/>
                </a:cubicBezTo>
                <a:cubicBezTo>
                  <a:pt x="117867" y="75489"/>
                  <a:pt x="113718" y="71341"/>
                  <a:pt x="108562" y="71341"/>
                </a:cubicBezTo>
                <a:lnTo>
                  <a:pt x="89951" y="71341"/>
                </a:lnTo>
                <a:lnTo>
                  <a:pt x="89951" y="52730"/>
                </a:lnTo>
                <a:cubicBezTo>
                  <a:pt x="89951" y="47573"/>
                  <a:pt x="85803" y="43425"/>
                  <a:pt x="80646" y="43425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66" name="Text 64"/>
          <p:cNvSpPr/>
          <p:nvPr/>
        </p:nvSpPr>
        <p:spPr>
          <a:xfrm>
            <a:off x="7113586" y="4933047"/>
            <a:ext cx="2134014" cy="16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Zoom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117721" y="5098474"/>
            <a:ext cx="2125742" cy="132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2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0.9-1.1x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414887" y="4569106"/>
            <a:ext cx="2274627" cy="760966"/>
          </a:xfrm>
          <a:custGeom>
            <a:avLst/>
            <a:gdLst/>
            <a:ahLst/>
            <a:cxnLst/>
            <a:rect l="l" t="t" r="r" b="b"/>
            <a:pathLst>
              <a:path w="2274627" h="760966">
                <a:moveTo>
                  <a:pt x="66174" y="0"/>
                </a:moveTo>
                <a:lnTo>
                  <a:pt x="2208453" y="0"/>
                </a:lnTo>
                <a:cubicBezTo>
                  <a:pt x="2244975" y="0"/>
                  <a:pt x="2274627" y="29651"/>
                  <a:pt x="2274627" y="66174"/>
                </a:cubicBezTo>
                <a:lnTo>
                  <a:pt x="2274627" y="694792"/>
                </a:lnTo>
                <a:cubicBezTo>
                  <a:pt x="2274627" y="731315"/>
                  <a:pt x="2244975" y="760966"/>
                  <a:pt x="2208453" y="760966"/>
                </a:cubicBezTo>
                <a:lnTo>
                  <a:pt x="66174" y="760966"/>
                </a:lnTo>
                <a:cubicBezTo>
                  <a:pt x="29651" y="760966"/>
                  <a:pt x="0" y="731315"/>
                  <a:pt x="0" y="694792"/>
                </a:cubicBezTo>
                <a:lnTo>
                  <a:pt x="0" y="66174"/>
                </a:lnTo>
                <a:cubicBezTo>
                  <a:pt x="0" y="29651"/>
                  <a:pt x="29651" y="0"/>
                  <a:pt x="6617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0451807" y="4668363"/>
            <a:ext cx="198513" cy="198513"/>
          </a:xfrm>
          <a:custGeom>
            <a:avLst/>
            <a:gdLst/>
            <a:ahLst/>
            <a:cxnLst/>
            <a:rect l="l" t="t" r="r" b="b"/>
            <a:pathLst>
              <a:path w="198513" h="198513">
                <a:moveTo>
                  <a:pt x="194868" y="157647"/>
                </a:moveTo>
                <a:lnTo>
                  <a:pt x="157647" y="194868"/>
                </a:lnTo>
                <a:cubicBezTo>
                  <a:pt x="154080" y="198435"/>
                  <a:pt x="148768" y="199482"/>
                  <a:pt x="144116" y="197544"/>
                </a:cubicBezTo>
                <a:cubicBezTo>
                  <a:pt x="139463" y="195605"/>
                  <a:pt x="136478" y="191107"/>
                  <a:pt x="136478" y="186106"/>
                </a:cubicBezTo>
                <a:lnTo>
                  <a:pt x="136478" y="161292"/>
                </a:lnTo>
                <a:lnTo>
                  <a:pt x="12407" y="161292"/>
                </a:lnTo>
                <a:cubicBezTo>
                  <a:pt x="5544" y="161292"/>
                  <a:pt x="0" y="155747"/>
                  <a:pt x="0" y="148885"/>
                </a:cubicBezTo>
                <a:cubicBezTo>
                  <a:pt x="0" y="142022"/>
                  <a:pt x="5544" y="136478"/>
                  <a:pt x="12407" y="136478"/>
                </a:cubicBezTo>
                <a:lnTo>
                  <a:pt x="136478" y="136478"/>
                </a:lnTo>
                <a:lnTo>
                  <a:pt x="136478" y="111664"/>
                </a:lnTo>
                <a:cubicBezTo>
                  <a:pt x="136478" y="106662"/>
                  <a:pt x="139502" y="102126"/>
                  <a:pt x="144154" y="100187"/>
                </a:cubicBezTo>
                <a:cubicBezTo>
                  <a:pt x="148807" y="98248"/>
                  <a:pt x="154119" y="99334"/>
                  <a:pt x="157686" y="102862"/>
                </a:cubicBezTo>
                <a:lnTo>
                  <a:pt x="194907" y="140083"/>
                </a:lnTo>
                <a:cubicBezTo>
                  <a:pt x="199754" y="144930"/>
                  <a:pt x="199754" y="152801"/>
                  <a:pt x="194907" y="157647"/>
                </a:cubicBezTo>
                <a:close/>
                <a:moveTo>
                  <a:pt x="3645" y="58391"/>
                </a:moveTo>
                <a:cubicBezTo>
                  <a:pt x="-1202" y="53544"/>
                  <a:pt x="-1202" y="45673"/>
                  <a:pt x="3645" y="40827"/>
                </a:cubicBezTo>
                <a:lnTo>
                  <a:pt x="40866" y="3606"/>
                </a:lnTo>
                <a:cubicBezTo>
                  <a:pt x="44433" y="39"/>
                  <a:pt x="49745" y="-1008"/>
                  <a:pt x="54397" y="931"/>
                </a:cubicBezTo>
                <a:cubicBezTo>
                  <a:pt x="59050" y="2869"/>
                  <a:pt x="62035" y="7405"/>
                  <a:pt x="62035" y="12407"/>
                </a:cubicBezTo>
                <a:lnTo>
                  <a:pt x="62035" y="37221"/>
                </a:lnTo>
                <a:lnTo>
                  <a:pt x="186106" y="37221"/>
                </a:lnTo>
                <a:cubicBezTo>
                  <a:pt x="192968" y="37221"/>
                  <a:pt x="198513" y="42766"/>
                  <a:pt x="198513" y="49628"/>
                </a:cubicBezTo>
                <a:cubicBezTo>
                  <a:pt x="198513" y="56491"/>
                  <a:pt x="192968" y="62035"/>
                  <a:pt x="186106" y="62035"/>
                </a:cubicBezTo>
                <a:lnTo>
                  <a:pt x="62035" y="62035"/>
                </a:lnTo>
                <a:lnTo>
                  <a:pt x="62035" y="86849"/>
                </a:lnTo>
                <a:cubicBezTo>
                  <a:pt x="62035" y="91851"/>
                  <a:pt x="59011" y="96387"/>
                  <a:pt x="54358" y="98326"/>
                </a:cubicBezTo>
                <a:cubicBezTo>
                  <a:pt x="49706" y="100265"/>
                  <a:pt x="44394" y="99179"/>
                  <a:pt x="40827" y="95651"/>
                </a:cubicBezTo>
                <a:lnTo>
                  <a:pt x="3606" y="58429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70" name="Text 68"/>
          <p:cNvSpPr/>
          <p:nvPr/>
        </p:nvSpPr>
        <p:spPr>
          <a:xfrm>
            <a:off x="9485194" y="4933047"/>
            <a:ext cx="2134014" cy="16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Flip H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489330" y="5098474"/>
            <a:ext cx="2125742" cy="132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2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50%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4671670" y="5429226"/>
            <a:ext cx="2274627" cy="760966"/>
          </a:xfrm>
          <a:custGeom>
            <a:avLst/>
            <a:gdLst/>
            <a:ahLst/>
            <a:cxnLst/>
            <a:rect l="l" t="t" r="r" b="b"/>
            <a:pathLst>
              <a:path w="2274627" h="760966">
                <a:moveTo>
                  <a:pt x="66174" y="0"/>
                </a:moveTo>
                <a:lnTo>
                  <a:pt x="2208453" y="0"/>
                </a:lnTo>
                <a:cubicBezTo>
                  <a:pt x="2244975" y="0"/>
                  <a:pt x="2274627" y="29651"/>
                  <a:pt x="2274627" y="66174"/>
                </a:cubicBezTo>
                <a:lnTo>
                  <a:pt x="2274627" y="694792"/>
                </a:lnTo>
                <a:cubicBezTo>
                  <a:pt x="2274627" y="731315"/>
                  <a:pt x="2244975" y="760966"/>
                  <a:pt x="2208453" y="760966"/>
                </a:cubicBezTo>
                <a:lnTo>
                  <a:pt x="66174" y="760966"/>
                </a:lnTo>
                <a:cubicBezTo>
                  <a:pt x="29651" y="760966"/>
                  <a:pt x="0" y="731315"/>
                  <a:pt x="0" y="694792"/>
                </a:cubicBezTo>
                <a:lnTo>
                  <a:pt x="0" y="66174"/>
                </a:lnTo>
                <a:cubicBezTo>
                  <a:pt x="0" y="29651"/>
                  <a:pt x="29651" y="0"/>
                  <a:pt x="6617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5708590" y="5528482"/>
            <a:ext cx="198513" cy="198513"/>
          </a:xfrm>
          <a:custGeom>
            <a:avLst/>
            <a:gdLst/>
            <a:ahLst/>
            <a:cxnLst/>
            <a:rect l="l" t="t" r="r" b="b"/>
            <a:pathLst>
              <a:path w="198513" h="198513">
                <a:moveTo>
                  <a:pt x="157647" y="194868"/>
                </a:moveTo>
                <a:lnTo>
                  <a:pt x="194868" y="157647"/>
                </a:lnTo>
                <a:cubicBezTo>
                  <a:pt x="198435" y="154080"/>
                  <a:pt x="199482" y="148768"/>
                  <a:pt x="197544" y="144116"/>
                </a:cubicBezTo>
                <a:cubicBezTo>
                  <a:pt x="195605" y="139463"/>
                  <a:pt x="191107" y="136478"/>
                  <a:pt x="186106" y="136478"/>
                </a:cubicBezTo>
                <a:lnTo>
                  <a:pt x="161292" y="136478"/>
                </a:lnTo>
                <a:lnTo>
                  <a:pt x="161292" y="12407"/>
                </a:lnTo>
                <a:cubicBezTo>
                  <a:pt x="161292" y="5544"/>
                  <a:pt x="155747" y="0"/>
                  <a:pt x="148885" y="0"/>
                </a:cubicBezTo>
                <a:cubicBezTo>
                  <a:pt x="142022" y="0"/>
                  <a:pt x="136478" y="5544"/>
                  <a:pt x="136478" y="12407"/>
                </a:cubicBezTo>
                <a:lnTo>
                  <a:pt x="136478" y="136478"/>
                </a:lnTo>
                <a:lnTo>
                  <a:pt x="111664" y="136478"/>
                </a:lnTo>
                <a:cubicBezTo>
                  <a:pt x="106662" y="136478"/>
                  <a:pt x="102126" y="139502"/>
                  <a:pt x="100187" y="144154"/>
                </a:cubicBezTo>
                <a:cubicBezTo>
                  <a:pt x="98248" y="148807"/>
                  <a:pt x="99334" y="154119"/>
                  <a:pt x="102862" y="157686"/>
                </a:cubicBezTo>
                <a:lnTo>
                  <a:pt x="140083" y="194907"/>
                </a:lnTo>
                <a:cubicBezTo>
                  <a:pt x="144930" y="199754"/>
                  <a:pt x="152801" y="199754"/>
                  <a:pt x="157647" y="194907"/>
                </a:cubicBezTo>
                <a:close/>
                <a:moveTo>
                  <a:pt x="58391" y="3645"/>
                </a:moveTo>
                <a:cubicBezTo>
                  <a:pt x="53544" y="-1202"/>
                  <a:pt x="45673" y="-1202"/>
                  <a:pt x="40827" y="3645"/>
                </a:cubicBezTo>
                <a:lnTo>
                  <a:pt x="3606" y="40866"/>
                </a:lnTo>
                <a:cubicBezTo>
                  <a:pt x="39" y="44433"/>
                  <a:pt x="-1008" y="49745"/>
                  <a:pt x="931" y="54397"/>
                </a:cubicBezTo>
                <a:cubicBezTo>
                  <a:pt x="2869" y="59050"/>
                  <a:pt x="7405" y="62035"/>
                  <a:pt x="12407" y="62035"/>
                </a:cubicBezTo>
                <a:lnTo>
                  <a:pt x="37221" y="62035"/>
                </a:lnTo>
                <a:lnTo>
                  <a:pt x="37221" y="186106"/>
                </a:lnTo>
                <a:cubicBezTo>
                  <a:pt x="37221" y="192968"/>
                  <a:pt x="42766" y="198513"/>
                  <a:pt x="49628" y="198513"/>
                </a:cubicBezTo>
                <a:cubicBezTo>
                  <a:pt x="56491" y="198513"/>
                  <a:pt x="62035" y="192968"/>
                  <a:pt x="62035" y="186106"/>
                </a:cubicBezTo>
                <a:lnTo>
                  <a:pt x="62035" y="62035"/>
                </a:lnTo>
                <a:lnTo>
                  <a:pt x="86849" y="62035"/>
                </a:lnTo>
                <a:cubicBezTo>
                  <a:pt x="91851" y="62035"/>
                  <a:pt x="96387" y="59011"/>
                  <a:pt x="98326" y="54358"/>
                </a:cubicBezTo>
                <a:cubicBezTo>
                  <a:pt x="100265" y="49706"/>
                  <a:pt x="99179" y="44394"/>
                  <a:pt x="95651" y="40827"/>
                </a:cubicBezTo>
                <a:lnTo>
                  <a:pt x="58429" y="360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74" name="Text 72"/>
          <p:cNvSpPr/>
          <p:nvPr/>
        </p:nvSpPr>
        <p:spPr>
          <a:xfrm>
            <a:off x="4741977" y="5793166"/>
            <a:ext cx="2134014" cy="16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Flip V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4746112" y="5958593"/>
            <a:ext cx="2125742" cy="132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2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7043279" y="5429226"/>
            <a:ext cx="2274627" cy="760966"/>
          </a:xfrm>
          <a:custGeom>
            <a:avLst/>
            <a:gdLst/>
            <a:ahLst/>
            <a:cxnLst/>
            <a:rect l="l" t="t" r="r" b="b"/>
            <a:pathLst>
              <a:path w="2274627" h="760966">
                <a:moveTo>
                  <a:pt x="66174" y="0"/>
                </a:moveTo>
                <a:lnTo>
                  <a:pt x="2208453" y="0"/>
                </a:lnTo>
                <a:cubicBezTo>
                  <a:pt x="2244975" y="0"/>
                  <a:pt x="2274627" y="29651"/>
                  <a:pt x="2274627" y="66174"/>
                </a:cubicBezTo>
                <a:lnTo>
                  <a:pt x="2274627" y="694792"/>
                </a:lnTo>
                <a:cubicBezTo>
                  <a:pt x="2274627" y="731315"/>
                  <a:pt x="2244975" y="760966"/>
                  <a:pt x="2208453" y="760966"/>
                </a:cubicBezTo>
                <a:lnTo>
                  <a:pt x="66174" y="760966"/>
                </a:lnTo>
                <a:cubicBezTo>
                  <a:pt x="29651" y="760966"/>
                  <a:pt x="0" y="731315"/>
                  <a:pt x="0" y="694792"/>
                </a:cubicBezTo>
                <a:lnTo>
                  <a:pt x="0" y="66174"/>
                </a:lnTo>
                <a:cubicBezTo>
                  <a:pt x="0" y="29651"/>
                  <a:pt x="29651" y="0"/>
                  <a:pt x="6617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8080198" y="5528482"/>
            <a:ext cx="198513" cy="198513"/>
          </a:xfrm>
          <a:custGeom>
            <a:avLst/>
            <a:gdLst/>
            <a:ahLst/>
            <a:cxnLst/>
            <a:rect l="l" t="t" r="r" b="b"/>
            <a:pathLst>
              <a:path w="198513" h="198513">
                <a:moveTo>
                  <a:pt x="24814" y="37221"/>
                </a:moveTo>
                <a:cubicBezTo>
                  <a:pt x="24814" y="30359"/>
                  <a:pt x="30359" y="24814"/>
                  <a:pt x="37221" y="24814"/>
                </a:cubicBezTo>
                <a:lnTo>
                  <a:pt x="99256" y="24814"/>
                </a:lnTo>
                <a:cubicBezTo>
                  <a:pt x="106119" y="24814"/>
                  <a:pt x="111664" y="30359"/>
                  <a:pt x="111664" y="37221"/>
                </a:cubicBezTo>
                <a:lnTo>
                  <a:pt x="111664" y="148885"/>
                </a:lnTo>
                <a:lnTo>
                  <a:pt x="148885" y="148885"/>
                </a:lnTo>
                <a:lnTo>
                  <a:pt x="148885" y="99256"/>
                </a:lnTo>
                <a:cubicBezTo>
                  <a:pt x="148885" y="92394"/>
                  <a:pt x="154429" y="86849"/>
                  <a:pt x="161292" y="86849"/>
                </a:cubicBezTo>
                <a:lnTo>
                  <a:pt x="186106" y="86849"/>
                </a:lnTo>
                <a:cubicBezTo>
                  <a:pt x="192968" y="86849"/>
                  <a:pt x="198513" y="92394"/>
                  <a:pt x="198513" y="99256"/>
                </a:cubicBezTo>
                <a:cubicBezTo>
                  <a:pt x="198513" y="106119"/>
                  <a:pt x="192968" y="111664"/>
                  <a:pt x="186106" y="111664"/>
                </a:cubicBezTo>
                <a:lnTo>
                  <a:pt x="173699" y="111664"/>
                </a:lnTo>
                <a:lnTo>
                  <a:pt x="173699" y="161292"/>
                </a:lnTo>
                <a:cubicBezTo>
                  <a:pt x="173699" y="168154"/>
                  <a:pt x="168154" y="173699"/>
                  <a:pt x="161292" y="173699"/>
                </a:cubicBezTo>
                <a:lnTo>
                  <a:pt x="99256" y="173699"/>
                </a:lnTo>
                <a:cubicBezTo>
                  <a:pt x="92394" y="173699"/>
                  <a:pt x="86849" y="168154"/>
                  <a:pt x="86849" y="161292"/>
                </a:cubicBezTo>
                <a:lnTo>
                  <a:pt x="86849" y="49628"/>
                </a:lnTo>
                <a:lnTo>
                  <a:pt x="49628" y="49628"/>
                </a:lnTo>
                <a:lnTo>
                  <a:pt x="49628" y="99256"/>
                </a:lnTo>
                <a:cubicBezTo>
                  <a:pt x="49628" y="106119"/>
                  <a:pt x="44084" y="111664"/>
                  <a:pt x="37221" y="111664"/>
                </a:cubicBezTo>
                <a:lnTo>
                  <a:pt x="12407" y="111664"/>
                </a:lnTo>
                <a:cubicBezTo>
                  <a:pt x="5544" y="111664"/>
                  <a:pt x="0" y="106119"/>
                  <a:pt x="0" y="99256"/>
                </a:cubicBezTo>
                <a:cubicBezTo>
                  <a:pt x="0" y="92394"/>
                  <a:pt x="5544" y="86849"/>
                  <a:pt x="12407" y="86849"/>
                </a:cubicBezTo>
                <a:lnTo>
                  <a:pt x="24814" y="86849"/>
                </a:lnTo>
                <a:lnTo>
                  <a:pt x="24814" y="37221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78" name="Text 76"/>
          <p:cNvSpPr/>
          <p:nvPr/>
        </p:nvSpPr>
        <p:spPr>
          <a:xfrm>
            <a:off x="7113586" y="5793166"/>
            <a:ext cx="2134014" cy="16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Shear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7117721" y="5958593"/>
            <a:ext cx="2125742" cy="132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2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±10°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414887" y="5429226"/>
            <a:ext cx="2274627" cy="760966"/>
          </a:xfrm>
          <a:custGeom>
            <a:avLst/>
            <a:gdLst/>
            <a:ahLst/>
            <a:cxnLst/>
            <a:rect l="l" t="t" r="r" b="b"/>
            <a:pathLst>
              <a:path w="2274627" h="760966">
                <a:moveTo>
                  <a:pt x="66174" y="0"/>
                </a:moveTo>
                <a:lnTo>
                  <a:pt x="2208453" y="0"/>
                </a:lnTo>
                <a:cubicBezTo>
                  <a:pt x="2244975" y="0"/>
                  <a:pt x="2274627" y="29651"/>
                  <a:pt x="2274627" y="66174"/>
                </a:cubicBezTo>
                <a:lnTo>
                  <a:pt x="2274627" y="694792"/>
                </a:lnTo>
                <a:cubicBezTo>
                  <a:pt x="2274627" y="731315"/>
                  <a:pt x="2244975" y="760966"/>
                  <a:pt x="2208453" y="760966"/>
                </a:cubicBezTo>
                <a:lnTo>
                  <a:pt x="66174" y="760966"/>
                </a:lnTo>
                <a:cubicBezTo>
                  <a:pt x="29651" y="760966"/>
                  <a:pt x="0" y="731315"/>
                  <a:pt x="0" y="694792"/>
                </a:cubicBezTo>
                <a:lnTo>
                  <a:pt x="0" y="66174"/>
                </a:lnTo>
                <a:cubicBezTo>
                  <a:pt x="0" y="29651"/>
                  <a:pt x="29651" y="0"/>
                  <a:pt x="6617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10451807" y="5528482"/>
            <a:ext cx="198513" cy="198513"/>
          </a:xfrm>
          <a:custGeom>
            <a:avLst/>
            <a:gdLst/>
            <a:ahLst/>
            <a:cxnLst/>
            <a:rect l="l" t="t" r="r" b="b"/>
            <a:pathLst>
              <a:path w="198513" h="198513">
                <a:moveTo>
                  <a:pt x="173699" y="99256"/>
                </a:moveTo>
                <a:cubicBezTo>
                  <a:pt x="173699" y="58158"/>
                  <a:pt x="140355" y="24814"/>
                  <a:pt x="99256" y="24814"/>
                </a:cubicBezTo>
                <a:lnTo>
                  <a:pt x="99256" y="173699"/>
                </a:lnTo>
                <a:cubicBezTo>
                  <a:pt x="140355" y="173699"/>
                  <a:pt x="173699" y="140355"/>
                  <a:pt x="173699" y="99256"/>
                </a:cubicBezTo>
                <a:close/>
                <a:moveTo>
                  <a:pt x="0" y="99256"/>
                </a:moveTo>
                <a:cubicBezTo>
                  <a:pt x="0" y="44475"/>
                  <a:pt x="44475" y="0"/>
                  <a:pt x="99256" y="0"/>
                </a:cubicBezTo>
                <a:cubicBezTo>
                  <a:pt x="154038" y="0"/>
                  <a:pt x="198513" y="44475"/>
                  <a:pt x="198513" y="99256"/>
                </a:cubicBezTo>
                <a:cubicBezTo>
                  <a:pt x="198513" y="154038"/>
                  <a:pt x="154038" y="198513"/>
                  <a:pt x="99256" y="198513"/>
                </a:cubicBezTo>
                <a:cubicBezTo>
                  <a:pt x="44475" y="198513"/>
                  <a:pt x="0" y="154038"/>
                  <a:pt x="0" y="99256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82" name="Text 80"/>
          <p:cNvSpPr/>
          <p:nvPr/>
        </p:nvSpPr>
        <p:spPr>
          <a:xfrm>
            <a:off x="9485194" y="5793166"/>
            <a:ext cx="2134014" cy="16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Brightness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9489330" y="5958593"/>
            <a:ext cx="2125742" cy="132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2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±20%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2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81002"/>
            <a:ext cx="421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609602"/>
            <a:ext cx="436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99212"/>
            <a:ext cx="11418570" cy="3598545"/>
          </a:xfrm>
          <a:custGeom>
            <a:avLst/>
            <a:gdLst/>
            <a:ahLst/>
            <a:cxnLst/>
            <a:rect l="l" t="t" r="r" b="b"/>
            <a:pathLst>
              <a:path w="11418570" h="3598545">
                <a:moveTo>
                  <a:pt x="114290" y="0"/>
                </a:moveTo>
                <a:lnTo>
                  <a:pt x="11304280" y="0"/>
                </a:lnTo>
                <a:cubicBezTo>
                  <a:pt x="11367401" y="0"/>
                  <a:pt x="11418570" y="51169"/>
                  <a:pt x="11418570" y="114290"/>
                </a:cubicBezTo>
                <a:lnTo>
                  <a:pt x="11418570" y="3484255"/>
                </a:lnTo>
                <a:cubicBezTo>
                  <a:pt x="11418570" y="3547376"/>
                  <a:pt x="11367401" y="3598545"/>
                  <a:pt x="11304280" y="3598545"/>
                </a:cubicBezTo>
                <a:lnTo>
                  <a:pt x="114290" y="3598545"/>
                </a:lnTo>
                <a:cubicBezTo>
                  <a:pt x="51169" y="3598545"/>
                  <a:pt x="0" y="3547376"/>
                  <a:pt x="0" y="3484255"/>
                </a:cubicBezTo>
                <a:lnTo>
                  <a:pt x="0" y="114290"/>
                </a:lnTo>
                <a:cubicBezTo>
                  <a:pt x="0" y="51169"/>
                  <a:pt x="51169" y="0"/>
                  <a:pt x="11429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5399" y="2030730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cubicBezTo>
                  <a:pt x="561716" y="0"/>
                  <a:pt x="723900" y="162184"/>
                  <a:pt x="723900" y="361950"/>
                </a:cubicBezTo>
                <a:lnTo>
                  <a:pt x="723900" y="361950"/>
                </a:lnTo>
                <a:cubicBezTo>
                  <a:pt x="723900" y="561716"/>
                  <a:pt x="561716" y="723900"/>
                  <a:pt x="361950" y="723900"/>
                </a:cubicBezTo>
                <a:lnTo>
                  <a:pt x="361950" y="723900"/>
                </a:lnTo>
                <a:cubicBezTo>
                  <a:pt x="162184" y="723900"/>
                  <a:pt x="0" y="561716"/>
                  <a:pt x="0" y="361950"/>
                </a:cubicBezTo>
                <a:lnTo>
                  <a:pt x="0" y="361950"/>
                </a:lnTo>
                <a:cubicBezTo>
                  <a:pt x="0" y="162184"/>
                  <a:pt x="162184" y="0"/>
                  <a:pt x="361950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 w="50800">
            <a:solidFill>
              <a:srgbClr val="3182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6855" y="224980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35719"/>
                </a:moveTo>
                <a:cubicBezTo>
                  <a:pt x="0" y="25840"/>
                  <a:pt x="7981" y="17859"/>
                  <a:pt x="17859" y="17859"/>
                </a:cubicBezTo>
                <a:lnTo>
                  <a:pt x="267891" y="17859"/>
                </a:lnTo>
                <a:cubicBezTo>
                  <a:pt x="277769" y="17859"/>
                  <a:pt x="285750" y="25840"/>
                  <a:pt x="285750" y="35719"/>
                </a:cubicBezTo>
                <a:cubicBezTo>
                  <a:pt x="285750" y="45597"/>
                  <a:pt x="277769" y="53578"/>
                  <a:pt x="267891" y="53578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cubicBezTo>
                  <a:pt x="0" y="240153"/>
                  <a:pt x="7981" y="232172"/>
                  <a:pt x="17859" y="232172"/>
                </a:cubicBezTo>
                <a:lnTo>
                  <a:pt x="17859" y="53578"/>
                </a:lnTo>
                <a:cubicBezTo>
                  <a:pt x="7981" y="53578"/>
                  <a:pt x="0" y="45597"/>
                  <a:pt x="0" y="35719"/>
                </a:cubicBezTo>
                <a:close/>
                <a:moveTo>
                  <a:pt x="156270" y="66973"/>
                </a:moveTo>
                <a:cubicBezTo>
                  <a:pt x="156270" y="59550"/>
                  <a:pt x="150298" y="53578"/>
                  <a:pt x="142875" y="53578"/>
                </a:cubicBezTo>
                <a:cubicBezTo>
                  <a:pt x="135452" y="53578"/>
                  <a:pt x="129480" y="59550"/>
                  <a:pt x="129480" y="66973"/>
                </a:cubicBezTo>
                <a:lnTo>
                  <a:pt x="129480" y="75902"/>
                </a:lnTo>
                <a:lnTo>
                  <a:pt x="93762" y="75902"/>
                </a:lnTo>
                <a:cubicBezTo>
                  <a:pt x="86339" y="75902"/>
                  <a:pt x="80367" y="81874"/>
                  <a:pt x="80367" y="89297"/>
                </a:cubicBezTo>
                <a:cubicBezTo>
                  <a:pt x="80367" y="96720"/>
                  <a:pt x="86339" y="102691"/>
                  <a:pt x="93762" y="102691"/>
                </a:cubicBezTo>
                <a:lnTo>
                  <a:pt x="129480" y="102691"/>
                </a:lnTo>
                <a:lnTo>
                  <a:pt x="129480" y="129480"/>
                </a:lnTo>
                <a:lnTo>
                  <a:pt x="84832" y="129480"/>
                </a:lnTo>
                <a:cubicBezTo>
                  <a:pt x="77409" y="129480"/>
                  <a:pt x="71438" y="135452"/>
                  <a:pt x="71438" y="142875"/>
                </a:cubicBezTo>
                <a:cubicBezTo>
                  <a:pt x="71438" y="150298"/>
                  <a:pt x="77409" y="156270"/>
                  <a:pt x="84832" y="156270"/>
                </a:cubicBezTo>
                <a:lnTo>
                  <a:pt x="129480" y="156270"/>
                </a:lnTo>
                <a:lnTo>
                  <a:pt x="129480" y="183059"/>
                </a:lnTo>
                <a:lnTo>
                  <a:pt x="93762" y="183059"/>
                </a:lnTo>
                <a:cubicBezTo>
                  <a:pt x="86339" y="183059"/>
                  <a:pt x="80367" y="189030"/>
                  <a:pt x="80367" y="196453"/>
                </a:cubicBezTo>
                <a:cubicBezTo>
                  <a:pt x="80367" y="203876"/>
                  <a:pt x="86339" y="209848"/>
                  <a:pt x="93762" y="209848"/>
                </a:cubicBezTo>
                <a:lnTo>
                  <a:pt x="129480" y="209848"/>
                </a:lnTo>
                <a:lnTo>
                  <a:pt x="129480" y="218777"/>
                </a:lnTo>
                <a:cubicBezTo>
                  <a:pt x="129480" y="226200"/>
                  <a:pt x="135452" y="232172"/>
                  <a:pt x="142875" y="232172"/>
                </a:cubicBezTo>
                <a:cubicBezTo>
                  <a:pt x="150298" y="232172"/>
                  <a:pt x="156270" y="226200"/>
                  <a:pt x="156270" y="218777"/>
                </a:cubicBezTo>
                <a:lnTo>
                  <a:pt x="156270" y="209848"/>
                </a:lnTo>
                <a:lnTo>
                  <a:pt x="191988" y="209848"/>
                </a:lnTo>
                <a:cubicBezTo>
                  <a:pt x="199411" y="209848"/>
                  <a:pt x="205383" y="203876"/>
                  <a:pt x="205383" y="196453"/>
                </a:cubicBezTo>
                <a:cubicBezTo>
                  <a:pt x="205383" y="189030"/>
                  <a:pt x="199411" y="183059"/>
                  <a:pt x="191988" y="183059"/>
                </a:cubicBezTo>
                <a:lnTo>
                  <a:pt x="156270" y="183059"/>
                </a:lnTo>
                <a:lnTo>
                  <a:pt x="156270" y="156270"/>
                </a:lnTo>
                <a:lnTo>
                  <a:pt x="200918" y="156270"/>
                </a:lnTo>
                <a:cubicBezTo>
                  <a:pt x="208341" y="156270"/>
                  <a:pt x="214313" y="150298"/>
                  <a:pt x="214313" y="142875"/>
                </a:cubicBezTo>
                <a:cubicBezTo>
                  <a:pt x="214313" y="135452"/>
                  <a:pt x="208341" y="129480"/>
                  <a:pt x="200918" y="129480"/>
                </a:cubicBezTo>
                <a:lnTo>
                  <a:pt x="156270" y="129480"/>
                </a:lnTo>
                <a:lnTo>
                  <a:pt x="156270" y="102691"/>
                </a:lnTo>
                <a:lnTo>
                  <a:pt x="191988" y="102691"/>
                </a:lnTo>
                <a:cubicBezTo>
                  <a:pt x="199411" y="102691"/>
                  <a:pt x="205383" y="96720"/>
                  <a:pt x="205383" y="89297"/>
                </a:cubicBezTo>
                <a:cubicBezTo>
                  <a:pt x="205383" y="81874"/>
                  <a:pt x="199411" y="75902"/>
                  <a:pt x="191988" y="75902"/>
                </a:cubicBezTo>
                <a:lnTo>
                  <a:pt x="156270" y="75902"/>
                </a:lnTo>
                <a:lnTo>
                  <a:pt x="156270" y="66973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1181338" y="292608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X-ray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326898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chest X-ray image from patient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1515" y="3840480"/>
            <a:ext cx="1914525" cy="342900"/>
          </a:xfrm>
          <a:custGeom>
            <a:avLst/>
            <a:gdLst/>
            <a:ahLst/>
            <a:cxnLst/>
            <a:rect l="l" t="t" r="r" b="b"/>
            <a:pathLst>
              <a:path w="1914525" h="342900">
                <a:moveTo>
                  <a:pt x="76199" y="0"/>
                </a:moveTo>
                <a:lnTo>
                  <a:pt x="1838326" y="0"/>
                </a:lnTo>
                <a:cubicBezTo>
                  <a:pt x="1880409" y="0"/>
                  <a:pt x="1914525" y="34116"/>
                  <a:pt x="1914525" y="76199"/>
                </a:cubicBezTo>
                <a:lnTo>
                  <a:pt x="1914525" y="266701"/>
                </a:lnTo>
                <a:cubicBezTo>
                  <a:pt x="1914525" y="308784"/>
                  <a:pt x="1880409" y="342900"/>
                  <a:pt x="18383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43915" y="391668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Format: JPEG/PNG/DICOM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81444" y="278320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3" name="Shape 11"/>
          <p:cNvSpPr/>
          <p:nvPr/>
        </p:nvSpPr>
        <p:spPr>
          <a:xfrm>
            <a:off x="2829997" y="3145155"/>
            <a:ext cx="581025" cy="266700"/>
          </a:xfrm>
          <a:custGeom>
            <a:avLst/>
            <a:gdLst/>
            <a:ahLst/>
            <a:cxnLst/>
            <a:rect l="l" t="t" r="r" b="b"/>
            <a:pathLst>
              <a:path w="581025" h="266700">
                <a:moveTo>
                  <a:pt x="133350" y="0"/>
                </a:moveTo>
                <a:lnTo>
                  <a:pt x="447675" y="0"/>
                </a:lnTo>
                <a:cubicBezTo>
                  <a:pt x="521273" y="0"/>
                  <a:pt x="581025" y="59752"/>
                  <a:pt x="581025" y="133350"/>
                </a:cubicBezTo>
                <a:lnTo>
                  <a:pt x="581025" y="133350"/>
                </a:lnTo>
                <a:cubicBezTo>
                  <a:pt x="581025" y="206948"/>
                  <a:pt x="521273" y="266700"/>
                  <a:pt x="4476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944297" y="3183255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34696" y="1764030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cubicBezTo>
                  <a:pt x="561716" y="0"/>
                  <a:pt x="723900" y="162184"/>
                  <a:pt x="723900" y="361950"/>
                </a:cubicBezTo>
                <a:lnTo>
                  <a:pt x="723900" y="361950"/>
                </a:lnTo>
                <a:cubicBezTo>
                  <a:pt x="723900" y="561716"/>
                  <a:pt x="561716" y="723900"/>
                  <a:pt x="361950" y="723900"/>
                </a:cubicBezTo>
                <a:lnTo>
                  <a:pt x="361950" y="723900"/>
                </a:lnTo>
                <a:cubicBezTo>
                  <a:pt x="162184" y="723900"/>
                  <a:pt x="0" y="561716"/>
                  <a:pt x="0" y="361950"/>
                </a:cubicBezTo>
                <a:lnTo>
                  <a:pt x="0" y="361950"/>
                </a:lnTo>
                <a:cubicBezTo>
                  <a:pt x="0" y="162184"/>
                  <a:pt x="162184" y="0"/>
                  <a:pt x="36195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 w="50800">
            <a:solidFill>
              <a:srgbClr val="38B2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20433" y="198310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7" name="Text 15"/>
          <p:cNvSpPr/>
          <p:nvPr/>
        </p:nvSpPr>
        <p:spPr>
          <a:xfrm>
            <a:off x="3989784" y="2659380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28298" y="300228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standardization &amp; enhancement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51922" y="3573780"/>
            <a:ext cx="1285875" cy="266700"/>
          </a:xfrm>
          <a:custGeom>
            <a:avLst/>
            <a:gdLst/>
            <a:ahLst/>
            <a:cxnLst/>
            <a:rect l="l" t="t" r="r" b="b"/>
            <a:pathLst>
              <a:path w="1285875" h="266700">
                <a:moveTo>
                  <a:pt x="38101" y="0"/>
                </a:moveTo>
                <a:lnTo>
                  <a:pt x="1247774" y="0"/>
                </a:lnTo>
                <a:cubicBezTo>
                  <a:pt x="1268817" y="0"/>
                  <a:pt x="1285875" y="17058"/>
                  <a:pt x="1285875" y="38101"/>
                </a:cubicBezTo>
                <a:lnTo>
                  <a:pt x="1285875" y="228599"/>
                </a:lnTo>
                <a:cubicBezTo>
                  <a:pt x="1285875" y="249642"/>
                  <a:pt x="1268817" y="266700"/>
                  <a:pt x="12477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951922" y="3573780"/>
            <a:ext cx="13525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Resize to 150×150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51922" y="3878580"/>
            <a:ext cx="1285875" cy="266700"/>
          </a:xfrm>
          <a:custGeom>
            <a:avLst/>
            <a:gdLst/>
            <a:ahLst/>
            <a:cxnLst/>
            <a:rect l="l" t="t" r="r" b="b"/>
            <a:pathLst>
              <a:path w="1285875" h="266700">
                <a:moveTo>
                  <a:pt x="38101" y="0"/>
                </a:moveTo>
                <a:lnTo>
                  <a:pt x="1247774" y="0"/>
                </a:lnTo>
                <a:cubicBezTo>
                  <a:pt x="1268817" y="0"/>
                  <a:pt x="1285875" y="17058"/>
                  <a:pt x="1285875" y="38101"/>
                </a:cubicBezTo>
                <a:lnTo>
                  <a:pt x="1285875" y="228599"/>
                </a:lnTo>
                <a:cubicBezTo>
                  <a:pt x="1285875" y="249642"/>
                  <a:pt x="1268817" y="266700"/>
                  <a:pt x="12477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951922" y="3878580"/>
            <a:ext cx="13525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 pixels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951922" y="4183380"/>
            <a:ext cx="1285875" cy="266700"/>
          </a:xfrm>
          <a:custGeom>
            <a:avLst/>
            <a:gdLst/>
            <a:ahLst/>
            <a:cxnLst/>
            <a:rect l="l" t="t" r="r" b="b"/>
            <a:pathLst>
              <a:path w="1285875" h="266700">
                <a:moveTo>
                  <a:pt x="38101" y="0"/>
                </a:moveTo>
                <a:lnTo>
                  <a:pt x="1247774" y="0"/>
                </a:lnTo>
                <a:cubicBezTo>
                  <a:pt x="1268817" y="0"/>
                  <a:pt x="1285875" y="17058"/>
                  <a:pt x="1285875" y="38101"/>
                </a:cubicBezTo>
                <a:lnTo>
                  <a:pt x="1285875" y="228599"/>
                </a:lnTo>
                <a:cubicBezTo>
                  <a:pt x="1285875" y="249642"/>
                  <a:pt x="1268817" y="266700"/>
                  <a:pt x="12477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951922" y="4183380"/>
            <a:ext cx="13525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 contrast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2886" y="278320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6" name="Shape 24"/>
          <p:cNvSpPr/>
          <p:nvPr/>
        </p:nvSpPr>
        <p:spPr>
          <a:xfrm>
            <a:off x="5779294" y="3145155"/>
            <a:ext cx="609600" cy="266700"/>
          </a:xfrm>
          <a:custGeom>
            <a:avLst/>
            <a:gdLst/>
            <a:ahLst/>
            <a:cxnLst/>
            <a:rect l="l" t="t" r="r" b="b"/>
            <a:pathLst>
              <a:path w="609600" h="266700">
                <a:moveTo>
                  <a:pt x="133350" y="0"/>
                </a:moveTo>
                <a:lnTo>
                  <a:pt x="476250" y="0"/>
                </a:lnTo>
                <a:cubicBezTo>
                  <a:pt x="549848" y="0"/>
                  <a:pt x="609600" y="59752"/>
                  <a:pt x="609600" y="133350"/>
                </a:cubicBezTo>
                <a:lnTo>
                  <a:pt x="609600" y="133350"/>
                </a:lnTo>
                <a:cubicBezTo>
                  <a:pt x="609600" y="206948"/>
                  <a:pt x="549848" y="266700"/>
                  <a:pt x="4762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893594" y="3183255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08044" y="1878330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cubicBezTo>
                  <a:pt x="561716" y="0"/>
                  <a:pt x="723900" y="162184"/>
                  <a:pt x="723900" y="361950"/>
                </a:cubicBezTo>
                <a:lnTo>
                  <a:pt x="723900" y="361950"/>
                </a:lnTo>
                <a:cubicBezTo>
                  <a:pt x="723900" y="561716"/>
                  <a:pt x="561716" y="723900"/>
                  <a:pt x="361950" y="723900"/>
                </a:cubicBezTo>
                <a:lnTo>
                  <a:pt x="361950" y="723900"/>
                </a:lnTo>
                <a:cubicBezTo>
                  <a:pt x="162184" y="723900"/>
                  <a:pt x="0" y="561716"/>
                  <a:pt x="0" y="361950"/>
                </a:cubicBezTo>
                <a:lnTo>
                  <a:pt x="0" y="361950"/>
                </a:lnTo>
                <a:cubicBezTo>
                  <a:pt x="0" y="162184"/>
                  <a:pt x="162184" y="0"/>
                  <a:pt x="361950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 w="50800">
            <a:solidFill>
              <a:srgbClr val="3182C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29500" y="209740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597" y="2773680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 Model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44521" y="3116580"/>
            <a:ext cx="184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CNN with transfer learning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93243" y="3459480"/>
            <a:ext cx="1352550" cy="266700"/>
          </a:xfrm>
          <a:custGeom>
            <a:avLst/>
            <a:gdLst/>
            <a:ahLst/>
            <a:cxnLst/>
            <a:rect l="l" t="t" r="r" b="b"/>
            <a:pathLst>
              <a:path w="1352550" h="266700">
                <a:moveTo>
                  <a:pt x="38101" y="0"/>
                </a:moveTo>
                <a:lnTo>
                  <a:pt x="1314449" y="0"/>
                </a:lnTo>
                <a:cubicBezTo>
                  <a:pt x="1335492" y="0"/>
                  <a:pt x="1352550" y="17058"/>
                  <a:pt x="1352550" y="38101"/>
                </a:cubicBezTo>
                <a:lnTo>
                  <a:pt x="1352550" y="228599"/>
                </a:lnTo>
                <a:cubicBezTo>
                  <a:pt x="1352550" y="249642"/>
                  <a:pt x="1335492" y="266700"/>
                  <a:pt x="13144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893243" y="3459480"/>
            <a:ext cx="14192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93243" y="3764280"/>
            <a:ext cx="1352550" cy="266700"/>
          </a:xfrm>
          <a:custGeom>
            <a:avLst/>
            <a:gdLst/>
            <a:ahLst/>
            <a:cxnLst/>
            <a:rect l="l" t="t" r="r" b="b"/>
            <a:pathLst>
              <a:path w="1352550" h="266700">
                <a:moveTo>
                  <a:pt x="38101" y="0"/>
                </a:moveTo>
                <a:lnTo>
                  <a:pt x="1314449" y="0"/>
                </a:lnTo>
                <a:cubicBezTo>
                  <a:pt x="1335492" y="0"/>
                  <a:pt x="1352550" y="17058"/>
                  <a:pt x="1352550" y="38101"/>
                </a:cubicBezTo>
                <a:lnTo>
                  <a:pt x="1352550" y="228599"/>
                </a:lnTo>
                <a:cubicBezTo>
                  <a:pt x="1352550" y="249642"/>
                  <a:pt x="1335492" y="266700"/>
                  <a:pt x="13144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893243" y="3764280"/>
            <a:ext cx="14192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recognition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93243" y="4069080"/>
            <a:ext cx="1352550" cy="266700"/>
          </a:xfrm>
          <a:custGeom>
            <a:avLst/>
            <a:gdLst/>
            <a:ahLst/>
            <a:cxnLst/>
            <a:rect l="l" t="t" r="r" b="b"/>
            <a:pathLst>
              <a:path w="1352550" h="266700">
                <a:moveTo>
                  <a:pt x="38101" y="0"/>
                </a:moveTo>
                <a:lnTo>
                  <a:pt x="1314449" y="0"/>
                </a:lnTo>
                <a:cubicBezTo>
                  <a:pt x="1335492" y="0"/>
                  <a:pt x="1352550" y="17058"/>
                  <a:pt x="1352550" y="38101"/>
                </a:cubicBezTo>
                <a:lnTo>
                  <a:pt x="1352550" y="228599"/>
                </a:lnTo>
                <a:cubicBezTo>
                  <a:pt x="1352550" y="249642"/>
                  <a:pt x="1335492" y="266700"/>
                  <a:pt x="13144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893243" y="4069080"/>
            <a:ext cx="14192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916829" y="278320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9" name="Shape 37"/>
          <p:cNvSpPr/>
          <p:nvPr/>
        </p:nvSpPr>
        <p:spPr>
          <a:xfrm>
            <a:off x="8752642" y="3145155"/>
            <a:ext cx="609600" cy="266700"/>
          </a:xfrm>
          <a:custGeom>
            <a:avLst/>
            <a:gdLst/>
            <a:ahLst/>
            <a:cxnLst/>
            <a:rect l="l" t="t" r="r" b="b"/>
            <a:pathLst>
              <a:path w="609600" h="266700">
                <a:moveTo>
                  <a:pt x="133350" y="0"/>
                </a:moveTo>
                <a:lnTo>
                  <a:pt x="476250" y="0"/>
                </a:lnTo>
                <a:cubicBezTo>
                  <a:pt x="549848" y="0"/>
                  <a:pt x="609600" y="59752"/>
                  <a:pt x="609600" y="133350"/>
                </a:cubicBezTo>
                <a:lnTo>
                  <a:pt x="609600" y="133350"/>
                </a:lnTo>
                <a:cubicBezTo>
                  <a:pt x="609600" y="206948"/>
                  <a:pt x="549848" y="266700"/>
                  <a:pt x="4762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866942" y="3183255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182582" y="1764030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cubicBezTo>
                  <a:pt x="561716" y="0"/>
                  <a:pt x="723900" y="162184"/>
                  <a:pt x="723900" y="361950"/>
                </a:cubicBezTo>
                <a:lnTo>
                  <a:pt x="723900" y="361950"/>
                </a:lnTo>
                <a:cubicBezTo>
                  <a:pt x="723900" y="561716"/>
                  <a:pt x="561716" y="723900"/>
                  <a:pt x="361950" y="723900"/>
                </a:cubicBezTo>
                <a:lnTo>
                  <a:pt x="361950" y="723900"/>
                </a:lnTo>
                <a:cubicBezTo>
                  <a:pt x="162184" y="723900"/>
                  <a:pt x="0" y="561716"/>
                  <a:pt x="0" y="361950"/>
                </a:cubicBezTo>
                <a:lnTo>
                  <a:pt x="0" y="361950"/>
                </a:lnTo>
                <a:cubicBezTo>
                  <a:pt x="0" y="162184"/>
                  <a:pt x="162184" y="0"/>
                  <a:pt x="36195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 w="50800">
            <a:solidFill>
              <a:srgbClr val="38B2A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439757" y="198310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73794" y="17859"/>
                </a:moveTo>
                <a:lnTo>
                  <a:pt x="178594" y="17859"/>
                </a:lnTo>
                <a:cubicBezTo>
                  <a:pt x="198295" y="17859"/>
                  <a:pt x="214313" y="33877"/>
                  <a:pt x="214313" y="53578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53578"/>
                </a:lnTo>
                <a:cubicBezTo>
                  <a:pt x="0" y="33877"/>
                  <a:pt x="16018" y="17859"/>
                  <a:pt x="35719" y="17859"/>
                </a:cubicBezTo>
                <a:lnTo>
                  <a:pt x="40518" y="17859"/>
                </a:lnTo>
                <a:cubicBezTo>
                  <a:pt x="46658" y="7200"/>
                  <a:pt x="58210" y="0"/>
                  <a:pt x="71438" y="0"/>
                </a:cubicBezTo>
                <a:lnTo>
                  <a:pt x="142875" y="0"/>
                </a:lnTo>
                <a:cubicBezTo>
                  <a:pt x="156102" y="0"/>
                  <a:pt x="167655" y="7200"/>
                  <a:pt x="173794" y="17859"/>
                </a:cubicBezTo>
                <a:close/>
                <a:moveTo>
                  <a:pt x="138410" y="62508"/>
                </a:moveTo>
                <a:cubicBezTo>
                  <a:pt x="145833" y="62508"/>
                  <a:pt x="151805" y="56536"/>
                  <a:pt x="151805" y="49113"/>
                </a:cubicBezTo>
                <a:cubicBezTo>
                  <a:pt x="151805" y="41690"/>
                  <a:pt x="145833" y="35719"/>
                  <a:pt x="138410" y="35719"/>
                </a:cubicBezTo>
                <a:lnTo>
                  <a:pt x="75902" y="35719"/>
                </a:lnTo>
                <a:cubicBezTo>
                  <a:pt x="68480" y="35719"/>
                  <a:pt x="62508" y="41690"/>
                  <a:pt x="62508" y="49113"/>
                </a:cubicBezTo>
                <a:cubicBezTo>
                  <a:pt x="62508" y="56536"/>
                  <a:pt x="68480" y="62508"/>
                  <a:pt x="75902" y="62508"/>
                </a:cubicBezTo>
                <a:lnTo>
                  <a:pt x="138410" y="62508"/>
                </a:lnTo>
                <a:close/>
                <a:moveTo>
                  <a:pt x="154260" y="145498"/>
                </a:moveTo>
                <a:cubicBezTo>
                  <a:pt x="158167" y="139247"/>
                  <a:pt x="156270" y="130987"/>
                  <a:pt x="150019" y="127025"/>
                </a:cubicBezTo>
                <a:cubicBezTo>
                  <a:pt x="143768" y="123062"/>
                  <a:pt x="135508" y="125016"/>
                  <a:pt x="131545" y="131266"/>
                </a:cubicBezTo>
                <a:lnTo>
                  <a:pt x="97278" y="186128"/>
                </a:lnTo>
                <a:lnTo>
                  <a:pt x="82209" y="166036"/>
                </a:lnTo>
                <a:cubicBezTo>
                  <a:pt x="77744" y="160120"/>
                  <a:pt x="69373" y="158893"/>
                  <a:pt x="63457" y="163357"/>
                </a:cubicBezTo>
                <a:cubicBezTo>
                  <a:pt x="57541" y="167822"/>
                  <a:pt x="56313" y="176194"/>
                  <a:pt x="60778" y="182110"/>
                </a:cubicBezTo>
                <a:lnTo>
                  <a:pt x="87567" y="217829"/>
                </a:lnTo>
                <a:cubicBezTo>
                  <a:pt x="90190" y="221345"/>
                  <a:pt x="94431" y="223354"/>
                  <a:pt x="98840" y="223186"/>
                </a:cubicBezTo>
                <a:cubicBezTo>
                  <a:pt x="103250" y="223019"/>
                  <a:pt x="107268" y="220675"/>
                  <a:pt x="109612" y="216880"/>
                </a:cubicBezTo>
                <a:lnTo>
                  <a:pt x="154260" y="145442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3" name="Text 41"/>
          <p:cNvSpPr/>
          <p:nvPr/>
        </p:nvSpPr>
        <p:spPr>
          <a:xfrm>
            <a:off x="9801940" y="265938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 Output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476304" y="300228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Diagnosis with confidence score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826943" y="3573780"/>
            <a:ext cx="1438275" cy="266700"/>
          </a:xfrm>
          <a:custGeom>
            <a:avLst/>
            <a:gdLst/>
            <a:ahLst/>
            <a:cxnLst/>
            <a:rect l="l" t="t" r="r" b="b"/>
            <a:pathLst>
              <a:path w="1438275" h="266700">
                <a:moveTo>
                  <a:pt x="38101" y="0"/>
                </a:moveTo>
                <a:lnTo>
                  <a:pt x="1400174" y="0"/>
                </a:lnTo>
                <a:cubicBezTo>
                  <a:pt x="1421217" y="0"/>
                  <a:pt x="1438275" y="17058"/>
                  <a:pt x="1438275" y="38101"/>
                </a:cubicBezTo>
                <a:lnTo>
                  <a:pt x="1438275" y="228599"/>
                </a:lnTo>
                <a:cubicBezTo>
                  <a:pt x="1438275" y="249642"/>
                  <a:pt x="1421217" y="266700"/>
                  <a:pt x="14001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826943" y="3573780"/>
            <a:ext cx="15049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 / Pneumonia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826943" y="3878580"/>
            <a:ext cx="1438275" cy="266700"/>
          </a:xfrm>
          <a:custGeom>
            <a:avLst/>
            <a:gdLst/>
            <a:ahLst/>
            <a:cxnLst/>
            <a:rect l="l" t="t" r="r" b="b"/>
            <a:pathLst>
              <a:path w="1438275" h="266700">
                <a:moveTo>
                  <a:pt x="38101" y="0"/>
                </a:moveTo>
                <a:lnTo>
                  <a:pt x="1400174" y="0"/>
                </a:lnTo>
                <a:cubicBezTo>
                  <a:pt x="1421217" y="0"/>
                  <a:pt x="1438275" y="17058"/>
                  <a:pt x="1438275" y="38101"/>
                </a:cubicBezTo>
                <a:lnTo>
                  <a:pt x="1438275" y="228599"/>
                </a:lnTo>
                <a:cubicBezTo>
                  <a:pt x="1438275" y="249642"/>
                  <a:pt x="1421217" y="266700"/>
                  <a:pt x="14001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826943" y="3878580"/>
            <a:ext cx="15049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Confidence: 0-100%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826943" y="4183380"/>
            <a:ext cx="1438275" cy="266700"/>
          </a:xfrm>
          <a:custGeom>
            <a:avLst/>
            <a:gdLst/>
            <a:ahLst/>
            <a:cxnLst/>
            <a:rect l="l" t="t" r="r" b="b"/>
            <a:pathLst>
              <a:path w="1438275" h="266700">
                <a:moveTo>
                  <a:pt x="38101" y="0"/>
                </a:moveTo>
                <a:lnTo>
                  <a:pt x="1400174" y="0"/>
                </a:lnTo>
                <a:cubicBezTo>
                  <a:pt x="1421217" y="0"/>
                  <a:pt x="1438275" y="17058"/>
                  <a:pt x="1438275" y="38101"/>
                </a:cubicBezTo>
                <a:lnTo>
                  <a:pt x="1438275" y="228599"/>
                </a:lnTo>
                <a:cubicBezTo>
                  <a:pt x="1438275" y="249642"/>
                  <a:pt x="1421217" y="266700"/>
                  <a:pt x="14001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826943" y="4183380"/>
            <a:ext cx="15049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Processing: &lt;2 sec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84810" y="5132192"/>
            <a:ext cx="2731770" cy="1112520"/>
          </a:xfrm>
          <a:custGeom>
            <a:avLst/>
            <a:gdLst/>
            <a:ahLst/>
            <a:cxnLst/>
            <a:rect l="l" t="t" r="r" b="b"/>
            <a:pathLst>
              <a:path w="2731770" h="1112520">
                <a:moveTo>
                  <a:pt x="76196" y="0"/>
                </a:moveTo>
                <a:lnTo>
                  <a:pt x="2655574" y="0"/>
                </a:lnTo>
                <a:cubicBezTo>
                  <a:pt x="2697656" y="0"/>
                  <a:pt x="2731770" y="34114"/>
                  <a:pt x="2731770" y="76196"/>
                </a:cubicBezTo>
                <a:lnTo>
                  <a:pt x="2731770" y="1036324"/>
                </a:lnTo>
                <a:cubicBezTo>
                  <a:pt x="2731770" y="1078406"/>
                  <a:pt x="2697656" y="1112520"/>
                  <a:pt x="2655574" y="1112520"/>
                </a:cubicBezTo>
                <a:lnTo>
                  <a:pt x="76196" y="1112520"/>
                </a:lnTo>
                <a:cubicBezTo>
                  <a:pt x="34114" y="1112520"/>
                  <a:pt x="0" y="1078406"/>
                  <a:pt x="0" y="10363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3182CE">
              <a:alpha val="10196"/>
            </a:srgbClr>
          </a:solidFill>
          <a:ln w="10160">
            <a:solidFill>
              <a:srgbClr val="3182CE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4832" y="5307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3" name="Text 51"/>
          <p:cNvSpPr/>
          <p:nvPr/>
        </p:nvSpPr>
        <p:spPr>
          <a:xfrm>
            <a:off x="893445" y="5288400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Time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41020" y="5593200"/>
            <a:ext cx="2533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&lt;2 seconds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41020" y="5897880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 image analysis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280410" y="5132192"/>
            <a:ext cx="2731770" cy="1112520"/>
          </a:xfrm>
          <a:custGeom>
            <a:avLst/>
            <a:gdLst/>
            <a:ahLst/>
            <a:cxnLst/>
            <a:rect l="l" t="t" r="r" b="b"/>
            <a:pathLst>
              <a:path w="2731770" h="1112520">
                <a:moveTo>
                  <a:pt x="76196" y="0"/>
                </a:moveTo>
                <a:lnTo>
                  <a:pt x="2655574" y="0"/>
                </a:lnTo>
                <a:cubicBezTo>
                  <a:pt x="2697656" y="0"/>
                  <a:pt x="2731770" y="34114"/>
                  <a:pt x="2731770" y="76196"/>
                </a:cubicBezTo>
                <a:lnTo>
                  <a:pt x="2731770" y="1036324"/>
                </a:lnTo>
                <a:cubicBezTo>
                  <a:pt x="2731770" y="1078406"/>
                  <a:pt x="2697656" y="1112520"/>
                  <a:pt x="2655574" y="1112520"/>
                </a:cubicBezTo>
                <a:lnTo>
                  <a:pt x="76196" y="1112520"/>
                </a:lnTo>
                <a:cubicBezTo>
                  <a:pt x="34114" y="1112520"/>
                  <a:pt x="0" y="1078406"/>
                  <a:pt x="0" y="10363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60433" y="5307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8" name="Text 56"/>
          <p:cNvSpPr/>
          <p:nvPr/>
        </p:nvSpPr>
        <p:spPr>
          <a:xfrm>
            <a:off x="3789045" y="5288400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Accuracy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436620" y="5593200"/>
            <a:ext cx="2533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</a:t>
            </a:r>
            <a:r>
              <a:rPr lang="en-US" sz="1800" b="1" dirty="0" smtClean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90%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436620" y="5897880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accuracy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76010" y="5132192"/>
            <a:ext cx="2731770" cy="1112520"/>
          </a:xfrm>
          <a:custGeom>
            <a:avLst/>
            <a:gdLst/>
            <a:ahLst/>
            <a:cxnLst/>
            <a:rect l="l" t="t" r="r" b="b"/>
            <a:pathLst>
              <a:path w="2731770" h="1112520">
                <a:moveTo>
                  <a:pt x="76196" y="0"/>
                </a:moveTo>
                <a:lnTo>
                  <a:pt x="2655574" y="0"/>
                </a:lnTo>
                <a:cubicBezTo>
                  <a:pt x="2697656" y="0"/>
                  <a:pt x="2731770" y="34114"/>
                  <a:pt x="2731770" y="76196"/>
                </a:cubicBezTo>
                <a:lnTo>
                  <a:pt x="2731770" y="1036324"/>
                </a:lnTo>
                <a:cubicBezTo>
                  <a:pt x="2731770" y="1078406"/>
                  <a:pt x="2697656" y="1112520"/>
                  <a:pt x="2655574" y="1112520"/>
                </a:cubicBezTo>
                <a:lnTo>
                  <a:pt x="76196" y="1112520"/>
                </a:lnTo>
                <a:cubicBezTo>
                  <a:pt x="34114" y="1112520"/>
                  <a:pt x="0" y="1078406"/>
                  <a:pt x="0" y="10363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3182CE">
              <a:alpha val="10196"/>
            </a:srgbClr>
          </a:solidFill>
          <a:ln w="10160">
            <a:solidFill>
              <a:srgbClr val="3182CE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67939" y="53074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71438" y="47625"/>
                </a:moveTo>
                <a:cubicBezTo>
                  <a:pt x="71438" y="27911"/>
                  <a:pt x="55432" y="11906"/>
                  <a:pt x="35719" y="11906"/>
                </a:cubicBezTo>
                <a:cubicBezTo>
                  <a:pt x="16005" y="11906"/>
                  <a:pt x="0" y="27911"/>
                  <a:pt x="0" y="47625"/>
                </a:cubicBezTo>
                <a:cubicBezTo>
                  <a:pt x="0" y="67339"/>
                  <a:pt x="16005" y="83344"/>
                  <a:pt x="35719" y="83344"/>
                </a:cubicBezTo>
                <a:cubicBezTo>
                  <a:pt x="55432" y="83344"/>
                  <a:pt x="71438" y="67339"/>
                  <a:pt x="71438" y="47625"/>
                </a:cubicBezTo>
                <a:close/>
                <a:moveTo>
                  <a:pt x="166688" y="142875"/>
                </a:moveTo>
                <a:cubicBezTo>
                  <a:pt x="166688" y="123161"/>
                  <a:pt x="150682" y="107156"/>
                  <a:pt x="130969" y="107156"/>
                </a:cubicBezTo>
                <a:cubicBezTo>
                  <a:pt x="111255" y="107156"/>
                  <a:pt x="95250" y="123161"/>
                  <a:pt x="95250" y="142875"/>
                </a:cubicBezTo>
                <a:cubicBezTo>
                  <a:pt x="95250" y="162589"/>
                  <a:pt x="111255" y="178594"/>
                  <a:pt x="130969" y="178594"/>
                </a:cubicBezTo>
                <a:cubicBezTo>
                  <a:pt x="150682" y="178594"/>
                  <a:pt x="166688" y="162589"/>
                  <a:pt x="166688" y="142875"/>
                </a:cubicBezTo>
                <a:close/>
                <a:moveTo>
                  <a:pt x="163190" y="32221"/>
                </a:moveTo>
                <a:cubicBezTo>
                  <a:pt x="167841" y="27570"/>
                  <a:pt x="167841" y="20017"/>
                  <a:pt x="163190" y="15367"/>
                </a:cubicBezTo>
                <a:cubicBezTo>
                  <a:pt x="158539" y="10716"/>
                  <a:pt x="150986" y="10716"/>
                  <a:pt x="146335" y="15367"/>
                </a:cubicBezTo>
                <a:lnTo>
                  <a:pt x="3460" y="158242"/>
                </a:lnTo>
                <a:cubicBezTo>
                  <a:pt x="-1191" y="162892"/>
                  <a:pt x="-1191" y="170445"/>
                  <a:pt x="3460" y="175096"/>
                </a:cubicBezTo>
                <a:cubicBezTo>
                  <a:pt x="8111" y="179747"/>
                  <a:pt x="15664" y="179747"/>
                  <a:pt x="20315" y="175096"/>
                </a:cubicBezTo>
                <a:lnTo>
                  <a:pt x="163190" y="32221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63" name="Text 61"/>
          <p:cNvSpPr/>
          <p:nvPr/>
        </p:nvSpPr>
        <p:spPr>
          <a:xfrm>
            <a:off x="6684645" y="528840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Score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32220" y="5593200"/>
            <a:ext cx="2533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0-100%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32220" y="5897880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 certainty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071610" y="5132192"/>
            <a:ext cx="2731770" cy="1112520"/>
          </a:xfrm>
          <a:custGeom>
            <a:avLst/>
            <a:gdLst/>
            <a:ahLst/>
            <a:cxnLst/>
            <a:rect l="l" t="t" r="r" b="b"/>
            <a:pathLst>
              <a:path w="2731770" h="1112520">
                <a:moveTo>
                  <a:pt x="76196" y="0"/>
                </a:moveTo>
                <a:lnTo>
                  <a:pt x="2655574" y="0"/>
                </a:lnTo>
                <a:cubicBezTo>
                  <a:pt x="2697656" y="0"/>
                  <a:pt x="2731770" y="34114"/>
                  <a:pt x="2731770" y="76196"/>
                </a:cubicBezTo>
                <a:lnTo>
                  <a:pt x="2731770" y="1036324"/>
                </a:lnTo>
                <a:cubicBezTo>
                  <a:pt x="2731770" y="1078406"/>
                  <a:pt x="2697656" y="1112520"/>
                  <a:pt x="2655574" y="1112520"/>
                </a:cubicBezTo>
                <a:lnTo>
                  <a:pt x="76196" y="1112520"/>
                </a:lnTo>
                <a:cubicBezTo>
                  <a:pt x="34114" y="1112520"/>
                  <a:pt x="0" y="1078406"/>
                  <a:pt x="0" y="10363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251632" y="5307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8" name="Text 66"/>
          <p:cNvSpPr/>
          <p:nvPr/>
        </p:nvSpPr>
        <p:spPr>
          <a:xfrm>
            <a:off x="9580245" y="528840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Types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227820" y="5593200"/>
            <a:ext cx="2533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227820" y="5897880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CNN architectures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813" y="493757"/>
            <a:ext cx="75963" cy="455776"/>
          </a:xfrm>
          <a:custGeom>
            <a:avLst/>
            <a:gdLst/>
            <a:ahLst/>
            <a:cxnLst/>
            <a:rect l="l" t="t" r="r" b="b"/>
            <a:pathLst>
              <a:path w="75963" h="455776">
                <a:moveTo>
                  <a:pt x="37981" y="0"/>
                </a:moveTo>
                <a:lnTo>
                  <a:pt x="37981" y="0"/>
                </a:lnTo>
                <a:cubicBezTo>
                  <a:pt x="58944" y="0"/>
                  <a:pt x="75963" y="17019"/>
                  <a:pt x="75963" y="37981"/>
                </a:cubicBezTo>
                <a:lnTo>
                  <a:pt x="75963" y="417794"/>
                </a:lnTo>
                <a:cubicBezTo>
                  <a:pt x="75963" y="438757"/>
                  <a:pt x="58944" y="455776"/>
                  <a:pt x="37981" y="455776"/>
                </a:cubicBezTo>
                <a:lnTo>
                  <a:pt x="37981" y="455776"/>
                </a:lnTo>
                <a:cubicBezTo>
                  <a:pt x="17019" y="455776"/>
                  <a:pt x="0" y="438757"/>
                  <a:pt x="0" y="41779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" name="Text 1"/>
          <p:cNvSpPr/>
          <p:nvPr/>
        </p:nvSpPr>
        <p:spPr>
          <a:xfrm>
            <a:off x="607701" y="379813"/>
            <a:ext cx="5725682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kern="0" spc="6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7701" y="607701"/>
            <a:ext cx="5877607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 Models Used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0823" y="1291364"/>
            <a:ext cx="5583252" cy="5564262"/>
          </a:xfrm>
          <a:custGeom>
            <a:avLst/>
            <a:gdLst/>
            <a:ahLst/>
            <a:cxnLst/>
            <a:rect l="l" t="t" r="r" b="b"/>
            <a:pathLst>
              <a:path w="5583252" h="5564262">
                <a:moveTo>
                  <a:pt x="37981" y="0"/>
                </a:moveTo>
                <a:lnTo>
                  <a:pt x="5507300" y="0"/>
                </a:lnTo>
                <a:cubicBezTo>
                  <a:pt x="5549247" y="0"/>
                  <a:pt x="5583252" y="34005"/>
                  <a:pt x="5583252" y="75952"/>
                </a:cubicBezTo>
                <a:lnTo>
                  <a:pt x="5583252" y="5488310"/>
                </a:lnTo>
                <a:cubicBezTo>
                  <a:pt x="5583252" y="5530257"/>
                  <a:pt x="5549247" y="5564262"/>
                  <a:pt x="5507300" y="5564262"/>
                </a:cubicBezTo>
                <a:lnTo>
                  <a:pt x="37981" y="5564262"/>
                </a:lnTo>
                <a:cubicBezTo>
                  <a:pt x="17005" y="5564262"/>
                  <a:pt x="0" y="5547257"/>
                  <a:pt x="0" y="5526280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98804" y="1291364"/>
            <a:ext cx="37981" cy="5564262"/>
          </a:xfrm>
          <a:custGeom>
            <a:avLst/>
            <a:gdLst/>
            <a:ahLst/>
            <a:cxnLst/>
            <a:rect l="l" t="t" r="r" b="b"/>
            <a:pathLst>
              <a:path w="37981" h="5564262">
                <a:moveTo>
                  <a:pt x="37981" y="0"/>
                </a:moveTo>
                <a:lnTo>
                  <a:pt x="37981" y="0"/>
                </a:lnTo>
                <a:lnTo>
                  <a:pt x="37981" y="5564262"/>
                </a:lnTo>
                <a:lnTo>
                  <a:pt x="37981" y="5564262"/>
                </a:lnTo>
                <a:cubicBezTo>
                  <a:pt x="17005" y="5564262"/>
                  <a:pt x="0" y="5547257"/>
                  <a:pt x="0" y="5526280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7" name="Shape 5"/>
          <p:cNvSpPr/>
          <p:nvPr/>
        </p:nvSpPr>
        <p:spPr>
          <a:xfrm>
            <a:off x="645682" y="1519252"/>
            <a:ext cx="531738" cy="531738"/>
          </a:xfrm>
          <a:custGeom>
            <a:avLst/>
            <a:gdLst/>
            <a:ahLst/>
            <a:cxnLst/>
            <a:rect l="l" t="t" r="r" b="b"/>
            <a:pathLst>
              <a:path w="531738" h="531738">
                <a:moveTo>
                  <a:pt x="265869" y="0"/>
                </a:moveTo>
                <a:lnTo>
                  <a:pt x="265869" y="0"/>
                </a:lnTo>
                <a:cubicBezTo>
                  <a:pt x="412606" y="0"/>
                  <a:pt x="531738" y="119132"/>
                  <a:pt x="531738" y="265869"/>
                </a:cubicBezTo>
                <a:lnTo>
                  <a:pt x="531738" y="265869"/>
                </a:lnTo>
                <a:cubicBezTo>
                  <a:pt x="531738" y="412606"/>
                  <a:pt x="412606" y="531738"/>
                  <a:pt x="265869" y="531738"/>
                </a:cubicBezTo>
                <a:lnTo>
                  <a:pt x="265869" y="531738"/>
                </a:lnTo>
                <a:cubicBezTo>
                  <a:pt x="119132" y="531738"/>
                  <a:pt x="0" y="412606"/>
                  <a:pt x="0" y="265869"/>
                </a:cubicBezTo>
                <a:lnTo>
                  <a:pt x="0" y="265869"/>
                </a:lnTo>
                <a:cubicBezTo>
                  <a:pt x="0" y="119132"/>
                  <a:pt x="119132" y="0"/>
                  <a:pt x="265869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3364" y="1671178"/>
            <a:ext cx="256374" cy="227888"/>
          </a:xfrm>
          <a:custGeom>
            <a:avLst/>
            <a:gdLst/>
            <a:ahLst/>
            <a:cxnLst/>
            <a:rect l="l" t="t" r="r" b="b"/>
            <a:pathLst>
              <a:path w="256374" h="227888">
                <a:moveTo>
                  <a:pt x="110383" y="39168"/>
                </a:moveTo>
                <a:lnTo>
                  <a:pt x="145991" y="39168"/>
                </a:lnTo>
                <a:lnTo>
                  <a:pt x="145991" y="60533"/>
                </a:lnTo>
                <a:lnTo>
                  <a:pt x="110383" y="60533"/>
                </a:lnTo>
                <a:lnTo>
                  <a:pt x="110383" y="39168"/>
                </a:lnTo>
                <a:close/>
                <a:moveTo>
                  <a:pt x="106822" y="14243"/>
                </a:moveTo>
                <a:cubicBezTo>
                  <a:pt x="95027" y="14243"/>
                  <a:pt x="85458" y="23812"/>
                  <a:pt x="85458" y="35607"/>
                </a:cubicBezTo>
                <a:lnTo>
                  <a:pt x="85458" y="64093"/>
                </a:lnTo>
                <a:cubicBezTo>
                  <a:pt x="85458" y="75888"/>
                  <a:pt x="95027" y="85458"/>
                  <a:pt x="106822" y="85458"/>
                </a:cubicBezTo>
                <a:lnTo>
                  <a:pt x="113944" y="85458"/>
                </a:lnTo>
                <a:lnTo>
                  <a:pt x="113944" y="99701"/>
                </a:lnTo>
                <a:lnTo>
                  <a:pt x="14243" y="99701"/>
                </a:lnTo>
                <a:cubicBezTo>
                  <a:pt x="6365" y="99701"/>
                  <a:pt x="0" y="106066"/>
                  <a:pt x="0" y="113944"/>
                </a:cubicBezTo>
                <a:cubicBezTo>
                  <a:pt x="0" y="121822"/>
                  <a:pt x="6365" y="128187"/>
                  <a:pt x="14243" y="128187"/>
                </a:cubicBezTo>
                <a:lnTo>
                  <a:pt x="56972" y="128187"/>
                </a:lnTo>
                <a:lnTo>
                  <a:pt x="56972" y="142430"/>
                </a:lnTo>
                <a:lnTo>
                  <a:pt x="49850" y="142430"/>
                </a:lnTo>
                <a:cubicBezTo>
                  <a:pt x="38055" y="142430"/>
                  <a:pt x="28486" y="151999"/>
                  <a:pt x="28486" y="163794"/>
                </a:cubicBezTo>
                <a:lnTo>
                  <a:pt x="28486" y="192280"/>
                </a:lnTo>
                <a:cubicBezTo>
                  <a:pt x="28486" y="204075"/>
                  <a:pt x="38055" y="213645"/>
                  <a:pt x="49850" y="213645"/>
                </a:cubicBezTo>
                <a:lnTo>
                  <a:pt x="92579" y="213645"/>
                </a:lnTo>
                <a:cubicBezTo>
                  <a:pt x="104374" y="213645"/>
                  <a:pt x="113944" y="204075"/>
                  <a:pt x="113944" y="192280"/>
                </a:cubicBezTo>
                <a:lnTo>
                  <a:pt x="113944" y="163794"/>
                </a:lnTo>
                <a:cubicBezTo>
                  <a:pt x="113944" y="151999"/>
                  <a:pt x="104374" y="142430"/>
                  <a:pt x="92579" y="142430"/>
                </a:cubicBezTo>
                <a:lnTo>
                  <a:pt x="85458" y="142430"/>
                </a:lnTo>
                <a:lnTo>
                  <a:pt x="85458" y="128187"/>
                </a:lnTo>
                <a:lnTo>
                  <a:pt x="170916" y="128187"/>
                </a:lnTo>
                <a:lnTo>
                  <a:pt x="170916" y="142430"/>
                </a:lnTo>
                <a:lnTo>
                  <a:pt x="163794" y="142430"/>
                </a:lnTo>
                <a:cubicBezTo>
                  <a:pt x="151999" y="142430"/>
                  <a:pt x="142430" y="151999"/>
                  <a:pt x="142430" y="163794"/>
                </a:cubicBezTo>
                <a:lnTo>
                  <a:pt x="142430" y="192280"/>
                </a:lnTo>
                <a:cubicBezTo>
                  <a:pt x="142430" y="204075"/>
                  <a:pt x="151999" y="213645"/>
                  <a:pt x="163794" y="213645"/>
                </a:cubicBezTo>
                <a:lnTo>
                  <a:pt x="206523" y="213645"/>
                </a:lnTo>
                <a:cubicBezTo>
                  <a:pt x="218318" y="213645"/>
                  <a:pt x="227888" y="204075"/>
                  <a:pt x="227888" y="192280"/>
                </a:cubicBezTo>
                <a:lnTo>
                  <a:pt x="227888" y="163794"/>
                </a:lnTo>
                <a:cubicBezTo>
                  <a:pt x="227888" y="151999"/>
                  <a:pt x="218318" y="142430"/>
                  <a:pt x="206523" y="142430"/>
                </a:cubicBezTo>
                <a:lnTo>
                  <a:pt x="199402" y="142430"/>
                </a:lnTo>
                <a:lnTo>
                  <a:pt x="199402" y="128187"/>
                </a:lnTo>
                <a:lnTo>
                  <a:pt x="242131" y="128187"/>
                </a:lnTo>
                <a:cubicBezTo>
                  <a:pt x="250009" y="128187"/>
                  <a:pt x="256374" y="121822"/>
                  <a:pt x="256374" y="113944"/>
                </a:cubicBezTo>
                <a:cubicBezTo>
                  <a:pt x="256374" y="106066"/>
                  <a:pt x="250009" y="99701"/>
                  <a:pt x="242131" y="99701"/>
                </a:cubicBezTo>
                <a:lnTo>
                  <a:pt x="142430" y="99701"/>
                </a:lnTo>
                <a:lnTo>
                  <a:pt x="142430" y="85458"/>
                </a:lnTo>
                <a:lnTo>
                  <a:pt x="149551" y="85458"/>
                </a:lnTo>
                <a:cubicBezTo>
                  <a:pt x="161346" y="85458"/>
                  <a:pt x="170916" y="75888"/>
                  <a:pt x="170916" y="64093"/>
                </a:cubicBezTo>
                <a:lnTo>
                  <a:pt x="170916" y="35607"/>
                </a:lnTo>
                <a:cubicBezTo>
                  <a:pt x="170916" y="23812"/>
                  <a:pt x="161346" y="14243"/>
                  <a:pt x="149551" y="14243"/>
                </a:cubicBezTo>
                <a:lnTo>
                  <a:pt x="106822" y="14243"/>
                </a:lnTo>
                <a:close/>
                <a:moveTo>
                  <a:pt x="199402" y="167355"/>
                </a:moveTo>
                <a:lnTo>
                  <a:pt x="202963" y="167355"/>
                </a:lnTo>
                <a:lnTo>
                  <a:pt x="202963" y="188720"/>
                </a:lnTo>
                <a:lnTo>
                  <a:pt x="167355" y="188720"/>
                </a:lnTo>
                <a:lnTo>
                  <a:pt x="167355" y="167355"/>
                </a:lnTo>
                <a:lnTo>
                  <a:pt x="199402" y="167355"/>
                </a:lnTo>
                <a:close/>
                <a:moveTo>
                  <a:pt x="85458" y="167355"/>
                </a:moveTo>
                <a:lnTo>
                  <a:pt x="89019" y="167355"/>
                </a:lnTo>
                <a:lnTo>
                  <a:pt x="89019" y="188720"/>
                </a:lnTo>
                <a:lnTo>
                  <a:pt x="53411" y="188720"/>
                </a:lnTo>
                <a:lnTo>
                  <a:pt x="53411" y="167355"/>
                </a:lnTo>
                <a:lnTo>
                  <a:pt x="85458" y="167355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9" name="Text 7"/>
          <p:cNvSpPr/>
          <p:nvPr/>
        </p:nvSpPr>
        <p:spPr>
          <a:xfrm>
            <a:off x="1329346" y="1633196"/>
            <a:ext cx="3646206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CNN for Image Classification?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682" y="2202916"/>
            <a:ext cx="5184449" cy="74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Convolutional Neural Networks (CNNs) are the gold standard for image classification tasks due to their ability to automatically learn hierarchical features from raw pixel data.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5682" y="3095477"/>
            <a:ext cx="5108486" cy="683664"/>
          </a:xfrm>
          <a:custGeom>
            <a:avLst/>
            <a:gdLst/>
            <a:ahLst/>
            <a:cxnLst/>
            <a:rect l="l" t="t" r="r" b="b"/>
            <a:pathLst>
              <a:path w="5108486" h="683664">
                <a:moveTo>
                  <a:pt x="75962" y="0"/>
                </a:moveTo>
                <a:lnTo>
                  <a:pt x="5032524" y="0"/>
                </a:lnTo>
                <a:cubicBezTo>
                  <a:pt x="5074477" y="0"/>
                  <a:pt x="5108486" y="34009"/>
                  <a:pt x="5108486" y="75962"/>
                </a:cubicBezTo>
                <a:lnTo>
                  <a:pt x="5108486" y="607702"/>
                </a:lnTo>
                <a:cubicBezTo>
                  <a:pt x="5108486" y="649654"/>
                  <a:pt x="5074477" y="683664"/>
                  <a:pt x="5032524" y="683664"/>
                </a:cubicBezTo>
                <a:lnTo>
                  <a:pt x="75962" y="683664"/>
                </a:lnTo>
                <a:cubicBezTo>
                  <a:pt x="34037" y="683664"/>
                  <a:pt x="0" y="649626"/>
                  <a:pt x="0" y="607702"/>
                </a:cubicBezTo>
                <a:lnTo>
                  <a:pt x="0" y="75962"/>
                </a:lnTo>
                <a:cubicBezTo>
                  <a:pt x="0" y="34037"/>
                  <a:pt x="34037" y="0"/>
                  <a:pt x="7596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78617" y="3247402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3" name="Text 11"/>
          <p:cNvSpPr/>
          <p:nvPr/>
        </p:nvSpPr>
        <p:spPr>
          <a:xfrm>
            <a:off x="1063477" y="3209421"/>
            <a:ext cx="3123963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Feature Extraction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3477" y="3475290"/>
            <a:ext cx="311446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Learns relevant features without manual engineering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5682" y="3893084"/>
            <a:ext cx="5108486" cy="683664"/>
          </a:xfrm>
          <a:custGeom>
            <a:avLst/>
            <a:gdLst/>
            <a:ahLst/>
            <a:cxnLst/>
            <a:rect l="l" t="t" r="r" b="b"/>
            <a:pathLst>
              <a:path w="5108486" h="683664">
                <a:moveTo>
                  <a:pt x="75962" y="0"/>
                </a:moveTo>
                <a:lnTo>
                  <a:pt x="5032524" y="0"/>
                </a:lnTo>
                <a:cubicBezTo>
                  <a:pt x="5074477" y="0"/>
                  <a:pt x="5108486" y="34009"/>
                  <a:pt x="5108486" y="75962"/>
                </a:cubicBezTo>
                <a:lnTo>
                  <a:pt x="5108486" y="607702"/>
                </a:lnTo>
                <a:cubicBezTo>
                  <a:pt x="5108486" y="649654"/>
                  <a:pt x="5074477" y="683664"/>
                  <a:pt x="5032524" y="683664"/>
                </a:cubicBezTo>
                <a:lnTo>
                  <a:pt x="75962" y="683664"/>
                </a:lnTo>
                <a:cubicBezTo>
                  <a:pt x="34037" y="683664"/>
                  <a:pt x="0" y="649626"/>
                  <a:pt x="0" y="607702"/>
                </a:cubicBezTo>
                <a:lnTo>
                  <a:pt x="0" y="75962"/>
                </a:lnTo>
                <a:cubicBezTo>
                  <a:pt x="0" y="34037"/>
                  <a:pt x="34037" y="0"/>
                  <a:pt x="7596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8617" y="4045009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7" name="Text 15"/>
          <p:cNvSpPr/>
          <p:nvPr/>
        </p:nvSpPr>
        <p:spPr>
          <a:xfrm>
            <a:off x="1063477" y="4007028"/>
            <a:ext cx="354175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Spatial Hierarchy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3477" y="4272897"/>
            <a:ext cx="353226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Captures patterns from simple edges to complex structures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5682" y="4690692"/>
            <a:ext cx="5108486" cy="683664"/>
          </a:xfrm>
          <a:custGeom>
            <a:avLst/>
            <a:gdLst/>
            <a:ahLst/>
            <a:cxnLst/>
            <a:rect l="l" t="t" r="r" b="b"/>
            <a:pathLst>
              <a:path w="5108486" h="683664">
                <a:moveTo>
                  <a:pt x="75962" y="0"/>
                </a:moveTo>
                <a:lnTo>
                  <a:pt x="5032524" y="0"/>
                </a:lnTo>
                <a:cubicBezTo>
                  <a:pt x="5074477" y="0"/>
                  <a:pt x="5108486" y="34009"/>
                  <a:pt x="5108486" y="75962"/>
                </a:cubicBezTo>
                <a:lnTo>
                  <a:pt x="5108486" y="607702"/>
                </a:lnTo>
                <a:cubicBezTo>
                  <a:pt x="5108486" y="649654"/>
                  <a:pt x="5074477" y="683664"/>
                  <a:pt x="5032524" y="683664"/>
                </a:cubicBezTo>
                <a:lnTo>
                  <a:pt x="75962" y="683664"/>
                </a:lnTo>
                <a:cubicBezTo>
                  <a:pt x="34037" y="683664"/>
                  <a:pt x="0" y="649626"/>
                  <a:pt x="0" y="607702"/>
                </a:cubicBezTo>
                <a:lnTo>
                  <a:pt x="0" y="75962"/>
                </a:lnTo>
                <a:cubicBezTo>
                  <a:pt x="0" y="34037"/>
                  <a:pt x="34037" y="0"/>
                  <a:pt x="7596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78617" y="4842617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1" name="Text 19"/>
          <p:cNvSpPr/>
          <p:nvPr/>
        </p:nvSpPr>
        <p:spPr>
          <a:xfrm>
            <a:off x="1063477" y="4804636"/>
            <a:ext cx="3066991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Translation Invariance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3477" y="5070505"/>
            <a:ext cx="305749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Recognizes features regardless of position in image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5682" y="5488299"/>
            <a:ext cx="5108486" cy="683664"/>
          </a:xfrm>
          <a:custGeom>
            <a:avLst/>
            <a:gdLst/>
            <a:ahLst/>
            <a:cxnLst/>
            <a:rect l="l" t="t" r="r" b="b"/>
            <a:pathLst>
              <a:path w="5108486" h="683664">
                <a:moveTo>
                  <a:pt x="75962" y="0"/>
                </a:moveTo>
                <a:lnTo>
                  <a:pt x="5032524" y="0"/>
                </a:lnTo>
                <a:cubicBezTo>
                  <a:pt x="5074477" y="0"/>
                  <a:pt x="5108486" y="34009"/>
                  <a:pt x="5108486" y="75962"/>
                </a:cubicBezTo>
                <a:lnTo>
                  <a:pt x="5108486" y="607702"/>
                </a:lnTo>
                <a:cubicBezTo>
                  <a:pt x="5108486" y="649654"/>
                  <a:pt x="5074477" y="683664"/>
                  <a:pt x="5032524" y="683664"/>
                </a:cubicBezTo>
                <a:lnTo>
                  <a:pt x="75962" y="683664"/>
                </a:lnTo>
                <a:cubicBezTo>
                  <a:pt x="34037" y="683664"/>
                  <a:pt x="0" y="649626"/>
                  <a:pt x="0" y="607702"/>
                </a:cubicBezTo>
                <a:lnTo>
                  <a:pt x="0" y="75962"/>
                </a:lnTo>
                <a:cubicBezTo>
                  <a:pt x="0" y="34037"/>
                  <a:pt x="34037" y="0"/>
                  <a:pt x="7596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78617" y="5640224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5" name="Text 23"/>
          <p:cNvSpPr/>
          <p:nvPr/>
        </p:nvSpPr>
        <p:spPr>
          <a:xfrm>
            <a:off x="1063477" y="5602243"/>
            <a:ext cx="4377346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 Efficiency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63477" y="5868112"/>
            <a:ext cx="4367850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weights reduce parameters compared to fully connected networks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26798" y="1291364"/>
            <a:ext cx="5583252" cy="5564262"/>
          </a:xfrm>
          <a:custGeom>
            <a:avLst/>
            <a:gdLst/>
            <a:ahLst/>
            <a:cxnLst/>
            <a:rect l="l" t="t" r="r" b="b"/>
            <a:pathLst>
              <a:path w="5583252" h="5564262">
                <a:moveTo>
                  <a:pt x="37981" y="0"/>
                </a:moveTo>
                <a:lnTo>
                  <a:pt x="5507300" y="0"/>
                </a:lnTo>
                <a:cubicBezTo>
                  <a:pt x="5549247" y="0"/>
                  <a:pt x="5583252" y="34005"/>
                  <a:pt x="5583252" y="75952"/>
                </a:cubicBezTo>
                <a:lnTo>
                  <a:pt x="5583252" y="5488310"/>
                </a:lnTo>
                <a:cubicBezTo>
                  <a:pt x="5583252" y="5530257"/>
                  <a:pt x="5549247" y="5564262"/>
                  <a:pt x="5507300" y="5564262"/>
                </a:cubicBezTo>
                <a:lnTo>
                  <a:pt x="37981" y="5564262"/>
                </a:lnTo>
                <a:cubicBezTo>
                  <a:pt x="17005" y="5564262"/>
                  <a:pt x="0" y="5547257"/>
                  <a:pt x="0" y="5526280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226798" y="1291364"/>
            <a:ext cx="37981" cy="5564262"/>
          </a:xfrm>
          <a:custGeom>
            <a:avLst/>
            <a:gdLst/>
            <a:ahLst/>
            <a:cxnLst/>
            <a:rect l="l" t="t" r="r" b="b"/>
            <a:pathLst>
              <a:path w="37981" h="5564262">
                <a:moveTo>
                  <a:pt x="37981" y="0"/>
                </a:moveTo>
                <a:lnTo>
                  <a:pt x="37981" y="0"/>
                </a:lnTo>
                <a:lnTo>
                  <a:pt x="37981" y="5564262"/>
                </a:lnTo>
                <a:lnTo>
                  <a:pt x="37981" y="5564262"/>
                </a:lnTo>
                <a:cubicBezTo>
                  <a:pt x="17005" y="5564262"/>
                  <a:pt x="0" y="5547257"/>
                  <a:pt x="0" y="5526280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9" name="Shape 27"/>
          <p:cNvSpPr/>
          <p:nvPr/>
        </p:nvSpPr>
        <p:spPr>
          <a:xfrm>
            <a:off x="6473677" y="1519252"/>
            <a:ext cx="531738" cy="531738"/>
          </a:xfrm>
          <a:custGeom>
            <a:avLst/>
            <a:gdLst/>
            <a:ahLst/>
            <a:cxnLst/>
            <a:rect l="l" t="t" r="r" b="b"/>
            <a:pathLst>
              <a:path w="531738" h="531738">
                <a:moveTo>
                  <a:pt x="265869" y="0"/>
                </a:moveTo>
                <a:lnTo>
                  <a:pt x="265869" y="0"/>
                </a:lnTo>
                <a:cubicBezTo>
                  <a:pt x="412606" y="0"/>
                  <a:pt x="531738" y="119132"/>
                  <a:pt x="531738" y="265869"/>
                </a:cubicBezTo>
                <a:lnTo>
                  <a:pt x="531738" y="265869"/>
                </a:lnTo>
                <a:cubicBezTo>
                  <a:pt x="531738" y="412606"/>
                  <a:pt x="412606" y="531738"/>
                  <a:pt x="265869" y="531738"/>
                </a:cubicBezTo>
                <a:lnTo>
                  <a:pt x="265869" y="531738"/>
                </a:lnTo>
                <a:cubicBezTo>
                  <a:pt x="119132" y="531738"/>
                  <a:pt x="0" y="412606"/>
                  <a:pt x="0" y="265869"/>
                </a:cubicBezTo>
                <a:lnTo>
                  <a:pt x="0" y="265869"/>
                </a:lnTo>
                <a:cubicBezTo>
                  <a:pt x="0" y="119132"/>
                  <a:pt x="119132" y="0"/>
                  <a:pt x="265869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625602" y="1671178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223704" y="67031"/>
                </a:moveTo>
                <a:lnTo>
                  <a:pt x="180975" y="109760"/>
                </a:lnTo>
                <a:cubicBezTo>
                  <a:pt x="176880" y="113855"/>
                  <a:pt x="170782" y="115057"/>
                  <a:pt x="165441" y="112831"/>
                </a:cubicBezTo>
                <a:cubicBezTo>
                  <a:pt x="160100" y="110606"/>
                  <a:pt x="156673" y="105443"/>
                  <a:pt x="156673" y="99701"/>
                </a:cubicBezTo>
                <a:lnTo>
                  <a:pt x="156673" y="71215"/>
                </a:lnTo>
                <a:lnTo>
                  <a:pt x="14243" y="71215"/>
                </a:lnTo>
                <a:cubicBezTo>
                  <a:pt x="6365" y="71215"/>
                  <a:pt x="0" y="64850"/>
                  <a:pt x="0" y="56972"/>
                </a:cubicBezTo>
                <a:cubicBezTo>
                  <a:pt x="0" y="49094"/>
                  <a:pt x="6365" y="42729"/>
                  <a:pt x="14243" y="42729"/>
                </a:cubicBezTo>
                <a:lnTo>
                  <a:pt x="156673" y="42729"/>
                </a:lnTo>
                <a:lnTo>
                  <a:pt x="156673" y="14243"/>
                </a:lnTo>
                <a:cubicBezTo>
                  <a:pt x="156673" y="8501"/>
                  <a:pt x="160145" y="3294"/>
                  <a:pt x="165486" y="1068"/>
                </a:cubicBezTo>
                <a:cubicBezTo>
                  <a:pt x="170827" y="-1157"/>
                  <a:pt x="176925" y="89"/>
                  <a:pt x="181020" y="4139"/>
                </a:cubicBezTo>
                <a:lnTo>
                  <a:pt x="223748" y="46868"/>
                </a:lnTo>
                <a:cubicBezTo>
                  <a:pt x="229312" y="52432"/>
                  <a:pt x="229312" y="61467"/>
                  <a:pt x="223748" y="67031"/>
                </a:cubicBezTo>
                <a:close/>
                <a:moveTo>
                  <a:pt x="46868" y="223704"/>
                </a:moveTo>
                <a:lnTo>
                  <a:pt x="4139" y="180975"/>
                </a:lnTo>
                <a:cubicBezTo>
                  <a:pt x="-1424" y="175411"/>
                  <a:pt x="-1424" y="166376"/>
                  <a:pt x="4139" y="160812"/>
                </a:cubicBezTo>
                <a:lnTo>
                  <a:pt x="46868" y="118083"/>
                </a:lnTo>
                <a:cubicBezTo>
                  <a:pt x="50963" y="113988"/>
                  <a:pt x="57061" y="112787"/>
                  <a:pt x="62402" y="115012"/>
                </a:cubicBezTo>
                <a:cubicBezTo>
                  <a:pt x="67743" y="117238"/>
                  <a:pt x="71215" y="122445"/>
                  <a:pt x="71215" y="128187"/>
                </a:cubicBezTo>
                <a:lnTo>
                  <a:pt x="71215" y="156673"/>
                </a:lnTo>
                <a:lnTo>
                  <a:pt x="213645" y="156673"/>
                </a:lnTo>
                <a:cubicBezTo>
                  <a:pt x="221523" y="156673"/>
                  <a:pt x="227888" y="163038"/>
                  <a:pt x="227888" y="170916"/>
                </a:cubicBezTo>
                <a:cubicBezTo>
                  <a:pt x="227888" y="178794"/>
                  <a:pt x="221523" y="185159"/>
                  <a:pt x="213645" y="185159"/>
                </a:cubicBezTo>
                <a:lnTo>
                  <a:pt x="71215" y="185159"/>
                </a:lnTo>
                <a:lnTo>
                  <a:pt x="71215" y="213645"/>
                </a:lnTo>
                <a:cubicBezTo>
                  <a:pt x="71215" y="219387"/>
                  <a:pt x="67743" y="224594"/>
                  <a:pt x="62402" y="226820"/>
                </a:cubicBezTo>
                <a:cubicBezTo>
                  <a:pt x="57061" y="229045"/>
                  <a:pt x="50963" y="227799"/>
                  <a:pt x="46868" y="22374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1" name="Text 29"/>
          <p:cNvSpPr/>
          <p:nvPr/>
        </p:nvSpPr>
        <p:spPr>
          <a:xfrm>
            <a:off x="7157340" y="1633196"/>
            <a:ext cx="2915065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Transfer Learning Approach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73677" y="2202916"/>
            <a:ext cx="5184449" cy="74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Transfer learning leverages pre-trained models on large datasets (ImageNet) and fine-tunes them for medical imaging tasks, significantly improving performance with limited data.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73677" y="3095477"/>
            <a:ext cx="5108486" cy="797607"/>
          </a:xfrm>
          <a:custGeom>
            <a:avLst/>
            <a:gdLst/>
            <a:ahLst/>
            <a:cxnLst/>
            <a:rect l="l" t="t" r="r" b="b"/>
            <a:pathLst>
              <a:path w="5108486" h="797607">
                <a:moveTo>
                  <a:pt x="75964" y="0"/>
                </a:moveTo>
                <a:lnTo>
                  <a:pt x="5032522" y="0"/>
                </a:lnTo>
                <a:cubicBezTo>
                  <a:pt x="5074476" y="0"/>
                  <a:pt x="5108486" y="34010"/>
                  <a:pt x="5108486" y="75964"/>
                </a:cubicBezTo>
                <a:lnTo>
                  <a:pt x="5108486" y="721643"/>
                </a:lnTo>
                <a:cubicBezTo>
                  <a:pt x="5108486" y="763569"/>
                  <a:pt x="5074448" y="797607"/>
                  <a:pt x="5032522" y="797607"/>
                </a:cubicBezTo>
                <a:lnTo>
                  <a:pt x="75964" y="797607"/>
                </a:lnTo>
                <a:cubicBezTo>
                  <a:pt x="34010" y="797607"/>
                  <a:pt x="0" y="763597"/>
                  <a:pt x="0" y="721643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61210" y="3266393"/>
            <a:ext cx="166168" cy="189907"/>
          </a:xfrm>
          <a:custGeom>
            <a:avLst/>
            <a:gdLst/>
            <a:ahLst/>
            <a:cxnLst/>
            <a:rect l="l" t="t" r="r" b="b"/>
            <a:pathLst>
              <a:path w="166168" h="189907">
                <a:moveTo>
                  <a:pt x="166168" y="76334"/>
                </a:moveTo>
                <a:cubicBezTo>
                  <a:pt x="160679" y="79968"/>
                  <a:pt x="154373" y="82899"/>
                  <a:pt x="147808" y="85235"/>
                </a:cubicBezTo>
                <a:cubicBezTo>
                  <a:pt x="130375" y="91467"/>
                  <a:pt x="107490" y="94953"/>
                  <a:pt x="83084" y="94953"/>
                </a:cubicBezTo>
                <a:cubicBezTo>
                  <a:pt x="58678" y="94953"/>
                  <a:pt x="35756" y="91430"/>
                  <a:pt x="18360" y="85235"/>
                </a:cubicBezTo>
                <a:cubicBezTo>
                  <a:pt x="11832" y="82899"/>
                  <a:pt x="5489" y="79968"/>
                  <a:pt x="0" y="76334"/>
                </a:cubicBezTo>
                <a:lnTo>
                  <a:pt x="0" y="106822"/>
                </a:lnTo>
                <a:cubicBezTo>
                  <a:pt x="0" y="123217"/>
                  <a:pt x="37202" y="136495"/>
                  <a:pt x="83084" y="136495"/>
                </a:cubicBezTo>
                <a:cubicBezTo>
                  <a:pt x="128966" y="136495"/>
                  <a:pt x="166168" y="123217"/>
                  <a:pt x="166168" y="106822"/>
                </a:cubicBezTo>
                <a:lnTo>
                  <a:pt x="166168" y="76334"/>
                </a:lnTo>
                <a:close/>
                <a:moveTo>
                  <a:pt x="166168" y="47477"/>
                </a:moveTo>
                <a:lnTo>
                  <a:pt x="166168" y="29673"/>
                </a:lnTo>
                <a:cubicBezTo>
                  <a:pt x="166168" y="13279"/>
                  <a:pt x="128966" y="0"/>
                  <a:pt x="83084" y="0"/>
                </a:cubicBezTo>
                <a:cubicBezTo>
                  <a:pt x="37202" y="0"/>
                  <a:pt x="0" y="13279"/>
                  <a:pt x="0" y="29673"/>
                </a:cubicBezTo>
                <a:lnTo>
                  <a:pt x="0" y="47477"/>
                </a:lnTo>
                <a:cubicBezTo>
                  <a:pt x="0" y="63871"/>
                  <a:pt x="37202" y="77150"/>
                  <a:pt x="83084" y="77150"/>
                </a:cubicBezTo>
                <a:cubicBezTo>
                  <a:pt x="128966" y="77150"/>
                  <a:pt x="166168" y="63871"/>
                  <a:pt x="166168" y="47477"/>
                </a:cubicBezTo>
                <a:close/>
                <a:moveTo>
                  <a:pt x="147808" y="144581"/>
                </a:moveTo>
                <a:cubicBezTo>
                  <a:pt x="130412" y="150775"/>
                  <a:pt x="107527" y="154299"/>
                  <a:pt x="83084" y="154299"/>
                </a:cubicBezTo>
                <a:cubicBezTo>
                  <a:pt x="58641" y="154299"/>
                  <a:pt x="35756" y="150775"/>
                  <a:pt x="18360" y="144581"/>
                </a:cubicBezTo>
                <a:cubicBezTo>
                  <a:pt x="11832" y="142244"/>
                  <a:pt x="5489" y="139314"/>
                  <a:pt x="0" y="135679"/>
                </a:cubicBezTo>
                <a:lnTo>
                  <a:pt x="0" y="160234"/>
                </a:lnTo>
                <a:cubicBezTo>
                  <a:pt x="0" y="176628"/>
                  <a:pt x="37202" y="189907"/>
                  <a:pt x="83084" y="189907"/>
                </a:cubicBezTo>
                <a:cubicBezTo>
                  <a:pt x="128966" y="189907"/>
                  <a:pt x="166168" y="176628"/>
                  <a:pt x="166168" y="160234"/>
                </a:cubicBezTo>
                <a:lnTo>
                  <a:pt x="166168" y="135679"/>
                </a:lnTo>
                <a:cubicBezTo>
                  <a:pt x="160679" y="139314"/>
                  <a:pt x="154373" y="142244"/>
                  <a:pt x="147808" y="144581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5" name="Text 33"/>
          <p:cNvSpPr/>
          <p:nvPr/>
        </p:nvSpPr>
        <p:spPr>
          <a:xfrm>
            <a:off x="6976929" y="3247402"/>
            <a:ext cx="171865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Pre-trained on ImageNet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25602" y="3551252"/>
            <a:ext cx="487110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Models trained on 1.2M+ images across 1,000 classes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73677" y="4007028"/>
            <a:ext cx="5108486" cy="797607"/>
          </a:xfrm>
          <a:custGeom>
            <a:avLst/>
            <a:gdLst/>
            <a:ahLst/>
            <a:cxnLst/>
            <a:rect l="l" t="t" r="r" b="b"/>
            <a:pathLst>
              <a:path w="5108486" h="797607">
                <a:moveTo>
                  <a:pt x="75964" y="0"/>
                </a:moveTo>
                <a:lnTo>
                  <a:pt x="5032522" y="0"/>
                </a:lnTo>
                <a:cubicBezTo>
                  <a:pt x="5074476" y="0"/>
                  <a:pt x="5108486" y="34010"/>
                  <a:pt x="5108486" y="75964"/>
                </a:cubicBezTo>
                <a:lnTo>
                  <a:pt x="5108486" y="721643"/>
                </a:lnTo>
                <a:cubicBezTo>
                  <a:pt x="5108486" y="763569"/>
                  <a:pt x="5074448" y="797607"/>
                  <a:pt x="5032522" y="797607"/>
                </a:cubicBezTo>
                <a:lnTo>
                  <a:pt x="75964" y="797607"/>
                </a:lnTo>
                <a:cubicBezTo>
                  <a:pt x="34010" y="797607"/>
                  <a:pt x="0" y="763597"/>
                  <a:pt x="0" y="721643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61210" y="4177944"/>
            <a:ext cx="166168" cy="189907"/>
          </a:xfrm>
          <a:custGeom>
            <a:avLst/>
            <a:gdLst/>
            <a:ahLst/>
            <a:cxnLst/>
            <a:rect l="l" t="t" r="r" b="b"/>
            <a:pathLst>
              <a:path w="166168" h="189907">
                <a:moveTo>
                  <a:pt x="125665" y="-3672"/>
                </a:moveTo>
                <a:cubicBezTo>
                  <a:pt x="130079" y="-482"/>
                  <a:pt x="131711" y="5304"/>
                  <a:pt x="129708" y="10348"/>
                </a:cubicBezTo>
                <a:lnTo>
                  <a:pt x="100628" y="83084"/>
                </a:lnTo>
                <a:lnTo>
                  <a:pt x="154299" y="83084"/>
                </a:lnTo>
                <a:cubicBezTo>
                  <a:pt x="159306" y="83084"/>
                  <a:pt x="163757" y="86200"/>
                  <a:pt x="165463" y="90910"/>
                </a:cubicBezTo>
                <a:cubicBezTo>
                  <a:pt x="167170" y="95621"/>
                  <a:pt x="165723" y="100888"/>
                  <a:pt x="161903" y="104078"/>
                </a:cubicBezTo>
                <a:lnTo>
                  <a:pt x="55080" y="193096"/>
                </a:lnTo>
                <a:cubicBezTo>
                  <a:pt x="50889" y="196583"/>
                  <a:pt x="44917" y="196768"/>
                  <a:pt x="40504" y="193579"/>
                </a:cubicBezTo>
                <a:cubicBezTo>
                  <a:pt x="36090" y="190389"/>
                  <a:pt x="34458" y="184603"/>
                  <a:pt x="36461" y="179558"/>
                </a:cubicBezTo>
                <a:lnTo>
                  <a:pt x="65540" y="106822"/>
                </a:lnTo>
                <a:lnTo>
                  <a:pt x="11869" y="106822"/>
                </a:lnTo>
                <a:cubicBezTo>
                  <a:pt x="6862" y="106822"/>
                  <a:pt x="2411" y="103707"/>
                  <a:pt x="705" y="98996"/>
                </a:cubicBezTo>
                <a:cubicBezTo>
                  <a:pt x="-1001" y="94286"/>
                  <a:pt x="445" y="89019"/>
                  <a:pt x="4265" y="85829"/>
                </a:cubicBezTo>
                <a:lnTo>
                  <a:pt x="111088" y="-3190"/>
                </a:lnTo>
                <a:cubicBezTo>
                  <a:pt x="115279" y="-6676"/>
                  <a:pt x="121251" y="-6862"/>
                  <a:pt x="125665" y="-3672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9" name="Text 37"/>
          <p:cNvSpPr/>
          <p:nvPr/>
        </p:nvSpPr>
        <p:spPr>
          <a:xfrm>
            <a:off x="6976929" y="4158953"/>
            <a:ext cx="142429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Convergence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25602" y="4462804"/>
            <a:ext cx="487110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training time from days to hours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73677" y="4918579"/>
            <a:ext cx="5108486" cy="797607"/>
          </a:xfrm>
          <a:custGeom>
            <a:avLst/>
            <a:gdLst/>
            <a:ahLst/>
            <a:cxnLst/>
            <a:rect l="l" t="t" r="r" b="b"/>
            <a:pathLst>
              <a:path w="5108486" h="797607">
                <a:moveTo>
                  <a:pt x="75964" y="0"/>
                </a:moveTo>
                <a:lnTo>
                  <a:pt x="5032522" y="0"/>
                </a:lnTo>
                <a:cubicBezTo>
                  <a:pt x="5074476" y="0"/>
                  <a:pt x="5108486" y="34010"/>
                  <a:pt x="5108486" y="75964"/>
                </a:cubicBezTo>
                <a:lnTo>
                  <a:pt x="5108486" y="721643"/>
                </a:lnTo>
                <a:cubicBezTo>
                  <a:pt x="5108486" y="763569"/>
                  <a:pt x="5074448" y="797607"/>
                  <a:pt x="5032522" y="797607"/>
                </a:cubicBezTo>
                <a:lnTo>
                  <a:pt x="75964" y="797607"/>
                </a:lnTo>
                <a:cubicBezTo>
                  <a:pt x="34010" y="797607"/>
                  <a:pt x="0" y="763597"/>
                  <a:pt x="0" y="721643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649340" y="5089495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23738" y="23738"/>
                </a:moveTo>
                <a:cubicBezTo>
                  <a:pt x="23738" y="17173"/>
                  <a:pt x="18434" y="11869"/>
                  <a:pt x="11869" y="11869"/>
                </a:cubicBezTo>
                <a:cubicBezTo>
                  <a:pt x="5304" y="11869"/>
                  <a:pt x="0" y="17173"/>
                  <a:pt x="0" y="23738"/>
                </a:cubicBezTo>
                <a:lnTo>
                  <a:pt x="0" y="148364"/>
                </a:lnTo>
                <a:cubicBezTo>
                  <a:pt x="0" y="164759"/>
                  <a:pt x="13279" y="178037"/>
                  <a:pt x="29673" y="178037"/>
                </a:cubicBezTo>
                <a:lnTo>
                  <a:pt x="178037" y="178037"/>
                </a:lnTo>
                <a:cubicBezTo>
                  <a:pt x="184603" y="178037"/>
                  <a:pt x="189907" y="172733"/>
                  <a:pt x="189907" y="166168"/>
                </a:cubicBezTo>
                <a:cubicBezTo>
                  <a:pt x="189907" y="159603"/>
                  <a:pt x="184603" y="154299"/>
                  <a:pt x="178037" y="154299"/>
                </a:cubicBezTo>
                <a:lnTo>
                  <a:pt x="29673" y="154299"/>
                </a:lnTo>
                <a:cubicBezTo>
                  <a:pt x="26409" y="154299"/>
                  <a:pt x="23738" y="151629"/>
                  <a:pt x="23738" y="148364"/>
                </a:cubicBezTo>
                <a:lnTo>
                  <a:pt x="23738" y="23738"/>
                </a:lnTo>
                <a:close/>
                <a:moveTo>
                  <a:pt x="174551" y="55859"/>
                </a:moveTo>
                <a:cubicBezTo>
                  <a:pt x="179187" y="51223"/>
                  <a:pt x="179187" y="43693"/>
                  <a:pt x="174551" y="39057"/>
                </a:cubicBezTo>
                <a:cubicBezTo>
                  <a:pt x="169914" y="34421"/>
                  <a:pt x="162385" y="34421"/>
                  <a:pt x="157749" y="39057"/>
                </a:cubicBezTo>
                <a:lnTo>
                  <a:pt x="118692" y="78151"/>
                </a:lnTo>
                <a:lnTo>
                  <a:pt x="97401" y="56898"/>
                </a:lnTo>
                <a:cubicBezTo>
                  <a:pt x="92765" y="52261"/>
                  <a:pt x="85235" y="52261"/>
                  <a:pt x="80599" y="56898"/>
                </a:cubicBezTo>
                <a:lnTo>
                  <a:pt x="44992" y="92505"/>
                </a:lnTo>
                <a:cubicBezTo>
                  <a:pt x="40355" y="97142"/>
                  <a:pt x="40355" y="104671"/>
                  <a:pt x="44992" y="109308"/>
                </a:cubicBezTo>
                <a:cubicBezTo>
                  <a:pt x="49628" y="113944"/>
                  <a:pt x="57157" y="113944"/>
                  <a:pt x="61794" y="109308"/>
                </a:cubicBezTo>
                <a:lnTo>
                  <a:pt x="89019" y="82083"/>
                </a:lnTo>
                <a:lnTo>
                  <a:pt x="110309" y="103373"/>
                </a:lnTo>
                <a:cubicBezTo>
                  <a:pt x="114945" y="108009"/>
                  <a:pt x="122475" y="108009"/>
                  <a:pt x="127111" y="103373"/>
                </a:cubicBezTo>
                <a:lnTo>
                  <a:pt x="174588" y="5589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43" name="Text 41"/>
          <p:cNvSpPr/>
          <p:nvPr/>
        </p:nvSpPr>
        <p:spPr>
          <a:xfrm>
            <a:off x="6976929" y="5070505"/>
            <a:ext cx="138631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Performance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25602" y="5374355"/>
            <a:ext cx="487110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+5.48% average accuracy improvement over training from scratch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73677" y="5830131"/>
            <a:ext cx="5108486" cy="797607"/>
          </a:xfrm>
          <a:custGeom>
            <a:avLst/>
            <a:gdLst/>
            <a:ahLst/>
            <a:cxnLst/>
            <a:rect l="l" t="t" r="r" b="b"/>
            <a:pathLst>
              <a:path w="5108486" h="797607">
                <a:moveTo>
                  <a:pt x="75964" y="0"/>
                </a:moveTo>
                <a:lnTo>
                  <a:pt x="5032522" y="0"/>
                </a:lnTo>
                <a:cubicBezTo>
                  <a:pt x="5074476" y="0"/>
                  <a:pt x="5108486" y="34010"/>
                  <a:pt x="5108486" y="75964"/>
                </a:cubicBezTo>
                <a:lnTo>
                  <a:pt x="5108486" y="721643"/>
                </a:lnTo>
                <a:cubicBezTo>
                  <a:pt x="5108486" y="763569"/>
                  <a:pt x="5074448" y="797607"/>
                  <a:pt x="5032522" y="797607"/>
                </a:cubicBezTo>
                <a:lnTo>
                  <a:pt x="75964" y="797607"/>
                </a:lnTo>
                <a:cubicBezTo>
                  <a:pt x="34010" y="797607"/>
                  <a:pt x="0" y="763597"/>
                  <a:pt x="0" y="721643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49340" y="6001047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94953" y="0"/>
                </a:moveTo>
                <a:cubicBezTo>
                  <a:pt x="96659" y="0"/>
                  <a:pt x="98366" y="371"/>
                  <a:pt x="99923" y="1076"/>
                </a:cubicBezTo>
                <a:lnTo>
                  <a:pt x="169803" y="30711"/>
                </a:lnTo>
                <a:cubicBezTo>
                  <a:pt x="177963" y="34161"/>
                  <a:pt x="184046" y="42210"/>
                  <a:pt x="184009" y="51928"/>
                </a:cubicBezTo>
                <a:cubicBezTo>
                  <a:pt x="183824" y="88722"/>
                  <a:pt x="168690" y="156042"/>
                  <a:pt x="104782" y="186643"/>
                </a:cubicBezTo>
                <a:cubicBezTo>
                  <a:pt x="98588" y="189610"/>
                  <a:pt x="91393" y="189610"/>
                  <a:pt x="85198" y="186643"/>
                </a:cubicBezTo>
                <a:cubicBezTo>
                  <a:pt x="21253" y="156042"/>
                  <a:pt x="6157" y="88722"/>
                  <a:pt x="5972" y="51928"/>
                </a:cubicBezTo>
                <a:cubicBezTo>
                  <a:pt x="5935" y="42210"/>
                  <a:pt x="12018" y="34161"/>
                  <a:pt x="20178" y="30711"/>
                </a:cubicBezTo>
                <a:lnTo>
                  <a:pt x="90020" y="1076"/>
                </a:lnTo>
                <a:cubicBezTo>
                  <a:pt x="91578" y="371"/>
                  <a:pt x="93247" y="0"/>
                  <a:pt x="94953" y="0"/>
                </a:cubicBezTo>
                <a:close/>
                <a:moveTo>
                  <a:pt x="94953" y="24777"/>
                </a:moveTo>
                <a:lnTo>
                  <a:pt x="94953" y="165018"/>
                </a:lnTo>
                <a:cubicBezTo>
                  <a:pt x="146139" y="140242"/>
                  <a:pt x="159900" y="85347"/>
                  <a:pt x="160234" y="52484"/>
                </a:cubicBezTo>
                <a:lnTo>
                  <a:pt x="94953" y="24814"/>
                </a:lnTo>
                <a:lnTo>
                  <a:pt x="94953" y="24814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47" name="Text 45"/>
          <p:cNvSpPr/>
          <p:nvPr/>
        </p:nvSpPr>
        <p:spPr>
          <a:xfrm>
            <a:off x="6976929" y="5982056"/>
            <a:ext cx="142429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Overfitting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25602" y="6285907"/>
            <a:ext cx="487110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Generalizable features prevent overfitting on small medical datasets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12750"/>
            <a:ext cx="63500" cy="381000"/>
          </a:xfrm>
          <a:custGeom>
            <a:avLst/>
            <a:gdLst/>
            <a:ahLst/>
            <a:cxnLst/>
            <a:rect l="l" t="t" r="r" b="b"/>
            <a:pathLst>
              <a:path w="63500" h="3810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49250"/>
                </a:lnTo>
                <a:cubicBezTo>
                  <a:pt x="63500" y="366773"/>
                  <a:pt x="49273" y="381000"/>
                  <a:pt x="31750" y="381000"/>
                </a:cubicBez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317500"/>
            <a:ext cx="3055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508000"/>
            <a:ext cx="31829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ResNet-50 Model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876296"/>
            <a:ext cx="4594225" cy="2800350"/>
          </a:xfrm>
          <a:custGeom>
            <a:avLst/>
            <a:gdLst/>
            <a:ahLst/>
            <a:cxnLst/>
            <a:rect l="l" t="t" r="r" b="b"/>
            <a:pathLst>
              <a:path w="4594225" h="2800350">
                <a:moveTo>
                  <a:pt x="63512" y="0"/>
                </a:moveTo>
                <a:lnTo>
                  <a:pt x="4530713" y="0"/>
                </a:lnTo>
                <a:cubicBezTo>
                  <a:pt x="4565790" y="0"/>
                  <a:pt x="4594225" y="28435"/>
                  <a:pt x="4594225" y="63512"/>
                </a:cubicBezTo>
                <a:lnTo>
                  <a:pt x="4594225" y="2736838"/>
                </a:lnTo>
                <a:cubicBezTo>
                  <a:pt x="4594225" y="2771915"/>
                  <a:pt x="4565790" y="2800350"/>
                  <a:pt x="4530713" y="2800350"/>
                </a:cubicBezTo>
                <a:lnTo>
                  <a:pt x="63512" y="2800350"/>
                </a:lnTo>
                <a:cubicBezTo>
                  <a:pt x="28435" y="2800350"/>
                  <a:pt x="0" y="2771915"/>
                  <a:pt x="0" y="2736838"/>
                </a:cubicBezTo>
                <a:lnTo>
                  <a:pt x="0" y="63512"/>
                </a:lnTo>
                <a:cubicBezTo>
                  <a:pt x="0" y="28459"/>
                  <a:pt x="28459" y="0"/>
                  <a:pt x="6351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600" y="12445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3803" y="135572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95963" y="-5860"/>
                </a:moveTo>
                <a:cubicBezTo>
                  <a:pt x="94692" y="-8341"/>
                  <a:pt x="92118" y="-9922"/>
                  <a:pt x="89328" y="-9922"/>
                </a:cubicBezTo>
                <a:cubicBezTo>
                  <a:pt x="86537" y="-9922"/>
                  <a:pt x="83964" y="-8341"/>
                  <a:pt x="82693" y="-5860"/>
                </a:cubicBezTo>
                <a:lnTo>
                  <a:pt x="59872" y="38850"/>
                </a:lnTo>
                <a:lnTo>
                  <a:pt x="10294" y="46726"/>
                </a:lnTo>
                <a:cubicBezTo>
                  <a:pt x="7534" y="47160"/>
                  <a:pt x="5240" y="49113"/>
                  <a:pt x="4372" y="51780"/>
                </a:cubicBezTo>
                <a:cubicBezTo>
                  <a:pt x="3504" y="54446"/>
                  <a:pt x="4217" y="57361"/>
                  <a:pt x="6170" y="59345"/>
                </a:cubicBezTo>
                <a:lnTo>
                  <a:pt x="41641" y="94847"/>
                </a:lnTo>
                <a:lnTo>
                  <a:pt x="33827" y="144425"/>
                </a:lnTo>
                <a:cubicBezTo>
                  <a:pt x="33393" y="147185"/>
                  <a:pt x="34541" y="149975"/>
                  <a:pt x="36804" y="151619"/>
                </a:cubicBezTo>
                <a:cubicBezTo>
                  <a:pt x="39067" y="153262"/>
                  <a:pt x="42044" y="153510"/>
                  <a:pt x="44555" y="152239"/>
                </a:cubicBezTo>
                <a:lnTo>
                  <a:pt x="89328" y="129480"/>
                </a:lnTo>
                <a:lnTo>
                  <a:pt x="134069" y="152239"/>
                </a:lnTo>
                <a:cubicBezTo>
                  <a:pt x="136550" y="153510"/>
                  <a:pt x="139557" y="153262"/>
                  <a:pt x="141821" y="151619"/>
                </a:cubicBezTo>
                <a:cubicBezTo>
                  <a:pt x="144084" y="149975"/>
                  <a:pt x="145231" y="147216"/>
                  <a:pt x="144797" y="144425"/>
                </a:cubicBezTo>
                <a:lnTo>
                  <a:pt x="136953" y="94847"/>
                </a:lnTo>
                <a:lnTo>
                  <a:pt x="172424" y="59345"/>
                </a:lnTo>
                <a:cubicBezTo>
                  <a:pt x="174408" y="57361"/>
                  <a:pt x="175090" y="54446"/>
                  <a:pt x="174222" y="51780"/>
                </a:cubicBezTo>
                <a:cubicBezTo>
                  <a:pt x="173354" y="49113"/>
                  <a:pt x="171090" y="47160"/>
                  <a:pt x="168300" y="46726"/>
                </a:cubicBezTo>
                <a:lnTo>
                  <a:pt x="118752" y="38850"/>
                </a:lnTo>
                <a:lnTo>
                  <a:pt x="95963" y="-5860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958850" y="1323973"/>
            <a:ext cx="992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2600" y="1752598"/>
            <a:ext cx="2087563" cy="1016000"/>
          </a:xfrm>
          <a:custGeom>
            <a:avLst/>
            <a:gdLst/>
            <a:ahLst/>
            <a:cxnLst/>
            <a:rect l="l" t="t" r="r" b="b"/>
            <a:pathLst>
              <a:path w="2087563" h="1016000">
                <a:moveTo>
                  <a:pt x="63500" y="0"/>
                </a:moveTo>
                <a:lnTo>
                  <a:pt x="2024062" y="0"/>
                </a:lnTo>
                <a:cubicBezTo>
                  <a:pt x="2059109" y="0"/>
                  <a:pt x="2087563" y="28453"/>
                  <a:pt x="2087563" y="63500"/>
                </a:cubicBezTo>
                <a:lnTo>
                  <a:pt x="2087563" y="952500"/>
                </a:lnTo>
                <a:cubicBezTo>
                  <a:pt x="2087563" y="987547"/>
                  <a:pt x="2059109" y="1016000"/>
                  <a:pt x="2024062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18319" y="1847848"/>
            <a:ext cx="2016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0069" y="2133598"/>
            <a:ext cx="195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0069" y="2355848"/>
            <a:ext cx="19526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architecture with bottleneck blocks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67000" y="1752598"/>
            <a:ext cx="2087563" cy="1016000"/>
          </a:xfrm>
          <a:custGeom>
            <a:avLst/>
            <a:gdLst/>
            <a:ahLst/>
            <a:cxnLst/>
            <a:rect l="l" t="t" r="r" b="b"/>
            <a:pathLst>
              <a:path w="2087563" h="1016000">
                <a:moveTo>
                  <a:pt x="63500" y="0"/>
                </a:moveTo>
                <a:lnTo>
                  <a:pt x="2024062" y="0"/>
                </a:lnTo>
                <a:cubicBezTo>
                  <a:pt x="2059109" y="0"/>
                  <a:pt x="2087563" y="28453"/>
                  <a:pt x="2087563" y="63500"/>
                </a:cubicBezTo>
                <a:lnTo>
                  <a:pt x="2087563" y="952500"/>
                </a:lnTo>
                <a:cubicBezTo>
                  <a:pt x="2087563" y="987547"/>
                  <a:pt x="2059109" y="1016000"/>
                  <a:pt x="2024062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702719" y="1847848"/>
            <a:ext cx="2016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 smtClean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24.15M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34469" y="2133598"/>
            <a:ext cx="195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34469" y="2355848"/>
            <a:ext cx="195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Rich representational capacity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549400" y="2863848"/>
            <a:ext cx="2087563" cy="857250"/>
          </a:xfrm>
          <a:custGeom>
            <a:avLst/>
            <a:gdLst/>
            <a:ahLst/>
            <a:cxnLst/>
            <a:rect l="l" t="t" r="r" b="b"/>
            <a:pathLst>
              <a:path w="2087563" h="857250">
                <a:moveTo>
                  <a:pt x="63497" y="0"/>
                </a:moveTo>
                <a:lnTo>
                  <a:pt x="2024066" y="0"/>
                </a:lnTo>
                <a:cubicBezTo>
                  <a:pt x="2059134" y="0"/>
                  <a:pt x="2087563" y="28428"/>
                  <a:pt x="2087563" y="63497"/>
                </a:cubicBezTo>
                <a:lnTo>
                  <a:pt x="2087563" y="793753"/>
                </a:lnTo>
                <a:cubicBezTo>
                  <a:pt x="2087563" y="828822"/>
                  <a:pt x="2059134" y="857250"/>
                  <a:pt x="2024066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585119" y="2959098"/>
            <a:ext cx="2016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 smtClean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83.33</a:t>
            </a:r>
            <a:r>
              <a:rPr lang="en-US" sz="1875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16869" y="3244848"/>
            <a:ext cx="195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16869" y="3467098"/>
            <a:ext cx="195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Achieved in recent pneumonia studies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3050" y="3802057"/>
            <a:ext cx="4594225" cy="3006725"/>
          </a:xfrm>
          <a:custGeom>
            <a:avLst/>
            <a:gdLst/>
            <a:ahLst/>
            <a:cxnLst/>
            <a:rect l="l" t="t" r="r" b="b"/>
            <a:pathLst>
              <a:path w="4594225" h="3006725">
                <a:moveTo>
                  <a:pt x="63502" y="0"/>
                </a:moveTo>
                <a:lnTo>
                  <a:pt x="4530723" y="0"/>
                </a:lnTo>
                <a:cubicBezTo>
                  <a:pt x="4565794" y="0"/>
                  <a:pt x="4594225" y="28431"/>
                  <a:pt x="4594225" y="63502"/>
                </a:cubicBezTo>
                <a:lnTo>
                  <a:pt x="4594225" y="2943223"/>
                </a:lnTo>
                <a:cubicBezTo>
                  <a:pt x="4594225" y="2978294"/>
                  <a:pt x="4565794" y="3006725"/>
                  <a:pt x="4530723" y="3006725"/>
                </a:cubicBezTo>
                <a:lnTo>
                  <a:pt x="63502" y="3006725"/>
                </a:lnTo>
                <a:cubicBezTo>
                  <a:pt x="28431" y="3006725"/>
                  <a:pt x="0" y="2978294"/>
                  <a:pt x="0" y="2943223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2600" y="407669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93725" y="418782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24805"/>
                </a:moveTo>
                <a:cubicBezTo>
                  <a:pt x="0" y="16588"/>
                  <a:pt x="6666" y="9922"/>
                  <a:pt x="14883" y="9922"/>
                </a:cubicBezTo>
                <a:lnTo>
                  <a:pt x="44648" y="9922"/>
                </a:lnTo>
                <a:cubicBezTo>
                  <a:pt x="52865" y="9922"/>
                  <a:pt x="59531" y="16588"/>
                  <a:pt x="59531" y="24805"/>
                </a:cubicBezTo>
                <a:lnTo>
                  <a:pt x="59531" y="29766"/>
                </a:lnTo>
                <a:lnTo>
                  <a:pt x="99219" y="29766"/>
                </a:lnTo>
                <a:lnTo>
                  <a:pt x="99219" y="24805"/>
                </a:lnTo>
                <a:cubicBezTo>
                  <a:pt x="99219" y="16588"/>
                  <a:pt x="105885" y="9922"/>
                  <a:pt x="114102" y="9922"/>
                </a:cubicBezTo>
                <a:lnTo>
                  <a:pt x="143867" y="9922"/>
                </a:lnTo>
                <a:cubicBezTo>
                  <a:pt x="152084" y="9922"/>
                  <a:pt x="158750" y="16588"/>
                  <a:pt x="158750" y="24805"/>
                </a:cubicBezTo>
                <a:lnTo>
                  <a:pt x="158750" y="54570"/>
                </a:lnTo>
                <a:cubicBezTo>
                  <a:pt x="158750" y="62787"/>
                  <a:pt x="152084" y="69453"/>
                  <a:pt x="143867" y="69453"/>
                </a:cubicBezTo>
                <a:lnTo>
                  <a:pt x="114102" y="69453"/>
                </a:lnTo>
                <a:cubicBezTo>
                  <a:pt x="105885" y="69453"/>
                  <a:pt x="99219" y="62787"/>
                  <a:pt x="99219" y="54570"/>
                </a:cubicBezTo>
                <a:lnTo>
                  <a:pt x="99219" y="49609"/>
                </a:lnTo>
                <a:lnTo>
                  <a:pt x="59531" y="49609"/>
                </a:lnTo>
                <a:lnTo>
                  <a:pt x="59531" y="54570"/>
                </a:lnTo>
                <a:cubicBezTo>
                  <a:pt x="59531" y="56834"/>
                  <a:pt x="59004" y="59004"/>
                  <a:pt x="58105" y="60927"/>
                </a:cubicBezTo>
                <a:lnTo>
                  <a:pt x="79375" y="89297"/>
                </a:lnTo>
                <a:lnTo>
                  <a:pt x="104180" y="89297"/>
                </a:lnTo>
                <a:cubicBezTo>
                  <a:pt x="112396" y="89297"/>
                  <a:pt x="119062" y="95963"/>
                  <a:pt x="119062" y="104180"/>
                </a:cubicBezTo>
                <a:lnTo>
                  <a:pt x="119062" y="133945"/>
                </a:lnTo>
                <a:cubicBezTo>
                  <a:pt x="119062" y="142162"/>
                  <a:pt x="112396" y="148828"/>
                  <a:pt x="104180" y="148828"/>
                </a:cubicBezTo>
                <a:lnTo>
                  <a:pt x="74414" y="148828"/>
                </a:lnTo>
                <a:cubicBezTo>
                  <a:pt x="66198" y="148828"/>
                  <a:pt x="59531" y="142162"/>
                  <a:pt x="59531" y="133945"/>
                </a:cubicBezTo>
                <a:lnTo>
                  <a:pt x="59531" y="104180"/>
                </a:lnTo>
                <a:cubicBezTo>
                  <a:pt x="59531" y="101916"/>
                  <a:pt x="60058" y="99746"/>
                  <a:pt x="60958" y="97823"/>
                </a:cubicBezTo>
                <a:lnTo>
                  <a:pt x="39688" y="69453"/>
                </a:lnTo>
                <a:lnTo>
                  <a:pt x="14883" y="69453"/>
                </a:lnTo>
                <a:cubicBezTo>
                  <a:pt x="6666" y="69453"/>
                  <a:pt x="0" y="62787"/>
                  <a:pt x="0" y="54570"/>
                </a:cubicBezTo>
                <a:lnTo>
                  <a:pt x="0" y="2480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8" name="Text 26"/>
          <p:cNvSpPr/>
          <p:nvPr/>
        </p:nvSpPr>
        <p:spPr>
          <a:xfrm>
            <a:off x="958850" y="4156074"/>
            <a:ext cx="1301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Skip Connections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2600" y="4584699"/>
            <a:ext cx="43338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ResNet introduces </a:t>
            </a: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residual learning</a:t>
            </a: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through skip connections, enabling the training of very deep networks by learning the residual mapping F(x) instead of the direct mapping H(x).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2600" y="5330824"/>
            <a:ext cx="4270375" cy="698500"/>
          </a:xfrm>
          <a:custGeom>
            <a:avLst/>
            <a:gdLst/>
            <a:ahLst/>
            <a:cxnLst/>
            <a:rect l="l" t="t" r="r" b="b"/>
            <a:pathLst>
              <a:path w="4270375" h="698500">
                <a:moveTo>
                  <a:pt x="63501" y="0"/>
                </a:moveTo>
                <a:lnTo>
                  <a:pt x="4206874" y="0"/>
                </a:lnTo>
                <a:cubicBezTo>
                  <a:pt x="4241945" y="0"/>
                  <a:pt x="4270375" y="28430"/>
                  <a:pt x="4270375" y="63501"/>
                </a:cubicBezTo>
                <a:lnTo>
                  <a:pt x="4270375" y="634999"/>
                </a:lnTo>
                <a:cubicBezTo>
                  <a:pt x="4270375" y="670070"/>
                  <a:pt x="4241945" y="698500"/>
                  <a:pt x="4206874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73881" y="5457824"/>
            <a:ext cx="40878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38B2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H(x) = F(x) + x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81819" y="5743574"/>
            <a:ext cx="407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Residual Learning Formula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6412" y="618807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4" name="Text 32"/>
          <p:cNvSpPr/>
          <p:nvPr/>
        </p:nvSpPr>
        <p:spPr>
          <a:xfrm>
            <a:off x="704850" y="6156324"/>
            <a:ext cx="396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Easier Optimization: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Learning small changes is simpler than learning full mapping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06412" y="641032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6" name="Text 34"/>
          <p:cNvSpPr/>
          <p:nvPr/>
        </p:nvSpPr>
        <p:spPr>
          <a:xfrm>
            <a:off x="704850" y="6378574"/>
            <a:ext cx="379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Vanishing Gradients: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Uninterrupted gradient flow during backpropagation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6412" y="663257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8" name="Text 36"/>
          <p:cNvSpPr/>
          <p:nvPr/>
        </p:nvSpPr>
        <p:spPr>
          <a:xfrm>
            <a:off x="704850" y="6600824"/>
            <a:ext cx="3135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Identity Mapping: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If optimal, network can simply output F(x) = 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114924" y="879473"/>
            <a:ext cx="6753225" cy="4927600"/>
          </a:xfrm>
          <a:custGeom>
            <a:avLst/>
            <a:gdLst/>
            <a:ahLst/>
            <a:cxnLst/>
            <a:rect l="l" t="t" r="r" b="b"/>
            <a:pathLst>
              <a:path w="6753225" h="4927600">
                <a:moveTo>
                  <a:pt x="63517" y="0"/>
                </a:moveTo>
                <a:lnTo>
                  <a:pt x="6689708" y="0"/>
                </a:lnTo>
                <a:cubicBezTo>
                  <a:pt x="6724788" y="0"/>
                  <a:pt x="6753225" y="28437"/>
                  <a:pt x="6753225" y="63517"/>
                </a:cubicBezTo>
                <a:lnTo>
                  <a:pt x="6753225" y="4864083"/>
                </a:lnTo>
                <a:cubicBezTo>
                  <a:pt x="6753225" y="4899163"/>
                  <a:pt x="6724788" y="4927600"/>
                  <a:pt x="6689708" y="4927600"/>
                </a:cubicBezTo>
                <a:lnTo>
                  <a:pt x="63517" y="4927600"/>
                </a:lnTo>
                <a:cubicBezTo>
                  <a:pt x="28437" y="4927600"/>
                  <a:pt x="0" y="4899163"/>
                  <a:pt x="0" y="4864083"/>
                </a:cubicBezTo>
                <a:lnTo>
                  <a:pt x="0" y="63517"/>
                </a:lnTo>
                <a:cubicBezTo>
                  <a:pt x="0" y="28461"/>
                  <a:pt x="28461" y="0"/>
                  <a:pt x="63517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76850" y="12445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87975" y="135572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2089" y="1612"/>
                </a:moveTo>
                <a:cubicBezTo>
                  <a:pt x="76708" y="-527"/>
                  <a:pt x="82042" y="-527"/>
                  <a:pt x="86661" y="1612"/>
                </a:cubicBezTo>
                <a:lnTo>
                  <a:pt x="154440" y="32928"/>
                </a:lnTo>
                <a:cubicBezTo>
                  <a:pt x="157076" y="34137"/>
                  <a:pt x="158750" y="36773"/>
                  <a:pt x="158750" y="39688"/>
                </a:cubicBezTo>
                <a:cubicBezTo>
                  <a:pt x="158750" y="42602"/>
                  <a:pt x="157076" y="45238"/>
                  <a:pt x="154440" y="46447"/>
                </a:cubicBezTo>
                <a:lnTo>
                  <a:pt x="86661" y="77763"/>
                </a:lnTo>
                <a:cubicBezTo>
                  <a:pt x="82042" y="79902"/>
                  <a:pt x="76708" y="79902"/>
                  <a:pt x="72089" y="77763"/>
                </a:cubicBezTo>
                <a:lnTo>
                  <a:pt x="4310" y="46447"/>
                </a:lnTo>
                <a:cubicBezTo>
                  <a:pt x="1674" y="45207"/>
                  <a:pt x="0" y="42571"/>
                  <a:pt x="0" y="39688"/>
                </a:cubicBezTo>
                <a:cubicBezTo>
                  <a:pt x="0" y="36804"/>
                  <a:pt x="1674" y="34137"/>
                  <a:pt x="4310" y="32928"/>
                </a:cubicBezTo>
                <a:lnTo>
                  <a:pt x="72089" y="1612"/>
                </a:lnTo>
                <a:close/>
                <a:moveTo>
                  <a:pt x="14914" y="67717"/>
                </a:moveTo>
                <a:lnTo>
                  <a:pt x="65856" y="91250"/>
                </a:lnTo>
                <a:cubicBezTo>
                  <a:pt x="74445" y="95219"/>
                  <a:pt x="84336" y="95219"/>
                  <a:pt x="92925" y="91250"/>
                </a:cubicBezTo>
                <a:lnTo>
                  <a:pt x="143867" y="67717"/>
                </a:lnTo>
                <a:lnTo>
                  <a:pt x="154440" y="72616"/>
                </a:lnTo>
                <a:cubicBezTo>
                  <a:pt x="157076" y="73825"/>
                  <a:pt x="158750" y="76460"/>
                  <a:pt x="158750" y="79375"/>
                </a:cubicBezTo>
                <a:cubicBezTo>
                  <a:pt x="158750" y="82290"/>
                  <a:pt x="157076" y="84925"/>
                  <a:pt x="154440" y="86134"/>
                </a:cubicBezTo>
                <a:lnTo>
                  <a:pt x="86661" y="117450"/>
                </a:lnTo>
                <a:cubicBezTo>
                  <a:pt x="82042" y="119590"/>
                  <a:pt x="76708" y="119590"/>
                  <a:pt x="72089" y="117450"/>
                </a:cubicBezTo>
                <a:lnTo>
                  <a:pt x="4310" y="86134"/>
                </a:lnTo>
                <a:cubicBezTo>
                  <a:pt x="1674" y="84894"/>
                  <a:pt x="0" y="82259"/>
                  <a:pt x="0" y="79375"/>
                </a:cubicBezTo>
                <a:cubicBezTo>
                  <a:pt x="0" y="76491"/>
                  <a:pt x="1674" y="73825"/>
                  <a:pt x="4310" y="72616"/>
                </a:cubicBezTo>
                <a:lnTo>
                  <a:pt x="14883" y="67717"/>
                </a:lnTo>
                <a:close/>
                <a:moveTo>
                  <a:pt x="4310" y="112303"/>
                </a:moveTo>
                <a:lnTo>
                  <a:pt x="14883" y="107404"/>
                </a:lnTo>
                <a:lnTo>
                  <a:pt x="65825" y="130938"/>
                </a:lnTo>
                <a:cubicBezTo>
                  <a:pt x="74414" y="134906"/>
                  <a:pt x="84305" y="134906"/>
                  <a:pt x="92894" y="130938"/>
                </a:cubicBezTo>
                <a:lnTo>
                  <a:pt x="143836" y="107404"/>
                </a:lnTo>
                <a:lnTo>
                  <a:pt x="154409" y="112303"/>
                </a:lnTo>
                <a:cubicBezTo>
                  <a:pt x="157045" y="113512"/>
                  <a:pt x="158719" y="116148"/>
                  <a:pt x="158719" y="119062"/>
                </a:cubicBezTo>
                <a:cubicBezTo>
                  <a:pt x="158719" y="121977"/>
                  <a:pt x="157045" y="124613"/>
                  <a:pt x="154409" y="125822"/>
                </a:cubicBezTo>
                <a:lnTo>
                  <a:pt x="86630" y="157138"/>
                </a:lnTo>
                <a:cubicBezTo>
                  <a:pt x="82010" y="159277"/>
                  <a:pt x="76677" y="159277"/>
                  <a:pt x="72058" y="157138"/>
                </a:cubicBezTo>
                <a:lnTo>
                  <a:pt x="4310" y="125822"/>
                </a:lnTo>
                <a:cubicBezTo>
                  <a:pt x="1674" y="124582"/>
                  <a:pt x="0" y="121946"/>
                  <a:pt x="0" y="119062"/>
                </a:cubicBezTo>
                <a:cubicBezTo>
                  <a:pt x="0" y="116179"/>
                  <a:pt x="1674" y="113512"/>
                  <a:pt x="4310" y="112303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42" name="Text 40"/>
          <p:cNvSpPr/>
          <p:nvPr/>
        </p:nvSpPr>
        <p:spPr>
          <a:xfrm>
            <a:off x="5753100" y="1323973"/>
            <a:ext cx="1643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Overview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276850" y="1752598"/>
            <a:ext cx="6429375" cy="603250"/>
          </a:xfrm>
          <a:custGeom>
            <a:avLst/>
            <a:gdLst/>
            <a:ahLst/>
            <a:cxnLst/>
            <a:rect l="l" t="t" r="r" b="b"/>
            <a:pathLst>
              <a:path w="6429375" h="603250">
                <a:moveTo>
                  <a:pt x="63498" y="0"/>
                </a:moveTo>
                <a:lnTo>
                  <a:pt x="6365877" y="0"/>
                </a:lnTo>
                <a:cubicBezTo>
                  <a:pt x="6400946" y="0"/>
                  <a:pt x="6429375" y="28429"/>
                  <a:pt x="6429375" y="63498"/>
                </a:cubicBezTo>
                <a:lnTo>
                  <a:pt x="6429375" y="539752"/>
                </a:lnTo>
                <a:cubicBezTo>
                  <a:pt x="6429375" y="574821"/>
                  <a:pt x="6400946" y="603250"/>
                  <a:pt x="636587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372100" y="1847848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1: Initial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052175" y="1863723"/>
            <a:ext cx="619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112×112×64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372100" y="2101848"/>
            <a:ext cx="629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7×7 conv, 64 filters + MaxPool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276850" y="2451098"/>
            <a:ext cx="6429375" cy="603250"/>
          </a:xfrm>
          <a:custGeom>
            <a:avLst/>
            <a:gdLst/>
            <a:ahLst/>
            <a:cxnLst/>
            <a:rect l="l" t="t" r="r" b="b"/>
            <a:pathLst>
              <a:path w="6429375" h="603250">
                <a:moveTo>
                  <a:pt x="63498" y="0"/>
                </a:moveTo>
                <a:lnTo>
                  <a:pt x="6365877" y="0"/>
                </a:lnTo>
                <a:cubicBezTo>
                  <a:pt x="6400946" y="0"/>
                  <a:pt x="6429375" y="28429"/>
                  <a:pt x="6429375" y="63498"/>
                </a:cubicBezTo>
                <a:lnTo>
                  <a:pt x="6429375" y="539752"/>
                </a:lnTo>
                <a:cubicBezTo>
                  <a:pt x="6429375" y="574821"/>
                  <a:pt x="6400946" y="603250"/>
                  <a:pt x="636587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372100" y="2546348"/>
            <a:ext cx="10398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2: Conv2_x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035011" y="2562223"/>
            <a:ext cx="63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56×56×256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372100" y="2800348"/>
            <a:ext cx="629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bottleneck blocks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276850" y="3149598"/>
            <a:ext cx="6429375" cy="603250"/>
          </a:xfrm>
          <a:custGeom>
            <a:avLst/>
            <a:gdLst/>
            <a:ahLst/>
            <a:cxnLst/>
            <a:rect l="l" t="t" r="r" b="b"/>
            <a:pathLst>
              <a:path w="6429375" h="603250">
                <a:moveTo>
                  <a:pt x="63498" y="0"/>
                </a:moveTo>
                <a:lnTo>
                  <a:pt x="6365877" y="0"/>
                </a:lnTo>
                <a:cubicBezTo>
                  <a:pt x="6400946" y="0"/>
                  <a:pt x="6429375" y="28429"/>
                  <a:pt x="6429375" y="63498"/>
                </a:cubicBezTo>
                <a:lnTo>
                  <a:pt x="6429375" y="539752"/>
                </a:lnTo>
                <a:cubicBezTo>
                  <a:pt x="6429375" y="574821"/>
                  <a:pt x="6400946" y="603250"/>
                  <a:pt x="636587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5372100" y="3244848"/>
            <a:ext cx="10398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3: Conv3_x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052374" y="3260723"/>
            <a:ext cx="619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28×28×512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372100" y="3498848"/>
            <a:ext cx="629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bottleneck blocks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276850" y="3848098"/>
            <a:ext cx="6429375" cy="603250"/>
          </a:xfrm>
          <a:custGeom>
            <a:avLst/>
            <a:gdLst/>
            <a:ahLst/>
            <a:cxnLst/>
            <a:rect l="l" t="t" r="r" b="b"/>
            <a:pathLst>
              <a:path w="6429375" h="603250">
                <a:moveTo>
                  <a:pt x="63498" y="0"/>
                </a:moveTo>
                <a:lnTo>
                  <a:pt x="6365877" y="0"/>
                </a:lnTo>
                <a:cubicBezTo>
                  <a:pt x="6400946" y="0"/>
                  <a:pt x="6429375" y="28429"/>
                  <a:pt x="6429375" y="63498"/>
                </a:cubicBezTo>
                <a:lnTo>
                  <a:pt x="6429375" y="539752"/>
                </a:lnTo>
                <a:cubicBezTo>
                  <a:pt x="6429375" y="574821"/>
                  <a:pt x="6400946" y="603250"/>
                  <a:pt x="636587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372100" y="3943348"/>
            <a:ext cx="10398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4: Conv4_x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025783" y="3959223"/>
            <a:ext cx="642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14×14×1024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372100" y="4197348"/>
            <a:ext cx="629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bottleneck blocks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276850" y="4546598"/>
            <a:ext cx="6429375" cy="603250"/>
          </a:xfrm>
          <a:custGeom>
            <a:avLst/>
            <a:gdLst/>
            <a:ahLst/>
            <a:cxnLst/>
            <a:rect l="l" t="t" r="r" b="b"/>
            <a:pathLst>
              <a:path w="6429375" h="603250">
                <a:moveTo>
                  <a:pt x="63498" y="0"/>
                </a:moveTo>
                <a:lnTo>
                  <a:pt x="6365877" y="0"/>
                </a:lnTo>
                <a:cubicBezTo>
                  <a:pt x="6400946" y="0"/>
                  <a:pt x="6429375" y="28429"/>
                  <a:pt x="6429375" y="63498"/>
                </a:cubicBezTo>
                <a:lnTo>
                  <a:pt x="6429375" y="539752"/>
                </a:lnTo>
                <a:cubicBezTo>
                  <a:pt x="6429375" y="574821"/>
                  <a:pt x="6400946" y="603250"/>
                  <a:pt x="636587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5372100" y="4641848"/>
            <a:ext cx="103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5: Conv5_x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108035" y="4657723"/>
            <a:ext cx="563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7×7×2048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372100" y="4895848"/>
            <a:ext cx="629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bottleneck blocks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276850" y="5245098"/>
            <a:ext cx="6429375" cy="603250"/>
          </a:xfrm>
          <a:custGeom>
            <a:avLst/>
            <a:gdLst/>
            <a:ahLst/>
            <a:cxnLst/>
            <a:rect l="l" t="t" r="r" b="b"/>
            <a:pathLst>
              <a:path w="6429375" h="603250">
                <a:moveTo>
                  <a:pt x="63498" y="0"/>
                </a:moveTo>
                <a:lnTo>
                  <a:pt x="6365877" y="0"/>
                </a:lnTo>
                <a:cubicBezTo>
                  <a:pt x="6400946" y="0"/>
                  <a:pt x="6429375" y="28429"/>
                  <a:pt x="6429375" y="63498"/>
                </a:cubicBezTo>
                <a:lnTo>
                  <a:pt x="6429375" y="539752"/>
                </a:lnTo>
                <a:cubicBezTo>
                  <a:pt x="6429375" y="574821"/>
                  <a:pt x="6400946" y="603250"/>
                  <a:pt x="636587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5372100" y="5340348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Final: Classification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124804" y="5356223"/>
            <a:ext cx="547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2048 → 2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372100" y="5594348"/>
            <a:ext cx="629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Avg Pool + FC layer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114923" y="5889623"/>
            <a:ext cx="6753225" cy="873126"/>
          </a:xfrm>
          <a:custGeom>
            <a:avLst/>
            <a:gdLst/>
            <a:ahLst/>
            <a:cxnLst/>
            <a:rect l="l" t="t" r="r" b="b"/>
            <a:pathLst>
              <a:path w="6753225" h="1054100">
                <a:moveTo>
                  <a:pt x="63499" y="0"/>
                </a:moveTo>
                <a:lnTo>
                  <a:pt x="6689726" y="0"/>
                </a:lnTo>
                <a:cubicBezTo>
                  <a:pt x="6724796" y="0"/>
                  <a:pt x="6753225" y="28429"/>
                  <a:pt x="6753225" y="63499"/>
                </a:cubicBezTo>
                <a:lnTo>
                  <a:pt x="6753225" y="990601"/>
                </a:lnTo>
                <a:cubicBezTo>
                  <a:pt x="6753225" y="1025671"/>
                  <a:pt x="6724796" y="1054100"/>
                  <a:pt x="6689726" y="1054100"/>
                </a:cubicBezTo>
                <a:lnTo>
                  <a:pt x="63499" y="1054100"/>
                </a:lnTo>
                <a:cubicBezTo>
                  <a:pt x="28429" y="1054100"/>
                  <a:pt x="0" y="1025671"/>
                  <a:pt x="0" y="9906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>
                  <a:alpha val="20000"/>
                </a:srgbClr>
              </a:gs>
              <a:gs pos="100000">
                <a:srgbClr val="38B2AC">
                  <a:alpha val="20000"/>
                </a:srgbClr>
              </a:gs>
            </a:gsLst>
            <a:lin ang="2700000" scaled="1"/>
          </a:gradFill>
          <a:ln w="10160">
            <a:solidFill>
              <a:srgbClr val="3182CE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316537" y="6064249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9" name="Text 67"/>
          <p:cNvSpPr/>
          <p:nvPr/>
        </p:nvSpPr>
        <p:spPr>
          <a:xfrm>
            <a:off x="5570537" y="6032499"/>
            <a:ext cx="163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Used in This Project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276850" y="6349999"/>
            <a:ext cx="6492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ResNet-50 was selected for its proven track record in medical imaging, achieving </a:t>
            </a: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99.43% accuracy</a:t>
            </a: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only </a:t>
            </a: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errors</a:t>
            </a: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out of 523 test images in recent pneumonia detection studies.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12750"/>
            <a:ext cx="63500" cy="381000"/>
          </a:xfrm>
          <a:custGeom>
            <a:avLst/>
            <a:gdLst/>
            <a:ahLst/>
            <a:cxnLst/>
            <a:rect l="l" t="t" r="r" b="b"/>
            <a:pathLst>
              <a:path w="63500" h="3810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49250"/>
                </a:lnTo>
                <a:cubicBezTo>
                  <a:pt x="63500" y="366773"/>
                  <a:pt x="49273" y="381000"/>
                  <a:pt x="31750" y="381000"/>
                </a:cubicBez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31750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508000"/>
            <a:ext cx="336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 Model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5" y="1079500"/>
            <a:ext cx="5667375" cy="3809903"/>
          </a:xfrm>
          <a:custGeom>
            <a:avLst/>
            <a:gdLst/>
            <a:ahLst/>
            <a:cxnLst/>
            <a:rect l="l" t="t" r="r" b="b"/>
            <a:pathLst>
              <a:path w="5667375" h="4905375">
                <a:moveTo>
                  <a:pt x="31750" y="0"/>
                </a:moveTo>
                <a:lnTo>
                  <a:pt x="5603899" y="0"/>
                </a:lnTo>
                <a:cubicBezTo>
                  <a:pt x="5638956" y="0"/>
                  <a:pt x="5667375" y="28419"/>
                  <a:pt x="5667375" y="63476"/>
                </a:cubicBezTo>
                <a:lnTo>
                  <a:pt x="5667375" y="4841899"/>
                </a:lnTo>
                <a:cubicBezTo>
                  <a:pt x="5667375" y="4876956"/>
                  <a:pt x="5638956" y="4905375"/>
                  <a:pt x="5603899" y="4905375"/>
                </a:cubicBezTo>
                <a:lnTo>
                  <a:pt x="31750" y="4905375"/>
                </a:lnTo>
                <a:cubicBezTo>
                  <a:pt x="14227" y="4905375"/>
                  <a:pt x="0" y="4891148"/>
                  <a:pt x="0" y="4873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33375" y="1079500"/>
            <a:ext cx="31750" cy="4905375"/>
          </a:xfrm>
          <a:custGeom>
            <a:avLst/>
            <a:gdLst/>
            <a:ahLst/>
            <a:cxnLst/>
            <a:rect l="l" t="t" r="r" b="b"/>
            <a:pathLst>
              <a:path w="31750" h="4905375">
                <a:moveTo>
                  <a:pt x="31750" y="0"/>
                </a:moveTo>
                <a:lnTo>
                  <a:pt x="31750" y="0"/>
                </a:lnTo>
                <a:lnTo>
                  <a:pt x="31750" y="4905375"/>
                </a:lnTo>
                <a:lnTo>
                  <a:pt x="31750" y="4905375"/>
                </a:lnTo>
                <a:cubicBezTo>
                  <a:pt x="14227" y="4905375"/>
                  <a:pt x="0" y="4891148"/>
                  <a:pt x="0" y="4873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" name="Shape 5"/>
          <p:cNvSpPr/>
          <p:nvPr/>
        </p:nvSpPr>
        <p:spPr>
          <a:xfrm>
            <a:off x="539750" y="12700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78656" y="13970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9" name="Text 7"/>
          <p:cNvSpPr/>
          <p:nvPr/>
        </p:nvSpPr>
        <p:spPr>
          <a:xfrm>
            <a:off x="1111250" y="1365250"/>
            <a:ext cx="1690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Compound Scaling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750" y="1841500"/>
            <a:ext cx="5334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 introduces a novel </a:t>
            </a: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compound scaling method</a:t>
            </a: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uniformly scales all dimensions of depth, width, and resolution with a fixed set of scaling coefficients.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750" y="2381250"/>
            <a:ext cx="5270500" cy="635000"/>
          </a:xfrm>
          <a:custGeom>
            <a:avLst/>
            <a:gdLst/>
            <a:ahLst/>
            <a:cxnLst/>
            <a:rect l="l" t="t" r="r" b="b"/>
            <a:pathLst>
              <a:path w="5270500" h="635000">
                <a:moveTo>
                  <a:pt x="63500" y="0"/>
                </a:moveTo>
                <a:lnTo>
                  <a:pt x="5207000" y="0"/>
                </a:lnTo>
                <a:cubicBezTo>
                  <a:pt x="5242047" y="0"/>
                  <a:pt x="5270500" y="28453"/>
                  <a:pt x="5270500" y="63500"/>
                </a:cubicBezTo>
                <a:lnTo>
                  <a:pt x="5270500" y="571500"/>
                </a:lnTo>
                <a:cubicBezTo>
                  <a:pt x="5270500" y="606547"/>
                  <a:pt x="5242047" y="635000"/>
                  <a:pt x="5207000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31031" y="2508250"/>
            <a:ext cx="168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38B2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 = α^φ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2938" y="2762250"/>
            <a:ext cx="1658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34915" y="2508250"/>
            <a:ext cx="168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38B2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 = β^φ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46821" y="2762250"/>
            <a:ext cx="1658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Width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38799" y="2508250"/>
            <a:ext cx="168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38B2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 = γ^φ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50705" y="2762250"/>
            <a:ext cx="1658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Resolution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3563" y="317490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3143153"/>
            <a:ext cx="3190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Balanced Scaling: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Optimizes all three dimensions simultaneously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3563" y="339715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3365403"/>
            <a:ext cx="3119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 φ: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Controls model complexity with single coefficient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3563" y="361940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3587653"/>
            <a:ext cx="2952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Efficiency: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Achieves better accuracy with fewer parameters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9250" y="5257701"/>
            <a:ext cx="5673725" cy="1054100"/>
          </a:xfrm>
          <a:custGeom>
            <a:avLst/>
            <a:gdLst/>
            <a:ahLst/>
            <a:cxnLst/>
            <a:rect l="l" t="t" r="r" b="b"/>
            <a:pathLst>
              <a:path w="5673725" h="1054100">
                <a:moveTo>
                  <a:pt x="63499" y="0"/>
                </a:moveTo>
                <a:lnTo>
                  <a:pt x="5610226" y="0"/>
                </a:lnTo>
                <a:cubicBezTo>
                  <a:pt x="5645296" y="0"/>
                  <a:pt x="5673725" y="28429"/>
                  <a:pt x="5673725" y="63499"/>
                </a:cubicBezTo>
                <a:lnTo>
                  <a:pt x="5673725" y="990601"/>
                </a:lnTo>
                <a:cubicBezTo>
                  <a:pt x="5673725" y="1025671"/>
                  <a:pt x="5645296" y="1054100"/>
                  <a:pt x="5610226" y="1054100"/>
                </a:cubicBezTo>
                <a:lnTo>
                  <a:pt x="63499" y="1054100"/>
                </a:lnTo>
                <a:cubicBezTo>
                  <a:pt x="28429" y="1054100"/>
                  <a:pt x="0" y="1025671"/>
                  <a:pt x="0" y="9906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>
                  <a:alpha val="20000"/>
                </a:srgbClr>
              </a:gs>
              <a:gs pos="100000">
                <a:srgbClr val="38B2AC">
                  <a:alpha val="20000"/>
                </a:srgbClr>
              </a:gs>
            </a:gsLst>
            <a:lin ang="2700000" scaled="1"/>
          </a:gradFill>
          <a:ln w="10160">
            <a:solidFill>
              <a:srgbClr val="3182CE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4392" y="549265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6" name="Text 24"/>
          <p:cNvSpPr/>
          <p:nvPr/>
        </p:nvSpPr>
        <p:spPr>
          <a:xfrm>
            <a:off x="788393" y="5460903"/>
            <a:ext cx="1000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Innovation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4705" y="5778403"/>
            <a:ext cx="5413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Unlike previous architectures that scale only one dimension, EfficientNet's compound scaling ensures optimal balance between network depth, width, and input resolution.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38875" y="539750"/>
            <a:ext cx="5667375" cy="3111500"/>
          </a:xfrm>
          <a:custGeom>
            <a:avLst/>
            <a:gdLst/>
            <a:ahLst/>
            <a:cxnLst/>
            <a:rect l="l" t="t" r="r" b="b"/>
            <a:pathLst>
              <a:path w="5667375" h="3111500">
                <a:moveTo>
                  <a:pt x="31750" y="0"/>
                </a:moveTo>
                <a:lnTo>
                  <a:pt x="5603869" y="0"/>
                </a:lnTo>
                <a:cubicBezTo>
                  <a:pt x="5638943" y="0"/>
                  <a:pt x="5667375" y="28432"/>
                  <a:pt x="5667375" y="63506"/>
                </a:cubicBezTo>
                <a:lnTo>
                  <a:pt x="5667375" y="3047994"/>
                </a:lnTo>
                <a:cubicBezTo>
                  <a:pt x="5667375" y="3083068"/>
                  <a:pt x="5638943" y="3111500"/>
                  <a:pt x="5603869" y="3111500"/>
                </a:cubicBezTo>
                <a:lnTo>
                  <a:pt x="31750" y="3111500"/>
                </a:lnTo>
                <a:cubicBezTo>
                  <a:pt x="14215" y="3111500"/>
                  <a:pt x="0" y="3097285"/>
                  <a:pt x="0" y="307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38875" y="539750"/>
            <a:ext cx="31750" cy="3111500"/>
          </a:xfrm>
          <a:custGeom>
            <a:avLst/>
            <a:gdLst/>
            <a:ahLst/>
            <a:cxnLst/>
            <a:rect l="l" t="t" r="r" b="b"/>
            <a:pathLst>
              <a:path w="31750" h="3111500">
                <a:moveTo>
                  <a:pt x="31750" y="0"/>
                </a:moveTo>
                <a:lnTo>
                  <a:pt x="31750" y="0"/>
                </a:lnTo>
                <a:lnTo>
                  <a:pt x="31750" y="3111500"/>
                </a:lnTo>
                <a:lnTo>
                  <a:pt x="31750" y="3111500"/>
                </a:lnTo>
                <a:cubicBezTo>
                  <a:pt x="14227" y="3111500"/>
                  <a:pt x="0" y="3097273"/>
                  <a:pt x="0" y="307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5250" y="7302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72250" y="857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6845" y="37"/>
                </a:moveTo>
                <a:cubicBezTo>
                  <a:pt x="180529" y="-260"/>
                  <a:pt x="184138" y="1153"/>
                  <a:pt x="186742" y="3758"/>
                </a:cubicBezTo>
                <a:cubicBezTo>
                  <a:pt x="189347" y="6362"/>
                  <a:pt x="190760" y="9971"/>
                  <a:pt x="190463" y="13655"/>
                </a:cubicBezTo>
                <a:cubicBezTo>
                  <a:pt x="188975" y="31998"/>
                  <a:pt x="183989" y="60610"/>
                  <a:pt x="173236" y="87957"/>
                </a:cubicBezTo>
                <a:cubicBezTo>
                  <a:pt x="172566" y="89632"/>
                  <a:pt x="171190" y="90897"/>
                  <a:pt x="169441" y="91418"/>
                </a:cubicBezTo>
                <a:lnTo>
                  <a:pt x="139340" y="100459"/>
                </a:lnTo>
                <a:cubicBezTo>
                  <a:pt x="137889" y="100905"/>
                  <a:pt x="136922" y="102208"/>
                  <a:pt x="136922" y="103733"/>
                </a:cubicBezTo>
                <a:cubicBezTo>
                  <a:pt x="136922" y="105631"/>
                  <a:pt x="138447" y="107156"/>
                  <a:pt x="140345" y="107156"/>
                </a:cubicBezTo>
                <a:lnTo>
                  <a:pt x="154707" y="107156"/>
                </a:lnTo>
                <a:cubicBezTo>
                  <a:pt x="159172" y="107156"/>
                  <a:pt x="162037" y="111919"/>
                  <a:pt x="159730" y="115751"/>
                </a:cubicBezTo>
                <a:cubicBezTo>
                  <a:pt x="158242" y="118244"/>
                  <a:pt x="156642" y="120662"/>
                  <a:pt x="155004" y="123044"/>
                </a:cubicBezTo>
                <a:cubicBezTo>
                  <a:pt x="154260" y="124123"/>
                  <a:pt x="153144" y="124904"/>
                  <a:pt x="151879" y="125313"/>
                </a:cubicBezTo>
                <a:lnTo>
                  <a:pt x="115528" y="136178"/>
                </a:lnTo>
                <a:cubicBezTo>
                  <a:pt x="114077" y="136624"/>
                  <a:pt x="113109" y="137926"/>
                  <a:pt x="113109" y="139452"/>
                </a:cubicBezTo>
                <a:cubicBezTo>
                  <a:pt x="113109" y="141350"/>
                  <a:pt x="114635" y="142875"/>
                  <a:pt x="116532" y="142875"/>
                </a:cubicBezTo>
                <a:lnTo>
                  <a:pt x="122486" y="142875"/>
                </a:lnTo>
                <a:cubicBezTo>
                  <a:pt x="127918" y="142875"/>
                  <a:pt x="130299" y="149349"/>
                  <a:pt x="125760" y="152326"/>
                </a:cubicBezTo>
                <a:cubicBezTo>
                  <a:pt x="100459" y="169069"/>
                  <a:pt x="74526" y="168436"/>
                  <a:pt x="57894" y="163971"/>
                </a:cubicBezTo>
                <a:cubicBezTo>
                  <a:pt x="53169" y="162706"/>
                  <a:pt x="48964" y="160288"/>
                  <a:pt x="45095" y="157311"/>
                </a:cubicBezTo>
                <a:lnTo>
                  <a:pt x="17859" y="184547"/>
                </a:lnTo>
                <a:cubicBezTo>
                  <a:pt x="14585" y="187821"/>
                  <a:pt x="9227" y="187821"/>
                  <a:pt x="5953" y="184547"/>
                </a:cubicBezTo>
                <a:cubicBezTo>
                  <a:pt x="2679" y="181273"/>
                  <a:pt x="2679" y="175915"/>
                  <a:pt x="5953" y="172641"/>
                </a:cubicBezTo>
                <a:lnTo>
                  <a:pt x="35719" y="142875"/>
                </a:lnTo>
                <a:lnTo>
                  <a:pt x="35905" y="143061"/>
                </a:lnTo>
                <a:cubicBezTo>
                  <a:pt x="36165" y="142577"/>
                  <a:pt x="36500" y="142131"/>
                  <a:pt x="36909" y="141722"/>
                </a:cubicBezTo>
                <a:lnTo>
                  <a:pt x="95250" y="83344"/>
                </a:lnTo>
                <a:cubicBezTo>
                  <a:pt x="98524" y="80070"/>
                  <a:pt x="98524" y="74712"/>
                  <a:pt x="95250" y="71438"/>
                </a:cubicBezTo>
                <a:cubicBezTo>
                  <a:pt x="91976" y="68163"/>
                  <a:pt x="86618" y="68163"/>
                  <a:pt x="83344" y="71438"/>
                </a:cubicBezTo>
                <a:lnTo>
                  <a:pt x="33375" y="121369"/>
                </a:lnTo>
                <a:cubicBezTo>
                  <a:pt x="30063" y="124681"/>
                  <a:pt x="24445" y="123006"/>
                  <a:pt x="24073" y="118318"/>
                </a:cubicBezTo>
                <a:cubicBezTo>
                  <a:pt x="22473" y="98524"/>
                  <a:pt x="27533" y="72517"/>
                  <a:pt x="51085" y="48964"/>
                </a:cubicBezTo>
                <a:cubicBezTo>
                  <a:pt x="84981" y="15069"/>
                  <a:pt x="145666" y="2567"/>
                  <a:pt x="176808" y="37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2" name="Text 30"/>
          <p:cNvSpPr/>
          <p:nvPr/>
        </p:nvSpPr>
        <p:spPr>
          <a:xfrm>
            <a:off x="7016750" y="825500"/>
            <a:ext cx="202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Lightweight &amp; Efficient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45250" y="1301750"/>
            <a:ext cx="2571750" cy="920750"/>
          </a:xfrm>
          <a:custGeom>
            <a:avLst/>
            <a:gdLst/>
            <a:ahLst/>
            <a:cxnLst/>
            <a:rect l="l" t="t" r="r" b="b"/>
            <a:pathLst>
              <a:path w="2571750" h="920750">
                <a:moveTo>
                  <a:pt x="63504" y="0"/>
                </a:moveTo>
                <a:lnTo>
                  <a:pt x="2508246" y="0"/>
                </a:lnTo>
                <a:cubicBezTo>
                  <a:pt x="2543318" y="0"/>
                  <a:pt x="2571750" y="28432"/>
                  <a:pt x="2571750" y="63504"/>
                </a:cubicBezTo>
                <a:lnTo>
                  <a:pt x="2571750" y="857246"/>
                </a:lnTo>
                <a:cubicBezTo>
                  <a:pt x="2571750" y="892318"/>
                  <a:pt x="2543318" y="920750"/>
                  <a:pt x="2508246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500813" y="1428750"/>
            <a:ext cx="24606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 smtClean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4.41M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44469" y="1778000"/>
            <a:ext cx="237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48438" y="1968500"/>
            <a:ext cx="2365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25.6M (ResNet-50)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144000" y="1301750"/>
            <a:ext cx="2571750" cy="920750"/>
          </a:xfrm>
          <a:custGeom>
            <a:avLst/>
            <a:gdLst/>
            <a:ahLst/>
            <a:cxnLst/>
            <a:rect l="l" t="t" r="r" b="b"/>
            <a:pathLst>
              <a:path w="2571750" h="920750">
                <a:moveTo>
                  <a:pt x="63504" y="0"/>
                </a:moveTo>
                <a:lnTo>
                  <a:pt x="2508246" y="0"/>
                </a:lnTo>
                <a:cubicBezTo>
                  <a:pt x="2543318" y="0"/>
                  <a:pt x="2571750" y="28432"/>
                  <a:pt x="2571750" y="63504"/>
                </a:cubicBezTo>
                <a:lnTo>
                  <a:pt x="2571750" y="857246"/>
                </a:lnTo>
                <a:cubicBezTo>
                  <a:pt x="2571750" y="892318"/>
                  <a:pt x="2543318" y="920750"/>
                  <a:pt x="2508246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199563" y="1428750"/>
            <a:ext cx="24606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243219" y="1778000"/>
            <a:ext cx="237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247188" y="1968500"/>
            <a:ext cx="2365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architecture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45250" y="2349403"/>
            <a:ext cx="5270500" cy="1111250"/>
          </a:xfrm>
          <a:custGeom>
            <a:avLst/>
            <a:gdLst/>
            <a:ahLst/>
            <a:cxnLst/>
            <a:rect l="l" t="t" r="r" b="b"/>
            <a:pathLst>
              <a:path w="5270500" h="1111250">
                <a:moveTo>
                  <a:pt x="63497" y="0"/>
                </a:moveTo>
                <a:lnTo>
                  <a:pt x="5207003" y="0"/>
                </a:lnTo>
                <a:cubicBezTo>
                  <a:pt x="5242072" y="0"/>
                  <a:pt x="5270500" y="28428"/>
                  <a:pt x="5270500" y="63497"/>
                </a:cubicBezTo>
                <a:lnTo>
                  <a:pt x="5270500" y="1047753"/>
                </a:lnTo>
                <a:cubicBezTo>
                  <a:pt x="5270500" y="1082822"/>
                  <a:pt x="5242072" y="1111250"/>
                  <a:pt x="5207003" y="1111250"/>
                </a:cubicBezTo>
                <a:lnTo>
                  <a:pt x="63497" y="1111250"/>
                </a:lnTo>
                <a:cubicBezTo>
                  <a:pt x="28428" y="1111250"/>
                  <a:pt x="0" y="1082822"/>
                  <a:pt x="0" y="1047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572250" y="2476403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Components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88125" y="275421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48682" y="-543"/>
                </a:moveTo>
                <a:cubicBezTo>
                  <a:pt x="52980" y="-3017"/>
                  <a:pt x="58276" y="-3017"/>
                  <a:pt x="62573" y="-543"/>
                </a:cubicBezTo>
                <a:lnTo>
                  <a:pt x="100750" y="21487"/>
                </a:lnTo>
                <a:cubicBezTo>
                  <a:pt x="105048" y="23961"/>
                  <a:pt x="107696" y="28563"/>
                  <a:pt x="107696" y="33511"/>
                </a:cubicBezTo>
                <a:lnTo>
                  <a:pt x="107696" y="77570"/>
                </a:lnTo>
                <a:cubicBezTo>
                  <a:pt x="107696" y="82541"/>
                  <a:pt x="105048" y="87120"/>
                  <a:pt x="100750" y="89595"/>
                </a:cubicBezTo>
                <a:lnTo>
                  <a:pt x="62573" y="111668"/>
                </a:lnTo>
                <a:cubicBezTo>
                  <a:pt x="58276" y="114142"/>
                  <a:pt x="52980" y="114142"/>
                  <a:pt x="48682" y="111668"/>
                </a:cubicBezTo>
                <a:lnTo>
                  <a:pt x="10526" y="89638"/>
                </a:lnTo>
                <a:cubicBezTo>
                  <a:pt x="6229" y="87164"/>
                  <a:pt x="3581" y="82562"/>
                  <a:pt x="3581" y="77614"/>
                </a:cubicBezTo>
                <a:lnTo>
                  <a:pt x="3581" y="33555"/>
                </a:lnTo>
                <a:cubicBezTo>
                  <a:pt x="3581" y="28584"/>
                  <a:pt x="6229" y="24005"/>
                  <a:pt x="10526" y="21530"/>
                </a:cubicBezTo>
                <a:lnTo>
                  <a:pt x="48682" y="-543"/>
                </a:lnTo>
                <a:close/>
                <a:moveTo>
                  <a:pt x="93783" y="77592"/>
                </a:moveTo>
                <a:lnTo>
                  <a:pt x="93783" y="41542"/>
                </a:lnTo>
                <a:lnTo>
                  <a:pt x="62573" y="59556"/>
                </a:lnTo>
                <a:lnTo>
                  <a:pt x="62573" y="95607"/>
                </a:lnTo>
                <a:lnTo>
                  <a:pt x="93783" y="77592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44" name="Text 42"/>
          <p:cNvSpPr/>
          <p:nvPr/>
        </p:nvSpPr>
        <p:spPr>
          <a:xfrm>
            <a:off x="6774656" y="2730403"/>
            <a:ext cx="277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MBConv Blocks: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Mobile inverted bottleneck convolution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581180" y="2976466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2508" y="6945"/>
                </a:moveTo>
                <a:cubicBezTo>
                  <a:pt x="44971" y="6945"/>
                  <a:pt x="30928" y="14932"/>
                  <a:pt x="20706" y="24439"/>
                </a:cubicBezTo>
                <a:cubicBezTo>
                  <a:pt x="10548" y="33880"/>
                  <a:pt x="3755" y="45145"/>
                  <a:pt x="521" y="52893"/>
                </a:cubicBezTo>
                <a:cubicBezTo>
                  <a:pt x="-195" y="54608"/>
                  <a:pt x="-195" y="56517"/>
                  <a:pt x="521" y="58232"/>
                </a:cubicBezTo>
                <a:cubicBezTo>
                  <a:pt x="3755" y="65980"/>
                  <a:pt x="10548" y="77267"/>
                  <a:pt x="20706" y="86686"/>
                </a:cubicBezTo>
                <a:cubicBezTo>
                  <a:pt x="30928" y="96171"/>
                  <a:pt x="44971" y="104180"/>
                  <a:pt x="62508" y="104180"/>
                </a:cubicBezTo>
                <a:cubicBezTo>
                  <a:pt x="80045" y="104180"/>
                  <a:pt x="94087" y="96193"/>
                  <a:pt x="104310" y="86686"/>
                </a:cubicBezTo>
                <a:cubicBezTo>
                  <a:pt x="114467" y="77245"/>
                  <a:pt x="121261" y="65980"/>
                  <a:pt x="124495" y="58232"/>
                </a:cubicBezTo>
                <a:cubicBezTo>
                  <a:pt x="125211" y="56517"/>
                  <a:pt x="125211" y="54608"/>
                  <a:pt x="124495" y="52893"/>
                </a:cubicBezTo>
                <a:cubicBezTo>
                  <a:pt x="121261" y="45145"/>
                  <a:pt x="114467" y="33858"/>
                  <a:pt x="104310" y="24439"/>
                </a:cubicBezTo>
                <a:cubicBezTo>
                  <a:pt x="94087" y="14954"/>
                  <a:pt x="80045" y="6945"/>
                  <a:pt x="62508" y="6945"/>
                </a:cubicBezTo>
                <a:close/>
                <a:moveTo>
                  <a:pt x="31254" y="55563"/>
                </a:moveTo>
                <a:cubicBezTo>
                  <a:pt x="31254" y="38313"/>
                  <a:pt x="45258" y="24309"/>
                  <a:pt x="62508" y="24309"/>
                </a:cubicBezTo>
                <a:cubicBezTo>
                  <a:pt x="79757" y="24309"/>
                  <a:pt x="93762" y="38313"/>
                  <a:pt x="93762" y="55563"/>
                </a:cubicBezTo>
                <a:cubicBezTo>
                  <a:pt x="93762" y="72812"/>
                  <a:pt x="79757" y="86816"/>
                  <a:pt x="62508" y="86816"/>
                </a:cubicBezTo>
                <a:cubicBezTo>
                  <a:pt x="45258" y="86816"/>
                  <a:pt x="31254" y="72812"/>
                  <a:pt x="31254" y="55563"/>
                </a:cubicBezTo>
                <a:close/>
                <a:moveTo>
                  <a:pt x="62508" y="41672"/>
                </a:moveTo>
                <a:cubicBezTo>
                  <a:pt x="62508" y="49333"/>
                  <a:pt x="56279" y="55563"/>
                  <a:pt x="48617" y="55563"/>
                </a:cubicBezTo>
                <a:cubicBezTo>
                  <a:pt x="46121" y="55563"/>
                  <a:pt x="43777" y="54911"/>
                  <a:pt x="41737" y="53739"/>
                </a:cubicBezTo>
                <a:cubicBezTo>
                  <a:pt x="41520" y="56105"/>
                  <a:pt x="41715" y="58536"/>
                  <a:pt x="42366" y="60945"/>
                </a:cubicBezTo>
                <a:cubicBezTo>
                  <a:pt x="45340" y="72058"/>
                  <a:pt x="56778" y="78656"/>
                  <a:pt x="67890" y="75682"/>
                </a:cubicBezTo>
                <a:cubicBezTo>
                  <a:pt x="79003" y="72709"/>
                  <a:pt x="85601" y="61271"/>
                  <a:pt x="82628" y="50158"/>
                </a:cubicBezTo>
                <a:cubicBezTo>
                  <a:pt x="79980" y="40239"/>
                  <a:pt x="70582" y="33924"/>
                  <a:pt x="60685" y="34792"/>
                </a:cubicBezTo>
                <a:cubicBezTo>
                  <a:pt x="61835" y="36810"/>
                  <a:pt x="62508" y="39154"/>
                  <a:pt x="62508" y="41672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46" name="Text 44"/>
          <p:cNvSpPr/>
          <p:nvPr/>
        </p:nvSpPr>
        <p:spPr>
          <a:xfrm>
            <a:off x="6774656" y="2952653"/>
            <a:ext cx="227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 Module: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Squeeze-and-excitation attention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588125" y="319871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3891" y="20836"/>
                </a:moveTo>
                <a:cubicBezTo>
                  <a:pt x="13891" y="16994"/>
                  <a:pt x="16994" y="13891"/>
                  <a:pt x="20836" y="13891"/>
                </a:cubicBezTo>
                <a:lnTo>
                  <a:pt x="55563" y="13891"/>
                </a:lnTo>
                <a:cubicBezTo>
                  <a:pt x="59404" y="13891"/>
                  <a:pt x="62508" y="16994"/>
                  <a:pt x="62508" y="20836"/>
                </a:cubicBezTo>
                <a:lnTo>
                  <a:pt x="62508" y="83344"/>
                </a:lnTo>
                <a:lnTo>
                  <a:pt x="83344" y="83344"/>
                </a:lnTo>
                <a:lnTo>
                  <a:pt x="83344" y="55563"/>
                </a:lnTo>
                <a:cubicBezTo>
                  <a:pt x="83344" y="51721"/>
                  <a:pt x="86447" y="48617"/>
                  <a:pt x="90289" y="48617"/>
                </a:cubicBezTo>
                <a:lnTo>
                  <a:pt x="104180" y="48617"/>
                </a:lnTo>
                <a:cubicBezTo>
                  <a:pt x="108021" y="48617"/>
                  <a:pt x="111125" y="51721"/>
                  <a:pt x="111125" y="55563"/>
                </a:cubicBezTo>
                <a:cubicBezTo>
                  <a:pt x="111125" y="59404"/>
                  <a:pt x="108021" y="62508"/>
                  <a:pt x="104180" y="62508"/>
                </a:cubicBezTo>
                <a:lnTo>
                  <a:pt x="97234" y="62508"/>
                </a:lnTo>
                <a:lnTo>
                  <a:pt x="97234" y="90289"/>
                </a:lnTo>
                <a:cubicBezTo>
                  <a:pt x="97234" y="94131"/>
                  <a:pt x="94131" y="97234"/>
                  <a:pt x="90289" y="97234"/>
                </a:cubicBezTo>
                <a:lnTo>
                  <a:pt x="55563" y="97234"/>
                </a:lnTo>
                <a:cubicBezTo>
                  <a:pt x="51721" y="97234"/>
                  <a:pt x="48617" y="94131"/>
                  <a:pt x="48617" y="90289"/>
                </a:cubicBezTo>
                <a:lnTo>
                  <a:pt x="48617" y="27781"/>
                </a:lnTo>
                <a:lnTo>
                  <a:pt x="27781" y="27781"/>
                </a:lnTo>
                <a:lnTo>
                  <a:pt x="27781" y="55563"/>
                </a:lnTo>
                <a:cubicBezTo>
                  <a:pt x="27781" y="59404"/>
                  <a:pt x="24678" y="62508"/>
                  <a:pt x="20836" y="62508"/>
                </a:cubicBezTo>
                <a:lnTo>
                  <a:pt x="6945" y="62508"/>
                </a:lnTo>
                <a:cubicBezTo>
                  <a:pt x="3104" y="62508"/>
                  <a:pt x="0" y="59404"/>
                  <a:pt x="0" y="55563"/>
                </a:cubicBezTo>
                <a:cubicBezTo>
                  <a:pt x="0" y="51721"/>
                  <a:pt x="3104" y="48617"/>
                  <a:pt x="6945" y="48617"/>
                </a:cubicBezTo>
                <a:lnTo>
                  <a:pt x="13891" y="48617"/>
                </a:lnTo>
                <a:lnTo>
                  <a:pt x="13891" y="2083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48" name="Text 46"/>
          <p:cNvSpPr/>
          <p:nvPr/>
        </p:nvSpPr>
        <p:spPr>
          <a:xfrm>
            <a:off x="6774656" y="3174903"/>
            <a:ext cx="1968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Swish Activation:</a:t>
            </a: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Smooth gradient flow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38875" y="3809903"/>
            <a:ext cx="5667375" cy="2857500"/>
          </a:xfrm>
          <a:custGeom>
            <a:avLst/>
            <a:gdLst/>
            <a:ahLst/>
            <a:cxnLst/>
            <a:rect l="l" t="t" r="r" b="b"/>
            <a:pathLst>
              <a:path w="5667375" h="2857500">
                <a:moveTo>
                  <a:pt x="31750" y="0"/>
                </a:moveTo>
                <a:lnTo>
                  <a:pt x="5603881" y="0"/>
                </a:lnTo>
                <a:cubicBezTo>
                  <a:pt x="5638948" y="0"/>
                  <a:pt x="5667375" y="28427"/>
                  <a:pt x="5667375" y="63494"/>
                </a:cubicBezTo>
                <a:lnTo>
                  <a:pt x="5667375" y="2794006"/>
                </a:lnTo>
                <a:cubicBezTo>
                  <a:pt x="5667375" y="2829073"/>
                  <a:pt x="5638948" y="2857500"/>
                  <a:pt x="5603881" y="2857500"/>
                </a:cubicBezTo>
                <a:lnTo>
                  <a:pt x="31750" y="2857500"/>
                </a:lnTo>
                <a:cubicBezTo>
                  <a:pt x="14227" y="2857500"/>
                  <a:pt x="0" y="2843273"/>
                  <a:pt x="0" y="282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238875" y="3809903"/>
            <a:ext cx="31750" cy="2857500"/>
          </a:xfrm>
          <a:custGeom>
            <a:avLst/>
            <a:gdLst/>
            <a:ahLst/>
            <a:cxnLst/>
            <a:rect l="l" t="t" r="r" b="b"/>
            <a:pathLst>
              <a:path w="31750" h="2857500">
                <a:moveTo>
                  <a:pt x="31750" y="0"/>
                </a:moveTo>
                <a:lnTo>
                  <a:pt x="31750" y="0"/>
                </a:lnTo>
                <a:lnTo>
                  <a:pt x="31750" y="2857500"/>
                </a:lnTo>
                <a:lnTo>
                  <a:pt x="31750" y="2857500"/>
                </a:lnTo>
                <a:cubicBezTo>
                  <a:pt x="14227" y="2857500"/>
                  <a:pt x="0" y="2843273"/>
                  <a:pt x="0" y="282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1" name="Shape 49"/>
          <p:cNvSpPr/>
          <p:nvPr/>
        </p:nvSpPr>
        <p:spPr>
          <a:xfrm>
            <a:off x="6445250" y="4000403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572250" y="41274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3" name="Text 51"/>
          <p:cNvSpPr/>
          <p:nvPr/>
        </p:nvSpPr>
        <p:spPr>
          <a:xfrm>
            <a:off x="7016750" y="4095653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Advantages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45250" y="4571903"/>
            <a:ext cx="5270500" cy="571500"/>
          </a:xfrm>
          <a:custGeom>
            <a:avLst/>
            <a:gdLst/>
            <a:ahLst/>
            <a:cxnLst/>
            <a:rect l="l" t="t" r="r" b="b"/>
            <a:pathLst>
              <a:path w="5270500" h="571500">
                <a:moveTo>
                  <a:pt x="63499" y="0"/>
                </a:moveTo>
                <a:lnTo>
                  <a:pt x="5207001" y="0"/>
                </a:lnTo>
                <a:cubicBezTo>
                  <a:pt x="5242070" y="0"/>
                  <a:pt x="5270500" y="28430"/>
                  <a:pt x="5270500" y="63499"/>
                </a:cubicBezTo>
                <a:lnTo>
                  <a:pt x="5270500" y="508001"/>
                </a:lnTo>
                <a:cubicBezTo>
                  <a:pt x="5270500" y="543070"/>
                  <a:pt x="5242070" y="571500"/>
                  <a:pt x="52070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564313" y="469890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84038" y="-2456"/>
                </a:moveTo>
                <a:cubicBezTo>
                  <a:pt x="86990" y="-322"/>
                  <a:pt x="88081" y="3547"/>
                  <a:pt x="86742" y="6921"/>
                </a:cubicBezTo>
                <a:lnTo>
                  <a:pt x="67295" y="55563"/>
                </a:lnTo>
                <a:lnTo>
                  <a:pt x="103188" y="55563"/>
                </a:lnTo>
                <a:cubicBezTo>
                  <a:pt x="106536" y="55563"/>
                  <a:pt x="109513" y="57646"/>
                  <a:pt x="110654" y="60796"/>
                </a:cubicBezTo>
                <a:cubicBezTo>
                  <a:pt x="111795" y="63946"/>
                  <a:pt x="110827" y="67469"/>
                  <a:pt x="108272" y="69602"/>
                </a:cubicBezTo>
                <a:lnTo>
                  <a:pt x="36835" y="129133"/>
                </a:lnTo>
                <a:cubicBezTo>
                  <a:pt x="34032" y="131465"/>
                  <a:pt x="30038" y="131589"/>
                  <a:pt x="27087" y="129456"/>
                </a:cubicBezTo>
                <a:cubicBezTo>
                  <a:pt x="24135" y="127322"/>
                  <a:pt x="23044" y="123453"/>
                  <a:pt x="24383" y="120079"/>
                </a:cubicBezTo>
                <a:lnTo>
                  <a:pt x="43830" y="71438"/>
                </a:lnTo>
                <a:lnTo>
                  <a:pt x="7938" y="71438"/>
                </a:lnTo>
                <a:cubicBezTo>
                  <a:pt x="4589" y="71438"/>
                  <a:pt x="1612" y="69354"/>
                  <a:pt x="471" y="66204"/>
                </a:cubicBezTo>
                <a:cubicBezTo>
                  <a:pt x="-670" y="63054"/>
                  <a:pt x="298" y="59531"/>
                  <a:pt x="2853" y="57398"/>
                </a:cubicBezTo>
                <a:lnTo>
                  <a:pt x="74290" y="-2133"/>
                </a:lnTo>
                <a:cubicBezTo>
                  <a:pt x="77093" y="-4465"/>
                  <a:pt x="81087" y="-4589"/>
                  <a:pt x="84038" y="-245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6" name="Text 54"/>
          <p:cNvSpPr/>
          <p:nvPr/>
        </p:nvSpPr>
        <p:spPr>
          <a:xfrm>
            <a:off x="6762750" y="4667153"/>
            <a:ext cx="1357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4.9× Fewer Parameters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540500" y="4889403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Significantly reduces training time and memory requirements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45250" y="5238653"/>
            <a:ext cx="5270500" cy="571500"/>
          </a:xfrm>
          <a:custGeom>
            <a:avLst/>
            <a:gdLst/>
            <a:ahLst/>
            <a:cxnLst/>
            <a:rect l="l" t="t" r="r" b="b"/>
            <a:pathLst>
              <a:path w="5270500" h="571500">
                <a:moveTo>
                  <a:pt x="63499" y="0"/>
                </a:moveTo>
                <a:lnTo>
                  <a:pt x="5207001" y="0"/>
                </a:lnTo>
                <a:cubicBezTo>
                  <a:pt x="5242070" y="0"/>
                  <a:pt x="5270500" y="28430"/>
                  <a:pt x="5270500" y="63499"/>
                </a:cubicBezTo>
                <a:lnTo>
                  <a:pt x="5270500" y="508001"/>
                </a:lnTo>
                <a:cubicBezTo>
                  <a:pt x="5270500" y="543070"/>
                  <a:pt x="5242070" y="571500"/>
                  <a:pt x="52070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572250" y="5365653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3969" y="15875"/>
                </a:moveTo>
                <a:cubicBezTo>
                  <a:pt x="3969" y="7119"/>
                  <a:pt x="11088" y="0"/>
                  <a:pt x="19844" y="0"/>
                </a:cubicBezTo>
                <a:lnTo>
                  <a:pt x="75406" y="0"/>
                </a:lnTo>
                <a:cubicBezTo>
                  <a:pt x="84162" y="0"/>
                  <a:pt x="91281" y="7119"/>
                  <a:pt x="91281" y="15875"/>
                </a:cubicBezTo>
                <a:lnTo>
                  <a:pt x="91281" y="111125"/>
                </a:lnTo>
                <a:cubicBezTo>
                  <a:pt x="91281" y="119881"/>
                  <a:pt x="84162" y="127000"/>
                  <a:pt x="75406" y="127000"/>
                </a:cubicBezTo>
                <a:lnTo>
                  <a:pt x="19844" y="127000"/>
                </a:lnTo>
                <a:cubicBezTo>
                  <a:pt x="11088" y="127000"/>
                  <a:pt x="3969" y="119881"/>
                  <a:pt x="3969" y="111125"/>
                </a:cubicBezTo>
                <a:lnTo>
                  <a:pt x="3969" y="15875"/>
                </a:lnTo>
                <a:close/>
                <a:moveTo>
                  <a:pt x="19844" y="15875"/>
                </a:moveTo>
                <a:lnTo>
                  <a:pt x="19844" y="91281"/>
                </a:lnTo>
                <a:lnTo>
                  <a:pt x="75406" y="91281"/>
                </a:lnTo>
                <a:lnTo>
                  <a:pt x="75406" y="15875"/>
                </a:lnTo>
                <a:lnTo>
                  <a:pt x="19844" y="15875"/>
                </a:lnTo>
                <a:close/>
                <a:moveTo>
                  <a:pt x="47625" y="117078"/>
                </a:moveTo>
                <a:cubicBezTo>
                  <a:pt x="52015" y="117078"/>
                  <a:pt x="55563" y="113531"/>
                  <a:pt x="55563" y="109141"/>
                </a:cubicBezTo>
                <a:cubicBezTo>
                  <a:pt x="55563" y="104750"/>
                  <a:pt x="52015" y="101203"/>
                  <a:pt x="47625" y="101203"/>
                </a:cubicBezTo>
                <a:cubicBezTo>
                  <a:pt x="43235" y="101203"/>
                  <a:pt x="39688" y="104750"/>
                  <a:pt x="39688" y="109141"/>
                </a:cubicBezTo>
                <a:cubicBezTo>
                  <a:pt x="39688" y="113531"/>
                  <a:pt x="43235" y="117078"/>
                  <a:pt x="47625" y="11707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0" name="Text 58"/>
          <p:cNvSpPr/>
          <p:nvPr/>
        </p:nvSpPr>
        <p:spPr>
          <a:xfrm>
            <a:off x="6762750" y="5333903"/>
            <a:ext cx="143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 Deployment Ready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540500" y="5556153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Suitable for mobile and resource-constrained environments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445250" y="5905403"/>
            <a:ext cx="5270500" cy="571500"/>
          </a:xfrm>
          <a:custGeom>
            <a:avLst/>
            <a:gdLst/>
            <a:ahLst/>
            <a:cxnLst/>
            <a:rect l="l" t="t" r="r" b="b"/>
            <a:pathLst>
              <a:path w="5270500" h="571500">
                <a:moveTo>
                  <a:pt x="63499" y="0"/>
                </a:moveTo>
                <a:lnTo>
                  <a:pt x="5207001" y="0"/>
                </a:lnTo>
                <a:cubicBezTo>
                  <a:pt x="5242070" y="0"/>
                  <a:pt x="5270500" y="28430"/>
                  <a:pt x="5270500" y="63499"/>
                </a:cubicBezTo>
                <a:lnTo>
                  <a:pt x="5270500" y="508001"/>
                </a:lnTo>
                <a:cubicBezTo>
                  <a:pt x="5270500" y="543070"/>
                  <a:pt x="5242070" y="571500"/>
                  <a:pt x="52070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556375" y="603240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5793" y="0"/>
                </a:moveTo>
                <a:lnTo>
                  <a:pt x="91356" y="0"/>
                </a:lnTo>
                <a:cubicBezTo>
                  <a:pt x="97929" y="0"/>
                  <a:pt x="103287" y="5407"/>
                  <a:pt x="103039" y="11956"/>
                </a:cubicBezTo>
                <a:cubicBezTo>
                  <a:pt x="102989" y="13271"/>
                  <a:pt x="102939" y="14585"/>
                  <a:pt x="102865" y="15875"/>
                </a:cubicBezTo>
                <a:lnTo>
                  <a:pt x="115168" y="15875"/>
                </a:lnTo>
                <a:cubicBezTo>
                  <a:pt x="121642" y="15875"/>
                  <a:pt x="127347" y="21233"/>
                  <a:pt x="126851" y="28228"/>
                </a:cubicBezTo>
                <a:cubicBezTo>
                  <a:pt x="124991" y="53950"/>
                  <a:pt x="111844" y="68089"/>
                  <a:pt x="97582" y="75481"/>
                </a:cubicBezTo>
                <a:cubicBezTo>
                  <a:pt x="93663" y="77515"/>
                  <a:pt x="89669" y="79028"/>
                  <a:pt x="85874" y="80144"/>
                </a:cubicBezTo>
                <a:cubicBezTo>
                  <a:pt x="80863" y="87238"/>
                  <a:pt x="75654" y="90984"/>
                  <a:pt x="71512" y="92993"/>
                </a:cubicBezTo>
                <a:lnTo>
                  <a:pt x="71512" y="111125"/>
                </a:lnTo>
                <a:lnTo>
                  <a:pt x="87387" y="111125"/>
                </a:lnTo>
                <a:cubicBezTo>
                  <a:pt x="91777" y="111125"/>
                  <a:pt x="95324" y="114672"/>
                  <a:pt x="95324" y="119063"/>
                </a:cubicBezTo>
                <a:cubicBezTo>
                  <a:pt x="95324" y="123453"/>
                  <a:pt x="91777" y="127000"/>
                  <a:pt x="87387" y="127000"/>
                </a:cubicBezTo>
                <a:lnTo>
                  <a:pt x="39762" y="127000"/>
                </a:lnTo>
                <a:cubicBezTo>
                  <a:pt x="35371" y="127000"/>
                  <a:pt x="31824" y="123453"/>
                  <a:pt x="31824" y="119063"/>
                </a:cubicBezTo>
                <a:cubicBezTo>
                  <a:pt x="31824" y="114672"/>
                  <a:pt x="35371" y="111125"/>
                  <a:pt x="39762" y="111125"/>
                </a:cubicBezTo>
                <a:lnTo>
                  <a:pt x="55637" y="111125"/>
                </a:lnTo>
                <a:lnTo>
                  <a:pt x="55637" y="92993"/>
                </a:lnTo>
                <a:cubicBezTo>
                  <a:pt x="51668" y="91083"/>
                  <a:pt x="46732" y="87536"/>
                  <a:pt x="41920" y="81012"/>
                </a:cubicBezTo>
                <a:cubicBezTo>
                  <a:pt x="37356" y="79821"/>
                  <a:pt x="32395" y="78011"/>
                  <a:pt x="27558" y="75282"/>
                </a:cubicBezTo>
                <a:cubicBezTo>
                  <a:pt x="14139" y="67766"/>
                  <a:pt x="2034" y="53603"/>
                  <a:pt x="298" y="28178"/>
                </a:cubicBezTo>
                <a:cubicBezTo>
                  <a:pt x="-174" y="21208"/>
                  <a:pt x="5507" y="15850"/>
                  <a:pt x="11981" y="15850"/>
                </a:cubicBezTo>
                <a:lnTo>
                  <a:pt x="24284" y="15850"/>
                </a:lnTo>
                <a:cubicBezTo>
                  <a:pt x="24209" y="14560"/>
                  <a:pt x="24160" y="13271"/>
                  <a:pt x="24110" y="11931"/>
                </a:cubicBezTo>
                <a:cubicBezTo>
                  <a:pt x="23862" y="5358"/>
                  <a:pt x="29220" y="-25"/>
                  <a:pt x="35793" y="-25"/>
                </a:cubicBezTo>
                <a:close/>
                <a:moveTo>
                  <a:pt x="25177" y="27781"/>
                </a:moveTo>
                <a:lnTo>
                  <a:pt x="12179" y="27781"/>
                </a:lnTo>
                <a:cubicBezTo>
                  <a:pt x="13717" y="48791"/>
                  <a:pt x="23366" y="59308"/>
                  <a:pt x="33313" y="64889"/>
                </a:cubicBezTo>
                <a:cubicBezTo>
                  <a:pt x="29741" y="55637"/>
                  <a:pt x="26789" y="43557"/>
                  <a:pt x="25177" y="27781"/>
                </a:cubicBezTo>
                <a:close/>
                <a:moveTo>
                  <a:pt x="94258" y="63698"/>
                </a:moveTo>
                <a:cubicBezTo>
                  <a:pt x="104304" y="57795"/>
                  <a:pt x="113382" y="47303"/>
                  <a:pt x="114920" y="27781"/>
                </a:cubicBezTo>
                <a:lnTo>
                  <a:pt x="101947" y="27781"/>
                </a:lnTo>
                <a:cubicBezTo>
                  <a:pt x="100409" y="42887"/>
                  <a:pt x="97631" y="54620"/>
                  <a:pt x="94258" y="6369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4" name="Text 62"/>
          <p:cNvSpPr/>
          <p:nvPr/>
        </p:nvSpPr>
        <p:spPr>
          <a:xfrm>
            <a:off x="6762750" y="6000653"/>
            <a:ext cx="153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State-of-the-Art Accuracy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540500" y="6222903"/>
            <a:ext cx="513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Achieves comparable or better performance than larger models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1755" y="431282"/>
            <a:ext cx="66351" cy="398106"/>
          </a:xfrm>
          <a:custGeom>
            <a:avLst/>
            <a:gdLst/>
            <a:ahLst/>
            <a:cxnLst/>
            <a:rect l="l" t="t" r="r" b="b"/>
            <a:pathLst>
              <a:path w="66351" h="398106">
                <a:moveTo>
                  <a:pt x="33176" y="0"/>
                </a:moveTo>
                <a:lnTo>
                  <a:pt x="33176" y="0"/>
                </a:lnTo>
                <a:cubicBezTo>
                  <a:pt x="51498" y="0"/>
                  <a:pt x="66351" y="14853"/>
                  <a:pt x="66351" y="33176"/>
                </a:cubicBezTo>
                <a:lnTo>
                  <a:pt x="66351" y="364931"/>
                </a:lnTo>
                <a:cubicBezTo>
                  <a:pt x="66351" y="383241"/>
                  <a:pt x="51486" y="398106"/>
                  <a:pt x="33176" y="398106"/>
                </a:cubicBezTo>
                <a:lnTo>
                  <a:pt x="33176" y="398106"/>
                </a:lnTo>
                <a:cubicBezTo>
                  <a:pt x="14865" y="398106"/>
                  <a:pt x="0" y="383241"/>
                  <a:pt x="0" y="364931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" name="Text 1"/>
          <p:cNvSpPr/>
          <p:nvPr/>
        </p:nvSpPr>
        <p:spPr>
          <a:xfrm>
            <a:off x="530808" y="331755"/>
            <a:ext cx="3010678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kern="0" spc="52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0808" y="530808"/>
            <a:ext cx="3143380" cy="398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3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DenseNet Model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5073" y="1131285"/>
            <a:ext cx="4800496" cy="2959256"/>
          </a:xfrm>
          <a:custGeom>
            <a:avLst/>
            <a:gdLst/>
            <a:ahLst/>
            <a:cxnLst/>
            <a:rect l="l" t="t" r="r" b="b"/>
            <a:pathLst>
              <a:path w="4800496" h="2959256">
                <a:moveTo>
                  <a:pt x="66347" y="0"/>
                </a:moveTo>
                <a:lnTo>
                  <a:pt x="4734150" y="0"/>
                </a:lnTo>
                <a:cubicBezTo>
                  <a:pt x="4770792" y="0"/>
                  <a:pt x="4800496" y="29704"/>
                  <a:pt x="4800496" y="66347"/>
                </a:cubicBezTo>
                <a:lnTo>
                  <a:pt x="4800496" y="2892909"/>
                </a:lnTo>
                <a:cubicBezTo>
                  <a:pt x="4800496" y="2929551"/>
                  <a:pt x="4770792" y="2959256"/>
                  <a:pt x="4734150" y="2959256"/>
                </a:cubicBezTo>
                <a:lnTo>
                  <a:pt x="66347" y="2959256"/>
                </a:lnTo>
                <a:cubicBezTo>
                  <a:pt x="29704" y="2959256"/>
                  <a:pt x="0" y="2929551"/>
                  <a:pt x="0" y="2892909"/>
                </a:cubicBezTo>
                <a:lnTo>
                  <a:pt x="0" y="66347"/>
                </a:lnTo>
                <a:cubicBezTo>
                  <a:pt x="0" y="29729"/>
                  <a:pt x="29729" y="0"/>
                  <a:pt x="66347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4268" y="1300482"/>
            <a:ext cx="398106" cy="398106"/>
          </a:xfrm>
          <a:custGeom>
            <a:avLst/>
            <a:gdLst/>
            <a:ahLst/>
            <a:cxnLst/>
            <a:rect l="l" t="t" r="r" b="b"/>
            <a:pathLst>
              <a:path w="398106" h="398106">
                <a:moveTo>
                  <a:pt x="199053" y="0"/>
                </a:moveTo>
                <a:lnTo>
                  <a:pt x="199053" y="0"/>
                </a:lnTo>
                <a:cubicBezTo>
                  <a:pt x="308913" y="0"/>
                  <a:pt x="398106" y="89193"/>
                  <a:pt x="398106" y="199053"/>
                </a:cubicBezTo>
                <a:lnTo>
                  <a:pt x="398106" y="199053"/>
                </a:lnTo>
                <a:cubicBezTo>
                  <a:pt x="398106" y="308913"/>
                  <a:pt x="308913" y="398106"/>
                  <a:pt x="199053" y="398106"/>
                </a:cubicBezTo>
                <a:lnTo>
                  <a:pt x="199053" y="398106"/>
                </a:lnTo>
                <a:cubicBezTo>
                  <a:pt x="89193" y="398106"/>
                  <a:pt x="0" y="308913"/>
                  <a:pt x="0" y="199053"/>
                </a:cubicBezTo>
                <a:lnTo>
                  <a:pt x="0" y="199053"/>
                </a:lnTo>
                <a:cubicBezTo>
                  <a:pt x="0" y="89193"/>
                  <a:pt x="89193" y="0"/>
                  <a:pt x="199053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20382" y="1416597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0" y="25918"/>
                </a:moveTo>
                <a:cubicBezTo>
                  <a:pt x="0" y="17333"/>
                  <a:pt x="6966" y="10367"/>
                  <a:pt x="15551" y="10367"/>
                </a:cubicBezTo>
                <a:lnTo>
                  <a:pt x="46653" y="10367"/>
                </a:lnTo>
                <a:cubicBezTo>
                  <a:pt x="55239" y="10367"/>
                  <a:pt x="62204" y="17333"/>
                  <a:pt x="62204" y="25918"/>
                </a:cubicBezTo>
                <a:lnTo>
                  <a:pt x="62204" y="31102"/>
                </a:lnTo>
                <a:lnTo>
                  <a:pt x="103673" y="31102"/>
                </a:lnTo>
                <a:lnTo>
                  <a:pt x="103673" y="25918"/>
                </a:lnTo>
                <a:cubicBezTo>
                  <a:pt x="103673" y="17333"/>
                  <a:pt x="110639" y="10367"/>
                  <a:pt x="119224" y="10367"/>
                </a:cubicBezTo>
                <a:lnTo>
                  <a:pt x="150327" y="10367"/>
                </a:lnTo>
                <a:cubicBezTo>
                  <a:pt x="158912" y="10367"/>
                  <a:pt x="165878" y="17333"/>
                  <a:pt x="165878" y="25918"/>
                </a:cubicBezTo>
                <a:lnTo>
                  <a:pt x="165878" y="57020"/>
                </a:lnTo>
                <a:cubicBezTo>
                  <a:pt x="165878" y="65606"/>
                  <a:pt x="158912" y="72571"/>
                  <a:pt x="150327" y="72571"/>
                </a:cubicBezTo>
                <a:lnTo>
                  <a:pt x="119224" y="72571"/>
                </a:lnTo>
                <a:cubicBezTo>
                  <a:pt x="110639" y="72571"/>
                  <a:pt x="103673" y="65606"/>
                  <a:pt x="103673" y="57020"/>
                </a:cubicBezTo>
                <a:lnTo>
                  <a:pt x="103673" y="51837"/>
                </a:lnTo>
                <a:lnTo>
                  <a:pt x="62204" y="51837"/>
                </a:lnTo>
                <a:lnTo>
                  <a:pt x="62204" y="57020"/>
                </a:lnTo>
                <a:cubicBezTo>
                  <a:pt x="62204" y="59385"/>
                  <a:pt x="61653" y="61653"/>
                  <a:pt x="60714" y="63662"/>
                </a:cubicBezTo>
                <a:lnTo>
                  <a:pt x="82939" y="93306"/>
                </a:lnTo>
                <a:lnTo>
                  <a:pt x="108857" y="93306"/>
                </a:lnTo>
                <a:cubicBezTo>
                  <a:pt x="117443" y="93306"/>
                  <a:pt x="124408" y="100272"/>
                  <a:pt x="124408" y="108857"/>
                </a:cubicBezTo>
                <a:lnTo>
                  <a:pt x="124408" y="139959"/>
                </a:lnTo>
                <a:cubicBezTo>
                  <a:pt x="124408" y="148545"/>
                  <a:pt x="117443" y="155510"/>
                  <a:pt x="108857" y="155510"/>
                </a:cubicBezTo>
                <a:lnTo>
                  <a:pt x="77755" y="155510"/>
                </a:lnTo>
                <a:cubicBezTo>
                  <a:pt x="69170" y="155510"/>
                  <a:pt x="62204" y="148545"/>
                  <a:pt x="62204" y="139959"/>
                </a:cubicBezTo>
                <a:lnTo>
                  <a:pt x="62204" y="108857"/>
                </a:lnTo>
                <a:cubicBezTo>
                  <a:pt x="62204" y="106492"/>
                  <a:pt x="62755" y="104224"/>
                  <a:pt x="63694" y="102216"/>
                </a:cubicBezTo>
                <a:lnTo>
                  <a:pt x="41469" y="72571"/>
                </a:lnTo>
                <a:lnTo>
                  <a:pt x="15551" y="72571"/>
                </a:lnTo>
                <a:cubicBezTo>
                  <a:pt x="6966" y="72571"/>
                  <a:pt x="0" y="65606"/>
                  <a:pt x="0" y="57020"/>
                </a:cubicBezTo>
                <a:lnTo>
                  <a:pt x="0" y="25918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1001900" y="1383421"/>
            <a:ext cx="1509486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Connectivity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4268" y="1831291"/>
            <a:ext cx="4528457" cy="431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DenseNet connects each layer to every other layer in a feed-forward fashion. In a dense block with L layers, there are L(L+1)/2 direct connections.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4268" y="2395274"/>
            <a:ext cx="4462106" cy="729861"/>
          </a:xfrm>
          <a:custGeom>
            <a:avLst/>
            <a:gdLst/>
            <a:ahLst/>
            <a:cxnLst/>
            <a:rect l="l" t="t" r="r" b="b"/>
            <a:pathLst>
              <a:path w="4462106" h="729861">
                <a:moveTo>
                  <a:pt x="66352" y="0"/>
                </a:moveTo>
                <a:lnTo>
                  <a:pt x="4395754" y="0"/>
                </a:lnTo>
                <a:cubicBezTo>
                  <a:pt x="4432399" y="0"/>
                  <a:pt x="4462106" y="29707"/>
                  <a:pt x="4462106" y="66352"/>
                </a:cubicBezTo>
                <a:lnTo>
                  <a:pt x="4462106" y="663510"/>
                </a:lnTo>
                <a:cubicBezTo>
                  <a:pt x="4462106" y="700155"/>
                  <a:pt x="4432399" y="729861"/>
                  <a:pt x="4395754" y="729861"/>
                </a:cubicBezTo>
                <a:lnTo>
                  <a:pt x="66352" y="729861"/>
                </a:lnTo>
                <a:cubicBezTo>
                  <a:pt x="29707" y="729861"/>
                  <a:pt x="0" y="700155"/>
                  <a:pt x="0" y="663510"/>
                </a:cubicBezTo>
                <a:lnTo>
                  <a:pt x="0" y="66352"/>
                </a:lnTo>
                <a:cubicBezTo>
                  <a:pt x="0" y="29707"/>
                  <a:pt x="29707" y="0"/>
                  <a:pt x="6635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9647" y="2527976"/>
            <a:ext cx="4271347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6" dirty="0">
                <a:solidFill>
                  <a:srgbClr val="38B2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x_l = H_l([x_0, x_1, ..., x_{l-1}])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7941" y="2826552"/>
            <a:ext cx="4254759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4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layer receives features from all preceding layers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4268" y="3257833"/>
            <a:ext cx="2181290" cy="663510"/>
          </a:xfrm>
          <a:custGeom>
            <a:avLst/>
            <a:gdLst/>
            <a:ahLst/>
            <a:cxnLst/>
            <a:rect l="l" t="t" r="r" b="b"/>
            <a:pathLst>
              <a:path w="2181290" h="663510">
                <a:moveTo>
                  <a:pt x="66351" y="0"/>
                </a:moveTo>
                <a:lnTo>
                  <a:pt x="2114939" y="0"/>
                </a:lnTo>
                <a:cubicBezTo>
                  <a:pt x="2151583" y="0"/>
                  <a:pt x="2181290" y="29706"/>
                  <a:pt x="2181290" y="66351"/>
                </a:cubicBezTo>
                <a:lnTo>
                  <a:pt x="2181290" y="597159"/>
                </a:lnTo>
                <a:cubicBezTo>
                  <a:pt x="2181290" y="633804"/>
                  <a:pt x="2151583" y="663510"/>
                  <a:pt x="2114939" y="663510"/>
                </a:cubicBezTo>
                <a:lnTo>
                  <a:pt x="66351" y="663510"/>
                </a:lnTo>
                <a:cubicBezTo>
                  <a:pt x="29731" y="663510"/>
                  <a:pt x="0" y="633779"/>
                  <a:pt x="0" y="597159"/>
                </a:cubicBezTo>
                <a:lnTo>
                  <a:pt x="0" y="66351"/>
                </a:lnTo>
                <a:cubicBezTo>
                  <a:pt x="0" y="29731"/>
                  <a:pt x="29731" y="0"/>
                  <a:pt x="6635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1590" y="3357360"/>
            <a:ext cx="2106645" cy="29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59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4766" y="3655940"/>
            <a:ext cx="2040294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4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Layers (DenseNet121)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86743" y="3257833"/>
            <a:ext cx="2181290" cy="663510"/>
          </a:xfrm>
          <a:custGeom>
            <a:avLst/>
            <a:gdLst/>
            <a:ahLst/>
            <a:cxnLst/>
            <a:rect l="l" t="t" r="r" b="b"/>
            <a:pathLst>
              <a:path w="2181290" h="663510">
                <a:moveTo>
                  <a:pt x="66351" y="0"/>
                </a:moveTo>
                <a:lnTo>
                  <a:pt x="2114939" y="0"/>
                </a:lnTo>
                <a:cubicBezTo>
                  <a:pt x="2151583" y="0"/>
                  <a:pt x="2181290" y="29706"/>
                  <a:pt x="2181290" y="66351"/>
                </a:cubicBezTo>
                <a:lnTo>
                  <a:pt x="2181290" y="597159"/>
                </a:lnTo>
                <a:cubicBezTo>
                  <a:pt x="2181290" y="633804"/>
                  <a:pt x="2151583" y="663510"/>
                  <a:pt x="2114939" y="663510"/>
                </a:cubicBezTo>
                <a:lnTo>
                  <a:pt x="66351" y="663510"/>
                </a:lnTo>
                <a:cubicBezTo>
                  <a:pt x="29731" y="663510"/>
                  <a:pt x="0" y="633779"/>
                  <a:pt x="0" y="597159"/>
                </a:cubicBezTo>
                <a:lnTo>
                  <a:pt x="0" y="66351"/>
                </a:lnTo>
                <a:cubicBezTo>
                  <a:pt x="0" y="29731"/>
                  <a:pt x="29731" y="0"/>
                  <a:pt x="6635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824065" y="3357360"/>
            <a:ext cx="2106645" cy="29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59" b="1" dirty="0" smtClean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7.33M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57241" y="3655940"/>
            <a:ext cx="2040294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4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5073" y="4263058"/>
            <a:ext cx="4800496" cy="2063517"/>
          </a:xfrm>
          <a:custGeom>
            <a:avLst/>
            <a:gdLst/>
            <a:ahLst/>
            <a:cxnLst/>
            <a:rect l="l" t="t" r="r" b="b"/>
            <a:pathLst>
              <a:path w="4800496" h="2063517">
                <a:moveTo>
                  <a:pt x="66342" y="0"/>
                </a:moveTo>
                <a:lnTo>
                  <a:pt x="4734154" y="0"/>
                </a:lnTo>
                <a:cubicBezTo>
                  <a:pt x="4770794" y="0"/>
                  <a:pt x="4800496" y="29702"/>
                  <a:pt x="4800496" y="66342"/>
                </a:cubicBezTo>
                <a:lnTo>
                  <a:pt x="4800496" y="1997175"/>
                </a:lnTo>
                <a:cubicBezTo>
                  <a:pt x="4800496" y="2033814"/>
                  <a:pt x="4770794" y="2063517"/>
                  <a:pt x="4734154" y="2063517"/>
                </a:cubicBezTo>
                <a:lnTo>
                  <a:pt x="66342" y="2063517"/>
                </a:lnTo>
                <a:cubicBezTo>
                  <a:pt x="29727" y="2063517"/>
                  <a:pt x="0" y="2033790"/>
                  <a:pt x="0" y="1997175"/>
                </a:cubicBezTo>
                <a:lnTo>
                  <a:pt x="0" y="66342"/>
                </a:lnTo>
                <a:cubicBezTo>
                  <a:pt x="0" y="29727"/>
                  <a:pt x="29727" y="0"/>
                  <a:pt x="6634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4268" y="4432251"/>
            <a:ext cx="398106" cy="398106"/>
          </a:xfrm>
          <a:custGeom>
            <a:avLst/>
            <a:gdLst/>
            <a:ahLst/>
            <a:cxnLst/>
            <a:rect l="l" t="t" r="r" b="b"/>
            <a:pathLst>
              <a:path w="398106" h="398106">
                <a:moveTo>
                  <a:pt x="199053" y="0"/>
                </a:moveTo>
                <a:lnTo>
                  <a:pt x="199053" y="0"/>
                </a:lnTo>
                <a:cubicBezTo>
                  <a:pt x="308913" y="0"/>
                  <a:pt x="398106" y="89193"/>
                  <a:pt x="398106" y="199053"/>
                </a:cubicBezTo>
                <a:lnTo>
                  <a:pt x="398106" y="199053"/>
                </a:lnTo>
                <a:cubicBezTo>
                  <a:pt x="398106" y="308913"/>
                  <a:pt x="308913" y="398106"/>
                  <a:pt x="199053" y="398106"/>
                </a:cubicBezTo>
                <a:lnTo>
                  <a:pt x="199053" y="398106"/>
                </a:lnTo>
                <a:cubicBezTo>
                  <a:pt x="89193" y="398106"/>
                  <a:pt x="0" y="308913"/>
                  <a:pt x="0" y="199053"/>
                </a:cubicBezTo>
                <a:lnTo>
                  <a:pt x="0" y="199053"/>
                </a:lnTo>
                <a:cubicBezTo>
                  <a:pt x="0" y="89193"/>
                  <a:pt x="89193" y="0"/>
                  <a:pt x="19905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20382" y="4548366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49342" y="19439"/>
                </a:moveTo>
                <a:cubicBezTo>
                  <a:pt x="64310" y="-6480"/>
                  <a:pt x="101730" y="-6480"/>
                  <a:pt x="116697" y="19439"/>
                </a:cubicBezTo>
                <a:lnTo>
                  <a:pt x="128782" y="40368"/>
                </a:lnTo>
                <a:lnTo>
                  <a:pt x="137756" y="35184"/>
                </a:lnTo>
                <a:cubicBezTo>
                  <a:pt x="140478" y="33597"/>
                  <a:pt x="143879" y="33823"/>
                  <a:pt x="146374" y="35735"/>
                </a:cubicBezTo>
                <a:cubicBezTo>
                  <a:pt x="148869" y="37646"/>
                  <a:pt x="149970" y="40886"/>
                  <a:pt x="149160" y="43932"/>
                </a:cubicBezTo>
                <a:lnTo>
                  <a:pt x="141547" y="72247"/>
                </a:lnTo>
                <a:cubicBezTo>
                  <a:pt x="140445" y="76394"/>
                  <a:pt x="136169" y="78857"/>
                  <a:pt x="132022" y="77755"/>
                </a:cubicBezTo>
                <a:lnTo>
                  <a:pt x="103706" y="70174"/>
                </a:lnTo>
                <a:cubicBezTo>
                  <a:pt x="100660" y="69364"/>
                  <a:pt x="98425" y="66805"/>
                  <a:pt x="98004" y="63694"/>
                </a:cubicBezTo>
                <a:cubicBezTo>
                  <a:pt x="97583" y="60584"/>
                  <a:pt x="99105" y="57506"/>
                  <a:pt x="101827" y="55951"/>
                </a:cubicBezTo>
                <a:lnTo>
                  <a:pt x="110801" y="50768"/>
                </a:lnTo>
                <a:lnTo>
                  <a:pt x="98717" y="29839"/>
                </a:lnTo>
                <a:cubicBezTo>
                  <a:pt x="91719" y="17754"/>
                  <a:pt x="74289" y="17754"/>
                  <a:pt x="67291" y="29839"/>
                </a:cubicBezTo>
                <a:lnTo>
                  <a:pt x="65573" y="32787"/>
                </a:lnTo>
                <a:cubicBezTo>
                  <a:pt x="62722" y="37744"/>
                  <a:pt x="56372" y="39428"/>
                  <a:pt x="51416" y="36577"/>
                </a:cubicBezTo>
                <a:cubicBezTo>
                  <a:pt x="46459" y="33726"/>
                  <a:pt x="44774" y="27376"/>
                  <a:pt x="47625" y="22387"/>
                </a:cubicBezTo>
                <a:lnTo>
                  <a:pt x="49342" y="19439"/>
                </a:lnTo>
                <a:close/>
                <a:moveTo>
                  <a:pt x="145694" y="90423"/>
                </a:moveTo>
                <a:cubicBezTo>
                  <a:pt x="150651" y="87572"/>
                  <a:pt x="157001" y="89256"/>
                  <a:pt x="159852" y="94213"/>
                </a:cubicBezTo>
                <a:lnTo>
                  <a:pt x="161569" y="97161"/>
                </a:lnTo>
                <a:cubicBezTo>
                  <a:pt x="176536" y="123080"/>
                  <a:pt x="157843" y="155478"/>
                  <a:pt x="127907" y="155478"/>
                </a:cubicBezTo>
                <a:lnTo>
                  <a:pt x="103738" y="155478"/>
                </a:lnTo>
                <a:lnTo>
                  <a:pt x="103738" y="165845"/>
                </a:lnTo>
                <a:cubicBezTo>
                  <a:pt x="103738" y="168988"/>
                  <a:pt x="101859" y="171839"/>
                  <a:pt x="98943" y="173038"/>
                </a:cubicBezTo>
                <a:cubicBezTo>
                  <a:pt x="96028" y="174236"/>
                  <a:pt x="92691" y="173588"/>
                  <a:pt x="90455" y="171353"/>
                </a:cubicBezTo>
                <a:lnTo>
                  <a:pt x="69720" y="150618"/>
                </a:lnTo>
                <a:cubicBezTo>
                  <a:pt x="66675" y="147573"/>
                  <a:pt x="66675" y="142648"/>
                  <a:pt x="69720" y="139635"/>
                </a:cubicBezTo>
                <a:lnTo>
                  <a:pt x="90455" y="118901"/>
                </a:lnTo>
                <a:cubicBezTo>
                  <a:pt x="92691" y="116665"/>
                  <a:pt x="96028" y="116017"/>
                  <a:pt x="98943" y="117216"/>
                </a:cubicBezTo>
                <a:cubicBezTo>
                  <a:pt x="101859" y="118415"/>
                  <a:pt x="103738" y="121266"/>
                  <a:pt x="103738" y="124408"/>
                </a:cubicBezTo>
                <a:lnTo>
                  <a:pt x="103738" y="134776"/>
                </a:lnTo>
                <a:lnTo>
                  <a:pt x="127907" y="134776"/>
                </a:lnTo>
                <a:cubicBezTo>
                  <a:pt x="141871" y="134776"/>
                  <a:pt x="150618" y="119646"/>
                  <a:pt x="143620" y="107561"/>
                </a:cubicBezTo>
                <a:lnTo>
                  <a:pt x="141903" y="104613"/>
                </a:lnTo>
                <a:cubicBezTo>
                  <a:pt x="139052" y="99656"/>
                  <a:pt x="140737" y="93306"/>
                  <a:pt x="145694" y="90455"/>
                </a:cubicBezTo>
                <a:close/>
                <a:moveTo>
                  <a:pt x="16523" y="76265"/>
                </a:moveTo>
                <a:lnTo>
                  <a:pt x="7549" y="71081"/>
                </a:lnTo>
                <a:cubicBezTo>
                  <a:pt x="4827" y="69494"/>
                  <a:pt x="3305" y="66448"/>
                  <a:pt x="3726" y="63338"/>
                </a:cubicBezTo>
                <a:cubicBezTo>
                  <a:pt x="4147" y="60228"/>
                  <a:pt x="6382" y="57668"/>
                  <a:pt x="9428" y="56858"/>
                </a:cubicBezTo>
                <a:lnTo>
                  <a:pt x="37744" y="49245"/>
                </a:lnTo>
                <a:cubicBezTo>
                  <a:pt x="41891" y="48143"/>
                  <a:pt x="46167" y="50606"/>
                  <a:pt x="47269" y="54753"/>
                </a:cubicBezTo>
                <a:lnTo>
                  <a:pt x="54850" y="83068"/>
                </a:lnTo>
                <a:cubicBezTo>
                  <a:pt x="55660" y="86114"/>
                  <a:pt x="54558" y="89321"/>
                  <a:pt x="52064" y="91265"/>
                </a:cubicBezTo>
                <a:cubicBezTo>
                  <a:pt x="49569" y="93209"/>
                  <a:pt x="46167" y="93403"/>
                  <a:pt x="43446" y="91816"/>
                </a:cubicBezTo>
                <a:lnTo>
                  <a:pt x="34471" y="86632"/>
                </a:lnTo>
                <a:lnTo>
                  <a:pt x="22387" y="107561"/>
                </a:lnTo>
                <a:cubicBezTo>
                  <a:pt x="15389" y="119646"/>
                  <a:pt x="24136" y="134776"/>
                  <a:pt x="38100" y="134776"/>
                </a:cubicBezTo>
                <a:lnTo>
                  <a:pt x="41534" y="134776"/>
                </a:lnTo>
                <a:cubicBezTo>
                  <a:pt x="47269" y="134776"/>
                  <a:pt x="51902" y="139408"/>
                  <a:pt x="51902" y="145143"/>
                </a:cubicBezTo>
                <a:cubicBezTo>
                  <a:pt x="51902" y="150877"/>
                  <a:pt x="47269" y="155510"/>
                  <a:pt x="41534" y="155510"/>
                </a:cubicBezTo>
                <a:lnTo>
                  <a:pt x="38100" y="155510"/>
                </a:lnTo>
                <a:cubicBezTo>
                  <a:pt x="8197" y="155510"/>
                  <a:pt x="-10497" y="123112"/>
                  <a:pt x="4471" y="97194"/>
                </a:cubicBezTo>
                <a:lnTo>
                  <a:pt x="16523" y="7626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2" name="Text 20"/>
          <p:cNvSpPr/>
          <p:nvPr/>
        </p:nvSpPr>
        <p:spPr>
          <a:xfrm>
            <a:off x="1001900" y="4515190"/>
            <a:ext cx="1127967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Reuse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4268" y="4963060"/>
            <a:ext cx="4528457" cy="431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connectivity enables maximum feature reuse, allowing the network to learn more compact and differentiated features with fewer parameters.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9149" y="5560219"/>
            <a:ext cx="116114" cy="132702"/>
          </a:xfrm>
          <a:custGeom>
            <a:avLst/>
            <a:gdLst/>
            <a:ahLst/>
            <a:cxnLst/>
            <a:rect l="l" t="t" r="r" b="b"/>
            <a:pathLst>
              <a:path w="116114" h="132702">
                <a:moveTo>
                  <a:pt x="112693" y="18169"/>
                </a:moveTo>
                <a:cubicBezTo>
                  <a:pt x="116399" y="20864"/>
                  <a:pt x="117229" y="26048"/>
                  <a:pt x="114533" y="29754"/>
                </a:cubicBezTo>
                <a:lnTo>
                  <a:pt x="48182" y="120987"/>
                </a:lnTo>
                <a:cubicBezTo>
                  <a:pt x="46757" y="122957"/>
                  <a:pt x="44554" y="124175"/>
                  <a:pt x="42117" y="124382"/>
                </a:cubicBezTo>
                <a:cubicBezTo>
                  <a:pt x="39681" y="124590"/>
                  <a:pt x="37322" y="123682"/>
                  <a:pt x="35612" y="121972"/>
                </a:cubicBezTo>
                <a:lnTo>
                  <a:pt x="2436" y="88796"/>
                </a:lnTo>
                <a:cubicBezTo>
                  <a:pt x="-803" y="85557"/>
                  <a:pt x="-803" y="80295"/>
                  <a:pt x="2436" y="77055"/>
                </a:cubicBezTo>
                <a:cubicBezTo>
                  <a:pt x="5676" y="73816"/>
                  <a:pt x="10938" y="73816"/>
                  <a:pt x="14177" y="77055"/>
                </a:cubicBezTo>
                <a:lnTo>
                  <a:pt x="40484" y="103362"/>
                </a:lnTo>
                <a:lnTo>
                  <a:pt x="101133" y="19983"/>
                </a:lnTo>
                <a:cubicBezTo>
                  <a:pt x="103829" y="16277"/>
                  <a:pt x="109013" y="15447"/>
                  <a:pt x="112719" y="18143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25" name="Text 23"/>
          <p:cNvSpPr/>
          <p:nvPr/>
        </p:nvSpPr>
        <p:spPr>
          <a:xfrm>
            <a:off x="736496" y="5527043"/>
            <a:ext cx="2861388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 Efficiency:</a:t>
            </a:r>
            <a:r>
              <a:rPr lang="en-US" sz="914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Narrower layers with fewer filters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9149" y="5792447"/>
            <a:ext cx="116114" cy="132702"/>
          </a:xfrm>
          <a:custGeom>
            <a:avLst/>
            <a:gdLst/>
            <a:ahLst/>
            <a:cxnLst/>
            <a:rect l="l" t="t" r="r" b="b"/>
            <a:pathLst>
              <a:path w="116114" h="132702">
                <a:moveTo>
                  <a:pt x="112693" y="18169"/>
                </a:moveTo>
                <a:cubicBezTo>
                  <a:pt x="116399" y="20864"/>
                  <a:pt x="117229" y="26048"/>
                  <a:pt x="114533" y="29754"/>
                </a:cubicBezTo>
                <a:lnTo>
                  <a:pt x="48182" y="120987"/>
                </a:lnTo>
                <a:cubicBezTo>
                  <a:pt x="46757" y="122957"/>
                  <a:pt x="44554" y="124175"/>
                  <a:pt x="42117" y="124382"/>
                </a:cubicBezTo>
                <a:cubicBezTo>
                  <a:pt x="39681" y="124590"/>
                  <a:pt x="37322" y="123682"/>
                  <a:pt x="35612" y="121972"/>
                </a:cubicBezTo>
                <a:lnTo>
                  <a:pt x="2436" y="88796"/>
                </a:lnTo>
                <a:cubicBezTo>
                  <a:pt x="-803" y="85557"/>
                  <a:pt x="-803" y="80295"/>
                  <a:pt x="2436" y="77055"/>
                </a:cubicBezTo>
                <a:cubicBezTo>
                  <a:pt x="5676" y="73816"/>
                  <a:pt x="10938" y="73816"/>
                  <a:pt x="14177" y="77055"/>
                </a:cubicBezTo>
                <a:lnTo>
                  <a:pt x="40484" y="103362"/>
                </a:lnTo>
                <a:lnTo>
                  <a:pt x="101133" y="19983"/>
                </a:lnTo>
                <a:cubicBezTo>
                  <a:pt x="103829" y="16277"/>
                  <a:pt x="109013" y="15447"/>
                  <a:pt x="112719" y="18143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27" name="Text 25"/>
          <p:cNvSpPr/>
          <p:nvPr/>
        </p:nvSpPr>
        <p:spPr>
          <a:xfrm>
            <a:off x="736496" y="5759272"/>
            <a:ext cx="3292669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Flow:</a:t>
            </a:r>
            <a:r>
              <a:rPr lang="en-US" sz="914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Enhanced gradient and information propagation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9149" y="6024676"/>
            <a:ext cx="116114" cy="132702"/>
          </a:xfrm>
          <a:custGeom>
            <a:avLst/>
            <a:gdLst/>
            <a:ahLst/>
            <a:cxnLst/>
            <a:rect l="l" t="t" r="r" b="b"/>
            <a:pathLst>
              <a:path w="116114" h="132702">
                <a:moveTo>
                  <a:pt x="112693" y="18169"/>
                </a:moveTo>
                <a:cubicBezTo>
                  <a:pt x="116399" y="20864"/>
                  <a:pt x="117229" y="26048"/>
                  <a:pt x="114533" y="29754"/>
                </a:cubicBezTo>
                <a:lnTo>
                  <a:pt x="48182" y="120987"/>
                </a:lnTo>
                <a:cubicBezTo>
                  <a:pt x="46757" y="122957"/>
                  <a:pt x="44554" y="124175"/>
                  <a:pt x="42117" y="124382"/>
                </a:cubicBezTo>
                <a:cubicBezTo>
                  <a:pt x="39681" y="124590"/>
                  <a:pt x="37322" y="123682"/>
                  <a:pt x="35612" y="121972"/>
                </a:cubicBezTo>
                <a:lnTo>
                  <a:pt x="2436" y="88796"/>
                </a:lnTo>
                <a:cubicBezTo>
                  <a:pt x="-803" y="85557"/>
                  <a:pt x="-803" y="80295"/>
                  <a:pt x="2436" y="77055"/>
                </a:cubicBezTo>
                <a:cubicBezTo>
                  <a:pt x="5676" y="73816"/>
                  <a:pt x="10938" y="73816"/>
                  <a:pt x="14177" y="77055"/>
                </a:cubicBezTo>
                <a:lnTo>
                  <a:pt x="40484" y="103362"/>
                </a:lnTo>
                <a:lnTo>
                  <a:pt x="101133" y="19983"/>
                </a:lnTo>
                <a:cubicBezTo>
                  <a:pt x="103829" y="16277"/>
                  <a:pt x="109013" y="15447"/>
                  <a:pt x="112719" y="18143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29" name="Text 27"/>
          <p:cNvSpPr/>
          <p:nvPr/>
        </p:nvSpPr>
        <p:spPr>
          <a:xfrm>
            <a:off x="736496" y="5991500"/>
            <a:ext cx="3010678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Regularization:</a:t>
            </a:r>
            <a:r>
              <a:rPr lang="en-US" sz="914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Reduced overfitting with fewer parameters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44575" y="1131285"/>
            <a:ext cx="6517329" cy="4120398"/>
          </a:xfrm>
          <a:custGeom>
            <a:avLst/>
            <a:gdLst/>
            <a:ahLst/>
            <a:cxnLst/>
            <a:rect l="l" t="t" r="r" b="b"/>
            <a:pathLst>
              <a:path w="6517329" h="4120398">
                <a:moveTo>
                  <a:pt x="66338" y="0"/>
                </a:moveTo>
                <a:lnTo>
                  <a:pt x="6450991" y="0"/>
                </a:lnTo>
                <a:cubicBezTo>
                  <a:pt x="6487628" y="0"/>
                  <a:pt x="6517329" y="29701"/>
                  <a:pt x="6517329" y="66338"/>
                </a:cubicBezTo>
                <a:lnTo>
                  <a:pt x="6517329" y="4054060"/>
                </a:lnTo>
                <a:cubicBezTo>
                  <a:pt x="6517329" y="4090698"/>
                  <a:pt x="6487628" y="4120398"/>
                  <a:pt x="6450991" y="4120398"/>
                </a:cubicBezTo>
                <a:lnTo>
                  <a:pt x="66338" y="4120398"/>
                </a:lnTo>
                <a:cubicBezTo>
                  <a:pt x="29701" y="4120398"/>
                  <a:pt x="0" y="4090698"/>
                  <a:pt x="0" y="4054060"/>
                </a:cubicBezTo>
                <a:lnTo>
                  <a:pt x="0" y="66338"/>
                </a:lnTo>
                <a:cubicBezTo>
                  <a:pt x="0" y="29725"/>
                  <a:pt x="29725" y="0"/>
                  <a:pt x="66338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13770" y="1300482"/>
            <a:ext cx="398106" cy="398106"/>
          </a:xfrm>
          <a:custGeom>
            <a:avLst/>
            <a:gdLst/>
            <a:ahLst/>
            <a:cxnLst/>
            <a:rect l="l" t="t" r="r" b="b"/>
            <a:pathLst>
              <a:path w="398106" h="398106">
                <a:moveTo>
                  <a:pt x="199053" y="0"/>
                </a:moveTo>
                <a:lnTo>
                  <a:pt x="199053" y="0"/>
                </a:lnTo>
                <a:cubicBezTo>
                  <a:pt x="308913" y="0"/>
                  <a:pt x="398106" y="89193"/>
                  <a:pt x="398106" y="199053"/>
                </a:cubicBezTo>
                <a:lnTo>
                  <a:pt x="398106" y="199053"/>
                </a:lnTo>
                <a:cubicBezTo>
                  <a:pt x="398106" y="308913"/>
                  <a:pt x="308913" y="398106"/>
                  <a:pt x="199053" y="398106"/>
                </a:cubicBezTo>
                <a:lnTo>
                  <a:pt x="199053" y="398106"/>
                </a:lnTo>
                <a:cubicBezTo>
                  <a:pt x="89193" y="398106"/>
                  <a:pt x="0" y="308913"/>
                  <a:pt x="0" y="199053"/>
                </a:cubicBezTo>
                <a:lnTo>
                  <a:pt x="0" y="199053"/>
                </a:lnTo>
                <a:cubicBezTo>
                  <a:pt x="0" y="89193"/>
                  <a:pt x="89193" y="0"/>
                  <a:pt x="199053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629884" y="1416597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82939" y="34957"/>
                </a:moveTo>
                <a:lnTo>
                  <a:pt x="78079" y="28219"/>
                </a:lnTo>
                <a:cubicBezTo>
                  <a:pt x="69980" y="17009"/>
                  <a:pt x="56988" y="10367"/>
                  <a:pt x="43122" y="10367"/>
                </a:cubicBezTo>
                <a:cubicBezTo>
                  <a:pt x="19309" y="10367"/>
                  <a:pt x="0" y="29677"/>
                  <a:pt x="0" y="53489"/>
                </a:cubicBezTo>
                <a:lnTo>
                  <a:pt x="0" y="54331"/>
                </a:lnTo>
                <a:cubicBezTo>
                  <a:pt x="0" y="61977"/>
                  <a:pt x="2009" y="69882"/>
                  <a:pt x="5378" y="77755"/>
                </a:cubicBezTo>
                <a:lnTo>
                  <a:pt x="39720" y="77755"/>
                </a:lnTo>
                <a:cubicBezTo>
                  <a:pt x="40757" y="77755"/>
                  <a:pt x="41696" y="77140"/>
                  <a:pt x="42117" y="76168"/>
                </a:cubicBezTo>
                <a:lnTo>
                  <a:pt x="52420" y="51448"/>
                </a:lnTo>
                <a:cubicBezTo>
                  <a:pt x="53619" y="48597"/>
                  <a:pt x="56405" y="46718"/>
                  <a:pt x="59483" y="46653"/>
                </a:cubicBezTo>
                <a:cubicBezTo>
                  <a:pt x="62560" y="46588"/>
                  <a:pt x="65411" y="48403"/>
                  <a:pt x="66675" y="51221"/>
                </a:cubicBezTo>
                <a:lnTo>
                  <a:pt x="83295" y="88122"/>
                </a:lnTo>
                <a:lnTo>
                  <a:pt x="96708" y="61297"/>
                </a:lnTo>
                <a:cubicBezTo>
                  <a:pt x="98036" y="58673"/>
                  <a:pt x="100725" y="56988"/>
                  <a:pt x="103673" y="56988"/>
                </a:cubicBezTo>
                <a:cubicBezTo>
                  <a:pt x="106622" y="56988"/>
                  <a:pt x="109311" y="58640"/>
                  <a:pt x="110639" y="61297"/>
                </a:cubicBezTo>
                <a:lnTo>
                  <a:pt x="118155" y="76297"/>
                </a:lnTo>
                <a:cubicBezTo>
                  <a:pt x="118609" y="77172"/>
                  <a:pt x="119484" y="77723"/>
                  <a:pt x="120488" y="77723"/>
                </a:cubicBezTo>
                <a:lnTo>
                  <a:pt x="160532" y="77723"/>
                </a:lnTo>
                <a:cubicBezTo>
                  <a:pt x="163934" y="69850"/>
                  <a:pt x="165910" y="61945"/>
                  <a:pt x="165910" y="54299"/>
                </a:cubicBezTo>
                <a:lnTo>
                  <a:pt x="165910" y="53457"/>
                </a:lnTo>
                <a:cubicBezTo>
                  <a:pt x="165878" y="29677"/>
                  <a:pt x="146568" y="10367"/>
                  <a:pt x="122756" y="10367"/>
                </a:cubicBezTo>
                <a:cubicBezTo>
                  <a:pt x="108922" y="10367"/>
                  <a:pt x="95898" y="17009"/>
                  <a:pt x="87798" y="28219"/>
                </a:cubicBezTo>
                <a:lnTo>
                  <a:pt x="82939" y="34925"/>
                </a:lnTo>
                <a:close/>
                <a:moveTo>
                  <a:pt x="152141" y="93306"/>
                </a:moveTo>
                <a:lnTo>
                  <a:pt x="120456" y="93306"/>
                </a:lnTo>
                <a:cubicBezTo>
                  <a:pt x="113587" y="93306"/>
                  <a:pt x="107302" y="89418"/>
                  <a:pt x="104224" y="83263"/>
                </a:cubicBezTo>
                <a:lnTo>
                  <a:pt x="103673" y="82161"/>
                </a:lnTo>
                <a:lnTo>
                  <a:pt x="89904" y="109732"/>
                </a:lnTo>
                <a:cubicBezTo>
                  <a:pt x="88576" y="112421"/>
                  <a:pt x="85790" y="114106"/>
                  <a:pt x="82777" y="114041"/>
                </a:cubicBezTo>
                <a:cubicBezTo>
                  <a:pt x="79764" y="113976"/>
                  <a:pt x="77075" y="112194"/>
                  <a:pt x="75844" y="109473"/>
                </a:cubicBezTo>
                <a:lnTo>
                  <a:pt x="59871" y="73997"/>
                </a:lnTo>
                <a:lnTo>
                  <a:pt x="56470" y="82161"/>
                </a:lnTo>
                <a:cubicBezTo>
                  <a:pt x="53651" y="88932"/>
                  <a:pt x="47042" y="93339"/>
                  <a:pt x="39720" y="93339"/>
                </a:cubicBezTo>
                <a:lnTo>
                  <a:pt x="13737" y="93339"/>
                </a:lnTo>
                <a:cubicBezTo>
                  <a:pt x="29029" y="117248"/>
                  <a:pt x="53586" y="139246"/>
                  <a:pt x="68943" y="150974"/>
                </a:cubicBezTo>
                <a:cubicBezTo>
                  <a:pt x="72960" y="154020"/>
                  <a:pt x="77885" y="155543"/>
                  <a:pt x="82906" y="155543"/>
                </a:cubicBezTo>
                <a:cubicBezTo>
                  <a:pt x="87928" y="155543"/>
                  <a:pt x="92885" y="154052"/>
                  <a:pt x="96870" y="150974"/>
                </a:cubicBezTo>
                <a:cubicBezTo>
                  <a:pt x="112291" y="139214"/>
                  <a:pt x="136849" y="117216"/>
                  <a:pt x="152141" y="93306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3" name="Text 31"/>
          <p:cNvSpPr/>
          <p:nvPr/>
        </p:nvSpPr>
        <p:spPr>
          <a:xfrm>
            <a:off x="6011402" y="1383421"/>
            <a:ext cx="2098351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in Medical Imaging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13770" y="1831291"/>
            <a:ext cx="6178939" cy="862563"/>
          </a:xfrm>
          <a:custGeom>
            <a:avLst/>
            <a:gdLst/>
            <a:ahLst/>
            <a:cxnLst/>
            <a:rect l="l" t="t" r="r" b="b"/>
            <a:pathLst>
              <a:path w="6178939" h="862563">
                <a:moveTo>
                  <a:pt x="66348" y="0"/>
                </a:moveTo>
                <a:lnTo>
                  <a:pt x="6112590" y="0"/>
                </a:lnTo>
                <a:cubicBezTo>
                  <a:pt x="6149234" y="0"/>
                  <a:pt x="6178939" y="29705"/>
                  <a:pt x="6178939" y="66348"/>
                </a:cubicBezTo>
                <a:lnTo>
                  <a:pt x="6178939" y="796215"/>
                </a:lnTo>
                <a:cubicBezTo>
                  <a:pt x="6178939" y="832858"/>
                  <a:pt x="6149234" y="862563"/>
                  <a:pt x="6112590" y="862563"/>
                </a:cubicBezTo>
                <a:lnTo>
                  <a:pt x="66348" y="862563"/>
                </a:lnTo>
                <a:cubicBezTo>
                  <a:pt x="29705" y="862563"/>
                  <a:pt x="0" y="832858"/>
                  <a:pt x="0" y="796215"/>
                </a:cubicBezTo>
                <a:lnTo>
                  <a:pt x="0" y="66348"/>
                </a:lnTo>
                <a:cubicBezTo>
                  <a:pt x="0" y="29730"/>
                  <a:pt x="29730" y="0"/>
                  <a:pt x="6634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667206" y="1988874"/>
            <a:ext cx="149290" cy="149290"/>
          </a:xfrm>
          <a:custGeom>
            <a:avLst/>
            <a:gdLst/>
            <a:ahLst/>
            <a:cxnLst/>
            <a:rect l="l" t="t" r="r" b="b"/>
            <a:pathLst>
              <a:path w="149290" h="149290">
                <a:moveTo>
                  <a:pt x="121298" y="60649"/>
                </a:moveTo>
                <a:cubicBezTo>
                  <a:pt x="121298" y="74033"/>
                  <a:pt x="116953" y="86396"/>
                  <a:pt x="109635" y="96426"/>
                </a:cubicBezTo>
                <a:lnTo>
                  <a:pt x="146549" y="133369"/>
                </a:lnTo>
                <a:cubicBezTo>
                  <a:pt x="150194" y="137014"/>
                  <a:pt x="150194" y="142933"/>
                  <a:pt x="146549" y="146578"/>
                </a:cubicBezTo>
                <a:cubicBezTo>
                  <a:pt x="142904" y="150223"/>
                  <a:pt x="136985" y="150223"/>
                  <a:pt x="133340" y="146578"/>
                </a:cubicBezTo>
                <a:lnTo>
                  <a:pt x="96426" y="109635"/>
                </a:lnTo>
                <a:cubicBezTo>
                  <a:pt x="86396" y="116953"/>
                  <a:pt x="74033" y="121298"/>
                  <a:pt x="60649" y="121298"/>
                </a:cubicBezTo>
                <a:cubicBezTo>
                  <a:pt x="27146" y="121298"/>
                  <a:pt x="0" y="94152"/>
                  <a:pt x="0" y="60649"/>
                </a:cubicBezTo>
                <a:cubicBezTo>
                  <a:pt x="0" y="27146"/>
                  <a:pt x="27146" y="0"/>
                  <a:pt x="60649" y="0"/>
                </a:cubicBezTo>
                <a:cubicBezTo>
                  <a:pt x="94152" y="0"/>
                  <a:pt x="121298" y="27146"/>
                  <a:pt x="121298" y="60649"/>
                </a:cubicBezTo>
                <a:close/>
                <a:moveTo>
                  <a:pt x="60649" y="32657"/>
                </a:moveTo>
                <a:cubicBezTo>
                  <a:pt x="56771" y="32657"/>
                  <a:pt x="53651" y="35777"/>
                  <a:pt x="53651" y="39655"/>
                </a:cubicBezTo>
                <a:lnTo>
                  <a:pt x="53651" y="53651"/>
                </a:lnTo>
                <a:lnTo>
                  <a:pt x="39655" y="53651"/>
                </a:lnTo>
                <a:cubicBezTo>
                  <a:pt x="35777" y="53651"/>
                  <a:pt x="32657" y="56771"/>
                  <a:pt x="32657" y="60649"/>
                </a:cubicBezTo>
                <a:cubicBezTo>
                  <a:pt x="32657" y="64527"/>
                  <a:pt x="35777" y="67647"/>
                  <a:pt x="39655" y="67647"/>
                </a:cubicBezTo>
                <a:lnTo>
                  <a:pt x="53651" y="67647"/>
                </a:lnTo>
                <a:lnTo>
                  <a:pt x="53651" y="81643"/>
                </a:lnTo>
                <a:cubicBezTo>
                  <a:pt x="53651" y="85521"/>
                  <a:pt x="56771" y="88641"/>
                  <a:pt x="60649" y="88641"/>
                </a:cubicBezTo>
                <a:cubicBezTo>
                  <a:pt x="64527" y="88641"/>
                  <a:pt x="67647" y="85521"/>
                  <a:pt x="67647" y="81643"/>
                </a:cubicBezTo>
                <a:lnTo>
                  <a:pt x="67647" y="67647"/>
                </a:lnTo>
                <a:lnTo>
                  <a:pt x="81643" y="67647"/>
                </a:lnTo>
                <a:cubicBezTo>
                  <a:pt x="85521" y="67647"/>
                  <a:pt x="88641" y="64527"/>
                  <a:pt x="88641" y="60649"/>
                </a:cubicBezTo>
                <a:cubicBezTo>
                  <a:pt x="88641" y="56771"/>
                  <a:pt x="85521" y="53651"/>
                  <a:pt x="81643" y="53651"/>
                </a:cubicBezTo>
                <a:lnTo>
                  <a:pt x="67647" y="53651"/>
                </a:lnTo>
                <a:lnTo>
                  <a:pt x="67647" y="39655"/>
                </a:lnTo>
                <a:cubicBezTo>
                  <a:pt x="67647" y="35777"/>
                  <a:pt x="64527" y="32657"/>
                  <a:pt x="60649" y="32657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6" name="Text 34"/>
          <p:cNvSpPr/>
          <p:nvPr/>
        </p:nvSpPr>
        <p:spPr>
          <a:xfrm>
            <a:off x="5932611" y="1963993"/>
            <a:ext cx="1443135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 Detail Preservation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646472" y="2229397"/>
            <a:ext cx="5971592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connections preserve fine-grained details throughout the network, crucial for detecting subtle pathological patterns in medical images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513770" y="2793376"/>
            <a:ext cx="6178939" cy="696686"/>
          </a:xfrm>
          <a:custGeom>
            <a:avLst/>
            <a:gdLst/>
            <a:ahLst/>
            <a:cxnLst/>
            <a:rect l="l" t="t" r="r" b="b"/>
            <a:pathLst>
              <a:path w="6178939" h="696686">
                <a:moveTo>
                  <a:pt x="66352" y="0"/>
                </a:moveTo>
                <a:lnTo>
                  <a:pt x="6112586" y="0"/>
                </a:lnTo>
                <a:cubicBezTo>
                  <a:pt x="6149232" y="0"/>
                  <a:pt x="6178939" y="29707"/>
                  <a:pt x="6178939" y="66352"/>
                </a:cubicBezTo>
                <a:lnTo>
                  <a:pt x="6178939" y="630333"/>
                </a:lnTo>
                <a:cubicBezTo>
                  <a:pt x="6178939" y="666979"/>
                  <a:pt x="6149232" y="696686"/>
                  <a:pt x="6112586" y="696686"/>
                </a:cubicBezTo>
                <a:lnTo>
                  <a:pt x="66352" y="696686"/>
                </a:lnTo>
                <a:cubicBezTo>
                  <a:pt x="29707" y="696686"/>
                  <a:pt x="0" y="666979"/>
                  <a:pt x="0" y="630333"/>
                </a:cubicBezTo>
                <a:lnTo>
                  <a:pt x="0" y="66352"/>
                </a:lnTo>
                <a:cubicBezTo>
                  <a:pt x="0" y="29707"/>
                  <a:pt x="29707" y="0"/>
                  <a:pt x="6635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667206" y="2950960"/>
            <a:ext cx="149290" cy="149290"/>
          </a:xfrm>
          <a:custGeom>
            <a:avLst/>
            <a:gdLst/>
            <a:ahLst/>
            <a:cxnLst/>
            <a:rect l="l" t="t" r="r" b="b"/>
            <a:pathLst>
              <a:path w="149290" h="149290">
                <a:moveTo>
                  <a:pt x="67793" y="1516"/>
                </a:moveTo>
                <a:cubicBezTo>
                  <a:pt x="72137" y="-496"/>
                  <a:pt x="77153" y="-496"/>
                  <a:pt x="81497" y="1516"/>
                </a:cubicBezTo>
                <a:lnTo>
                  <a:pt x="145237" y="30966"/>
                </a:lnTo>
                <a:cubicBezTo>
                  <a:pt x="147715" y="32103"/>
                  <a:pt x="149290" y="34582"/>
                  <a:pt x="149290" y="37322"/>
                </a:cubicBezTo>
                <a:cubicBezTo>
                  <a:pt x="149290" y="40063"/>
                  <a:pt x="147715" y="42542"/>
                  <a:pt x="145237" y="43679"/>
                </a:cubicBezTo>
                <a:lnTo>
                  <a:pt x="81497" y="73129"/>
                </a:lnTo>
                <a:cubicBezTo>
                  <a:pt x="77153" y="75141"/>
                  <a:pt x="72137" y="75141"/>
                  <a:pt x="67793" y="73129"/>
                </a:cubicBezTo>
                <a:lnTo>
                  <a:pt x="4053" y="43679"/>
                </a:lnTo>
                <a:cubicBezTo>
                  <a:pt x="1575" y="42513"/>
                  <a:pt x="0" y="40034"/>
                  <a:pt x="0" y="37322"/>
                </a:cubicBezTo>
                <a:cubicBezTo>
                  <a:pt x="0" y="34611"/>
                  <a:pt x="1575" y="32103"/>
                  <a:pt x="4053" y="30966"/>
                </a:cubicBezTo>
                <a:lnTo>
                  <a:pt x="67793" y="1516"/>
                </a:lnTo>
                <a:close/>
                <a:moveTo>
                  <a:pt x="14025" y="63681"/>
                </a:moveTo>
                <a:lnTo>
                  <a:pt x="61932" y="85812"/>
                </a:lnTo>
                <a:cubicBezTo>
                  <a:pt x="70009" y="89545"/>
                  <a:pt x="79310" y="89545"/>
                  <a:pt x="87387" y="85812"/>
                </a:cubicBezTo>
                <a:lnTo>
                  <a:pt x="135294" y="63681"/>
                </a:lnTo>
                <a:lnTo>
                  <a:pt x="145237" y="68288"/>
                </a:lnTo>
                <a:cubicBezTo>
                  <a:pt x="147715" y="69426"/>
                  <a:pt x="149290" y="71904"/>
                  <a:pt x="149290" y="74645"/>
                </a:cubicBezTo>
                <a:cubicBezTo>
                  <a:pt x="149290" y="77386"/>
                  <a:pt x="147715" y="79864"/>
                  <a:pt x="145237" y="81001"/>
                </a:cubicBezTo>
                <a:lnTo>
                  <a:pt x="81497" y="110451"/>
                </a:lnTo>
                <a:cubicBezTo>
                  <a:pt x="77153" y="112463"/>
                  <a:pt x="72137" y="112463"/>
                  <a:pt x="67793" y="110451"/>
                </a:cubicBezTo>
                <a:lnTo>
                  <a:pt x="4053" y="81001"/>
                </a:lnTo>
                <a:cubicBezTo>
                  <a:pt x="1575" y="79835"/>
                  <a:pt x="0" y="77357"/>
                  <a:pt x="0" y="74645"/>
                </a:cubicBezTo>
                <a:cubicBezTo>
                  <a:pt x="0" y="71933"/>
                  <a:pt x="1575" y="69426"/>
                  <a:pt x="4053" y="68288"/>
                </a:cubicBezTo>
                <a:lnTo>
                  <a:pt x="13996" y="63681"/>
                </a:lnTo>
                <a:close/>
                <a:moveTo>
                  <a:pt x="4053" y="105611"/>
                </a:moveTo>
                <a:lnTo>
                  <a:pt x="13996" y="101004"/>
                </a:lnTo>
                <a:lnTo>
                  <a:pt x="61903" y="123135"/>
                </a:lnTo>
                <a:cubicBezTo>
                  <a:pt x="69980" y="126867"/>
                  <a:pt x="79281" y="126867"/>
                  <a:pt x="87358" y="123135"/>
                </a:cubicBezTo>
                <a:lnTo>
                  <a:pt x="135265" y="101004"/>
                </a:lnTo>
                <a:lnTo>
                  <a:pt x="145208" y="105611"/>
                </a:lnTo>
                <a:cubicBezTo>
                  <a:pt x="147686" y="106748"/>
                  <a:pt x="149261" y="109226"/>
                  <a:pt x="149261" y="111967"/>
                </a:cubicBezTo>
                <a:cubicBezTo>
                  <a:pt x="149261" y="114708"/>
                  <a:pt x="147686" y="117187"/>
                  <a:pt x="145208" y="118324"/>
                </a:cubicBezTo>
                <a:lnTo>
                  <a:pt x="81468" y="147774"/>
                </a:lnTo>
                <a:cubicBezTo>
                  <a:pt x="77123" y="149785"/>
                  <a:pt x="72108" y="149785"/>
                  <a:pt x="67764" y="147774"/>
                </a:cubicBezTo>
                <a:lnTo>
                  <a:pt x="4053" y="118324"/>
                </a:lnTo>
                <a:cubicBezTo>
                  <a:pt x="1575" y="117158"/>
                  <a:pt x="0" y="114679"/>
                  <a:pt x="0" y="111967"/>
                </a:cubicBezTo>
                <a:cubicBezTo>
                  <a:pt x="0" y="109256"/>
                  <a:pt x="1575" y="106748"/>
                  <a:pt x="4053" y="10561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0" name="Text 38"/>
          <p:cNvSpPr/>
          <p:nvPr/>
        </p:nvSpPr>
        <p:spPr>
          <a:xfrm>
            <a:off x="5932611" y="2926078"/>
            <a:ext cx="1750008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Multi-Scale Feature Learning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646472" y="3191482"/>
            <a:ext cx="5971592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layer has access to features from all previous layers, enabling better multi-scale representation learning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513770" y="3589589"/>
            <a:ext cx="6178939" cy="696686"/>
          </a:xfrm>
          <a:custGeom>
            <a:avLst/>
            <a:gdLst/>
            <a:ahLst/>
            <a:cxnLst/>
            <a:rect l="l" t="t" r="r" b="b"/>
            <a:pathLst>
              <a:path w="6178939" h="696686">
                <a:moveTo>
                  <a:pt x="66352" y="0"/>
                </a:moveTo>
                <a:lnTo>
                  <a:pt x="6112586" y="0"/>
                </a:lnTo>
                <a:cubicBezTo>
                  <a:pt x="6149232" y="0"/>
                  <a:pt x="6178939" y="29707"/>
                  <a:pt x="6178939" y="66352"/>
                </a:cubicBezTo>
                <a:lnTo>
                  <a:pt x="6178939" y="630333"/>
                </a:lnTo>
                <a:cubicBezTo>
                  <a:pt x="6178939" y="666979"/>
                  <a:pt x="6149232" y="696686"/>
                  <a:pt x="6112586" y="696686"/>
                </a:cubicBezTo>
                <a:lnTo>
                  <a:pt x="66352" y="696686"/>
                </a:lnTo>
                <a:cubicBezTo>
                  <a:pt x="29707" y="696686"/>
                  <a:pt x="0" y="666979"/>
                  <a:pt x="0" y="630333"/>
                </a:cubicBezTo>
                <a:lnTo>
                  <a:pt x="0" y="66352"/>
                </a:lnTo>
                <a:cubicBezTo>
                  <a:pt x="0" y="29707"/>
                  <a:pt x="29707" y="0"/>
                  <a:pt x="6635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667206" y="3747172"/>
            <a:ext cx="149290" cy="149290"/>
          </a:xfrm>
          <a:custGeom>
            <a:avLst/>
            <a:gdLst/>
            <a:ahLst/>
            <a:cxnLst/>
            <a:rect l="l" t="t" r="r" b="b"/>
            <a:pathLst>
              <a:path w="149290" h="149290">
                <a:moveTo>
                  <a:pt x="74645" y="0"/>
                </a:moveTo>
                <a:cubicBezTo>
                  <a:pt x="75986" y="0"/>
                  <a:pt x="77327" y="292"/>
                  <a:pt x="78552" y="846"/>
                </a:cubicBezTo>
                <a:lnTo>
                  <a:pt x="133486" y="24143"/>
                </a:lnTo>
                <a:cubicBezTo>
                  <a:pt x="139901" y="26855"/>
                  <a:pt x="144683" y="33182"/>
                  <a:pt x="144654" y="40821"/>
                </a:cubicBezTo>
                <a:cubicBezTo>
                  <a:pt x="144508" y="69746"/>
                  <a:pt x="132611" y="122668"/>
                  <a:pt x="82372" y="146724"/>
                </a:cubicBezTo>
                <a:cubicBezTo>
                  <a:pt x="77502" y="149057"/>
                  <a:pt x="71846" y="149057"/>
                  <a:pt x="66976" y="146724"/>
                </a:cubicBezTo>
                <a:cubicBezTo>
                  <a:pt x="16708" y="122668"/>
                  <a:pt x="4840" y="69746"/>
                  <a:pt x="4694" y="40821"/>
                </a:cubicBezTo>
                <a:cubicBezTo>
                  <a:pt x="4665" y="33182"/>
                  <a:pt x="9447" y="26855"/>
                  <a:pt x="15862" y="24143"/>
                </a:cubicBezTo>
                <a:lnTo>
                  <a:pt x="70767" y="846"/>
                </a:lnTo>
                <a:cubicBezTo>
                  <a:pt x="71992" y="292"/>
                  <a:pt x="73304" y="0"/>
                  <a:pt x="74645" y="0"/>
                </a:cubicBezTo>
                <a:close/>
                <a:moveTo>
                  <a:pt x="74645" y="19478"/>
                </a:moveTo>
                <a:lnTo>
                  <a:pt x="74645" y="129725"/>
                </a:lnTo>
                <a:cubicBezTo>
                  <a:pt x="114883" y="110247"/>
                  <a:pt x="125701" y="67093"/>
                  <a:pt x="125963" y="41259"/>
                </a:cubicBezTo>
                <a:lnTo>
                  <a:pt x="74645" y="19507"/>
                </a:lnTo>
                <a:lnTo>
                  <a:pt x="74645" y="19507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4" name="Text 42"/>
          <p:cNvSpPr/>
          <p:nvPr/>
        </p:nvSpPr>
        <p:spPr>
          <a:xfrm>
            <a:off x="5932611" y="3722291"/>
            <a:ext cx="1285551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Generalization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646472" y="3987695"/>
            <a:ext cx="5971592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Implicit deep supervision through dense connections improves generalization on limited medical datasets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513770" y="4385801"/>
            <a:ext cx="6178939" cy="696686"/>
          </a:xfrm>
          <a:custGeom>
            <a:avLst/>
            <a:gdLst/>
            <a:ahLst/>
            <a:cxnLst/>
            <a:rect l="l" t="t" r="r" b="b"/>
            <a:pathLst>
              <a:path w="6178939" h="696686">
                <a:moveTo>
                  <a:pt x="66352" y="0"/>
                </a:moveTo>
                <a:lnTo>
                  <a:pt x="6112586" y="0"/>
                </a:lnTo>
                <a:cubicBezTo>
                  <a:pt x="6149232" y="0"/>
                  <a:pt x="6178939" y="29707"/>
                  <a:pt x="6178939" y="66352"/>
                </a:cubicBezTo>
                <a:lnTo>
                  <a:pt x="6178939" y="630333"/>
                </a:lnTo>
                <a:cubicBezTo>
                  <a:pt x="6178939" y="666979"/>
                  <a:pt x="6149232" y="696686"/>
                  <a:pt x="6112586" y="696686"/>
                </a:cubicBezTo>
                <a:lnTo>
                  <a:pt x="66352" y="696686"/>
                </a:lnTo>
                <a:cubicBezTo>
                  <a:pt x="29707" y="696686"/>
                  <a:pt x="0" y="666979"/>
                  <a:pt x="0" y="630333"/>
                </a:cubicBezTo>
                <a:lnTo>
                  <a:pt x="0" y="66352"/>
                </a:lnTo>
                <a:cubicBezTo>
                  <a:pt x="0" y="29707"/>
                  <a:pt x="29707" y="0"/>
                  <a:pt x="6635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667206" y="4543385"/>
            <a:ext cx="149290" cy="149290"/>
          </a:xfrm>
          <a:custGeom>
            <a:avLst/>
            <a:gdLst/>
            <a:ahLst/>
            <a:cxnLst/>
            <a:rect l="l" t="t" r="r" b="b"/>
            <a:pathLst>
              <a:path w="149290" h="149290">
                <a:moveTo>
                  <a:pt x="18661" y="18661"/>
                </a:moveTo>
                <a:cubicBezTo>
                  <a:pt x="8368" y="18661"/>
                  <a:pt x="0" y="27030"/>
                  <a:pt x="0" y="37322"/>
                </a:cubicBezTo>
                <a:lnTo>
                  <a:pt x="0" y="39480"/>
                </a:lnTo>
                <a:cubicBezTo>
                  <a:pt x="0" y="41463"/>
                  <a:pt x="1283" y="43154"/>
                  <a:pt x="2945" y="44233"/>
                </a:cubicBezTo>
                <a:cubicBezTo>
                  <a:pt x="6794" y="46741"/>
                  <a:pt x="9331" y="51056"/>
                  <a:pt x="9331" y="55984"/>
                </a:cubicBezTo>
                <a:cubicBezTo>
                  <a:pt x="9331" y="60911"/>
                  <a:pt x="6794" y="65227"/>
                  <a:pt x="2945" y="67734"/>
                </a:cubicBezTo>
                <a:cubicBezTo>
                  <a:pt x="1283" y="68813"/>
                  <a:pt x="0" y="70504"/>
                  <a:pt x="0" y="72487"/>
                </a:cubicBezTo>
                <a:lnTo>
                  <a:pt x="0" y="88641"/>
                </a:lnTo>
                <a:lnTo>
                  <a:pt x="149290" y="88641"/>
                </a:lnTo>
                <a:lnTo>
                  <a:pt x="149290" y="72487"/>
                </a:lnTo>
                <a:cubicBezTo>
                  <a:pt x="149290" y="70504"/>
                  <a:pt x="148007" y="68813"/>
                  <a:pt x="146345" y="67734"/>
                </a:cubicBezTo>
                <a:cubicBezTo>
                  <a:pt x="142496" y="65227"/>
                  <a:pt x="139959" y="60911"/>
                  <a:pt x="139959" y="55984"/>
                </a:cubicBezTo>
                <a:cubicBezTo>
                  <a:pt x="139959" y="51056"/>
                  <a:pt x="142496" y="46741"/>
                  <a:pt x="146345" y="44233"/>
                </a:cubicBezTo>
                <a:cubicBezTo>
                  <a:pt x="148007" y="43154"/>
                  <a:pt x="149290" y="41463"/>
                  <a:pt x="149290" y="39480"/>
                </a:cubicBezTo>
                <a:lnTo>
                  <a:pt x="149290" y="37322"/>
                </a:lnTo>
                <a:cubicBezTo>
                  <a:pt x="149290" y="27030"/>
                  <a:pt x="140921" y="18661"/>
                  <a:pt x="130629" y="18661"/>
                </a:cubicBezTo>
                <a:lnTo>
                  <a:pt x="18661" y="18661"/>
                </a:lnTo>
                <a:close/>
                <a:moveTo>
                  <a:pt x="149290" y="121298"/>
                </a:moveTo>
                <a:lnTo>
                  <a:pt x="149290" y="102637"/>
                </a:lnTo>
                <a:lnTo>
                  <a:pt x="0" y="102637"/>
                </a:lnTo>
                <a:lnTo>
                  <a:pt x="0" y="121298"/>
                </a:lnTo>
                <a:cubicBezTo>
                  <a:pt x="0" y="126459"/>
                  <a:pt x="4170" y="130629"/>
                  <a:pt x="9331" y="130629"/>
                </a:cubicBezTo>
                <a:lnTo>
                  <a:pt x="27992" y="130629"/>
                </a:lnTo>
                <a:lnTo>
                  <a:pt x="27992" y="123631"/>
                </a:lnTo>
                <a:cubicBezTo>
                  <a:pt x="27992" y="119753"/>
                  <a:pt x="31112" y="116633"/>
                  <a:pt x="34990" y="116633"/>
                </a:cubicBezTo>
                <a:cubicBezTo>
                  <a:pt x="38868" y="116633"/>
                  <a:pt x="41988" y="119753"/>
                  <a:pt x="41988" y="123631"/>
                </a:cubicBezTo>
                <a:lnTo>
                  <a:pt x="41988" y="130629"/>
                </a:lnTo>
                <a:lnTo>
                  <a:pt x="67647" y="130629"/>
                </a:lnTo>
                <a:lnTo>
                  <a:pt x="67647" y="123631"/>
                </a:lnTo>
                <a:cubicBezTo>
                  <a:pt x="67647" y="119753"/>
                  <a:pt x="70767" y="116633"/>
                  <a:pt x="74645" y="116633"/>
                </a:cubicBezTo>
                <a:cubicBezTo>
                  <a:pt x="78523" y="116633"/>
                  <a:pt x="81643" y="119753"/>
                  <a:pt x="81643" y="123631"/>
                </a:cubicBezTo>
                <a:lnTo>
                  <a:pt x="81643" y="130629"/>
                </a:lnTo>
                <a:lnTo>
                  <a:pt x="107302" y="130629"/>
                </a:lnTo>
                <a:lnTo>
                  <a:pt x="107302" y="123631"/>
                </a:lnTo>
                <a:cubicBezTo>
                  <a:pt x="107302" y="119753"/>
                  <a:pt x="110422" y="116633"/>
                  <a:pt x="114300" y="116633"/>
                </a:cubicBezTo>
                <a:cubicBezTo>
                  <a:pt x="118178" y="116633"/>
                  <a:pt x="121298" y="119753"/>
                  <a:pt x="121298" y="123631"/>
                </a:cubicBezTo>
                <a:lnTo>
                  <a:pt x="121298" y="130629"/>
                </a:lnTo>
                <a:lnTo>
                  <a:pt x="139959" y="130629"/>
                </a:lnTo>
                <a:cubicBezTo>
                  <a:pt x="145120" y="130629"/>
                  <a:pt x="149290" y="126459"/>
                  <a:pt x="149290" y="121298"/>
                </a:cubicBezTo>
                <a:close/>
                <a:moveTo>
                  <a:pt x="46653" y="46653"/>
                </a:moveTo>
                <a:lnTo>
                  <a:pt x="46653" y="65314"/>
                </a:lnTo>
                <a:cubicBezTo>
                  <a:pt x="46653" y="70475"/>
                  <a:pt x="42483" y="74645"/>
                  <a:pt x="37322" y="74645"/>
                </a:cubicBezTo>
                <a:cubicBezTo>
                  <a:pt x="32161" y="74645"/>
                  <a:pt x="27992" y="70475"/>
                  <a:pt x="27992" y="65314"/>
                </a:cubicBezTo>
                <a:lnTo>
                  <a:pt x="27992" y="46653"/>
                </a:lnTo>
                <a:cubicBezTo>
                  <a:pt x="27992" y="41492"/>
                  <a:pt x="32161" y="37322"/>
                  <a:pt x="37322" y="37322"/>
                </a:cubicBezTo>
                <a:cubicBezTo>
                  <a:pt x="42483" y="37322"/>
                  <a:pt x="46653" y="41492"/>
                  <a:pt x="46653" y="46653"/>
                </a:cubicBezTo>
                <a:close/>
                <a:moveTo>
                  <a:pt x="83976" y="46653"/>
                </a:moveTo>
                <a:lnTo>
                  <a:pt x="83976" y="65314"/>
                </a:lnTo>
                <a:cubicBezTo>
                  <a:pt x="83976" y="70475"/>
                  <a:pt x="79806" y="74645"/>
                  <a:pt x="74645" y="74645"/>
                </a:cubicBezTo>
                <a:cubicBezTo>
                  <a:pt x="69484" y="74645"/>
                  <a:pt x="65314" y="70475"/>
                  <a:pt x="65314" y="65314"/>
                </a:cubicBezTo>
                <a:lnTo>
                  <a:pt x="65314" y="46653"/>
                </a:lnTo>
                <a:cubicBezTo>
                  <a:pt x="65314" y="41492"/>
                  <a:pt x="69484" y="37322"/>
                  <a:pt x="74645" y="37322"/>
                </a:cubicBezTo>
                <a:cubicBezTo>
                  <a:pt x="79806" y="37322"/>
                  <a:pt x="83976" y="41492"/>
                  <a:pt x="83976" y="46653"/>
                </a:cubicBezTo>
                <a:close/>
                <a:moveTo>
                  <a:pt x="121298" y="46653"/>
                </a:moveTo>
                <a:lnTo>
                  <a:pt x="121298" y="65314"/>
                </a:lnTo>
                <a:cubicBezTo>
                  <a:pt x="121298" y="70475"/>
                  <a:pt x="117128" y="74645"/>
                  <a:pt x="111967" y="74645"/>
                </a:cubicBezTo>
                <a:cubicBezTo>
                  <a:pt x="106806" y="74645"/>
                  <a:pt x="102637" y="70475"/>
                  <a:pt x="102637" y="65314"/>
                </a:cubicBezTo>
                <a:lnTo>
                  <a:pt x="102637" y="46653"/>
                </a:lnTo>
                <a:cubicBezTo>
                  <a:pt x="102637" y="41492"/>
                  <a:pt x="106806" y="37322"/>
                  <a:pt x="111967" y="37322"/>
                </a:cubicBezTo>
                <a:cubicBezTo>
                  <a:pt x="117128" y="37322"/>
                  <a:pt x="121298" y="41492"/>
                  <a:pt x="121298" y="4665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8" name="Text 46"/>
          <p:cNvSpPr/>
          <p:nvPr/>
        </p:nvSpPr>
        <p:spPr>
          <a:xfrm>
            <a:off x="5932611" y="4518503"/>
            <a:ext cx="1169437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Efficiency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646472" y="4783907"/>
            <a:ext cx="5971592" cy="16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4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Narrower layers require less memory per layer, enabling deeper architectures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344575" y="5424201"/>
            <a:ext cx="6517329" cy="1101427"/>
          </a:xfrm>
          <a:custGeom>
            <a:avLst/>
            <a:gdLst/>
            <a:ahLst/>
            <a:cxnLst/>
            <a:rect l="l" t="t" r="r" b="b"/>
            <a:pathLst>
              <a:path w="6517329" h="1101427">
                <a:moveTo>
                  <a:pt x="66350" y="0"/>
                </a:moveTo>
                <a:lnTo>
                  <a:pt x="6450979" y="0"/>
                </a:lnTo>
                <a:cubicBezTo>
                  <a:pt x="6487623" y="0"/>
                  <a:pt x="6517329" y="29706"/>
                  <a:pt x="6517329" y="66350"/>
                </a:cubicBezTo>
                <a:lnTo>
                  <a:pt x="6517329" y="1035077"/>
                </a:lnTo>
                <a:cubicBezTo>
                  <a:pt x="6517329" y="1071721"/>
                  <a:pt x="6487623" y="1101427"/>
                  <a:pt x="6450979" y="1101427"/>
                </a:cubicBezTo>
                <a:lnTo>
                  <a:pt x="66350" y="1101427"/>
                </a:lnTo>
                <a:cubicBezTo>
                  <a:pt x="29730" y="1101427"/>
                  <a:pt x="0" y="1071697"/>
                  <a:pt x="0" y="1035077"/>
                </a:cubicBezTo>
                <a:lnTo>
                  <a:pt x="0" y="66350"/>
                </a:lnTo>
                <a:cubicBezTo>
                  <a:pt x="0" y="29730"/>
                  <a:pt x="29730" y="0"/>
                  <a:pt x="66350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>
                  <a:alpha val="20000"/>
                </a:srgbClr>
              </a:gs>
              <a:gs pos="100000">
                <a:srgbClr val="38B2AC">
                  <a:alpha val="20000"/>
                </a:srgbClr>
              </a:gs>
            </a:gsLst>
            <a:lin ang="2700000" scaled="1"/>
          </a:gradFill>
          <a:ln w="10160">
            <a:solidFill>
              <a:srgbClr val="3182CE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55239" y="5626570"/>
            <a:ext cx="124408" cy="165878"/>
          </a:xfrm>
          <a:custGeom>
            <a:avLst/>
            <a:gdLst/>
            <a:ahLst/>
            <a:cxnLst/>
            <a:rect l="l" t="t" r="r" b="b"/>
            <a:pathLst>
              <a:path w="124408" h="165878">
                <a:moveTo>
                  <a:pt x="94894" y="124408"/>
                </a:moveTo>
                <a:cubicBezTo>
                  <a:pt x="97259" y="117183"/>
                  <a:pt x="101989" y="110639"/>
                  <a:pt x="107334" y="105002"/>
                </a:cubicBezTo>
                <a:cubicBezTo>
                  <a:pt x="117929" y="93857"/>
                  <a:pt x="124408" y="78792"/>
                  <a:pt x="124408" y="62204"/>
                </a:cubicBezTo>
                <a:cubicBezTo>
                  <a:pt x="124408" y="27862"/>
                  <a:pt x="96546" y="0"/>
                  <a:pt x="62204" y="0"/>
                </a:cubicBezTo>
                <a:cubicBezTo>
                  <a:pt x="27862" y="0"/>
                  <a:pt x="0" y="27862"/>
                  <a:pt x="0" y="62204"/>
                </a:cubicBezTo>
                <a:cubicBezTo>
                  <a:pt x="0" y="78792"/>
                  <a:pt x="6480" y="93857"/>
                  <a:pt x="17074" y="105002"/>
                </a:cubicBezTo>
                <a:cubicBezTo>
                  <a:pt x="22419" y="110639"/>
                  <a:pt x="27182" y="117183"/>
                  <a:pt x="29515" y="124408"/>
                </a:cubicBezTo>
                <a:lnTo>
                  <a:pt x="94861" y="124408"/>
                </a:lnTo>
                <a:close/>
                <a:moveTo>
                  <a:pt x="93306" y="139959"/>
                </a:moveTo>
                <a:lnTo>
                  <a:pt x="31102" y="139959"/>
                </a:lnTo>
                <a:lnTo>
                  <a:pt x="31102" y="145143"/>
                </a:lnTo>
                <a:cubicBezTo>
                  <a:pt x="31102" y="159463"/>
                  <a:pt x="42701" y="171061"/>
                  <a:pt x="57020" y="171061"/>
                </a:cubicBezTo>
                <a:lnTo>
                  <a:pt x="67388" y="171061"/>
                </a:lnTo>
                <a:cubicBezTo>
                  <a:pt x="81708" y="171061"/>
                  <a:pt x="93306" y="159463"/>
                  <a:pt x="93306" y="145143"/>
                </a:cubicBezTo>
                <a:lnTo>
                  <a:pt x="93306" y="139959"/>
                </a:lnTo>
                <a:close/>
                <a:moveTo>
                  <a:pt x="59612" y="36286"/>
                </a:moveTo>
                <a:cubicBezTo>
                  <a:pt x="46718" y="36286"/>
                  <a:pt x="36286" y="46718"/>
                  <a:pt x="36286" y="59612"/>
                </a:cubicBezTo>
                <a:cubicBezTo>
                  <a:pt x="36286" y="63921"/>
                  <a:pt x="32819" y="67388"/>
                  <a:pt x="28510" y="67388"/>
                </a:cubicBezTo>
                <a:cubicBezTo>
                  <a:pt x="24201" y="67388"/>
                  <a:pt x="20735" y="63921"/>
                  <a:pt x="20735" y="59612"/>
                </a:cubicBezTo>
                <a:cubicBezTo>
                  <a:pt x="20735" y="38132"/>
                  <a:pt x="38132" y="20735"/>
                  <a:pt x="59612" y="20735"/>
                </a:cubicBezTo>
                <a:cubicBezTo>
                  <a:pt x="63921" y="20735"/>
                  <a:pt x="67388" y="24201"/>
                  <a:pt x="67388" y="28510"/>
                </a:cubicBezTo>
                <a:cubicBezTo>
                  <a:pt x="67388" y="32819"/>
                  <a:pt x="63921" y="36286"/>
                  <a:pt x="59612" y="3628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2" name="Text 50"/>
          <p:cNvSpPr/>
          <p:nvPr/>
        </p:nvSpPr>
        <p:spPr>
          <a:xfrm>
            <a:off x="5820643" y="5593394"/>
            <a:ext cx="1302139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Advantage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513770" y="5925149"/>
            <a:ext cx="6245290" cy="431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DenseNet's ability to preserve fine details makes it particularly suitable for medical imaging where subtle patterns can indicate serious conditions.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4687" y="422093"/>
            <a:ext cx="64937" cy="389625"/>
          </a:xfrm>
          <a:custGeom>
            <a:avLst/>
            <a:gdLst/>
            <a:ahLst/>
            <a:cxnLst/>
            <a:rect l="l" t="t" r="r" b="b"/>
            <a:pathLst>
              <a:path w="64937" h="389625">
                <a:moveTo>
                  <a:pt x="32469" y="0"/>
                </a:moveTo>
                <a:lnTo>
                  <a:pt x="32469" y="0"/>
                </a:lnTo>
                <a:cubicBezTo>
                  <a:pt x="50389" y="0"/>
                  <a:pt x="64937" y="14549"/>
                  <a:pt x="64937" y="32469"/>
                </a:cubicBezTo>
                <a:lnTo>
                  <a:pt x="64937" y="357156"/>
                </a:lnTo>
                <a:cubicBezTo>
                  <a:pt x="64937" y="375088"/>
                  <a:pt x="50401" y="389625"/>
                  <a:pt x="32469" y="389625"/>
                </a:cubicBezTo>
                <a:lnTo>
                  <a:pt x="32469" y="389625"/>
                </a:lnTo>
                <a:cubicBezTo>
                  <a:pt x="14537" y="389625"/>
                  <a:pt x="0" y="375088"/>
                  <a:pt x="0" y="357156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" name="Text 1"/>
          <p:cNvSpPr/>
          <p:nvPr/>
        </p:nvSpPr>
        <p:spPr>
          <a:xfrm>
            <a:off x="519499" y="324687"/>
            <a:ext cx="3319925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kern="0" spc="5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9499" y="519499"/>
            <a:ext cx="3449800" cy="38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6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Comparison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7934" y="1107183"/>
            <a:ext cx="5509940" cy="3285833"/>
          </a:xfrm>
          <a:custGeom>
            <a:avLst/>
            <a:gdLst/>
            <a:ahLst/>
            <a:cxnLst/>
            <a:rect l="l" t="t" r="r" b="b"/>
            <a:pathLst>
              <a:path w="5509940" h="3285833">
                <a:moveTo>
                  <a:pt x="64928" y="0"/>
                </a:moveTo>
                <a:lnTo>
                  <a:pt x="5445012" y="0"/>
                </a:lnTo>
                <a:cubicBezTo>
                  <a:pt x="5480871" y="0"/>
                  <a:pt x="5509940" y="29069"/>
                  <a:pt x="5509940" y="64928"/>
                </a:cubicBezTo>
                <a:lnTo>
                  <a:pt x="5509940" y="3220905"/>
                </a:lnTo>
                <a:cubicBezTo>
                  <a:pt x="5509940" y="3256764"/>
                  <a:pt x="5480871" y="3285833"/>
                  <a:pt x="5445012" y="3285833"/>
                </a:cubicBezTo>
                <a:lnTo>
                  <a:pt x="64928" y="3285833"/>
                </a:lnTo>
                <a:cubicBezTo>
                  <a:pt x="29069" y="3285833"/>
                  <a:pt x="0" y="3256764"/>
                  <a:pt x="0" y="3220905"/>
                </a:cubicBezTo>
                <a:lnTo>
                  <a:pt x="0" y="64928"/>
                </a:lnTo>
                <a:cubicBezTo>
                  <a:pt x="0" y="29093"/>
                  <a:pt x="29093" y="0"/>
                  <a:pt x="64928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524" y="1120372"/>
            <a:ext cx="5259931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 Comparison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7934" y="4561850"/>
            <a:ext cx="5509940" cy="2133194"/>
          </a:xfrm>
          <a:custGeom>
            <a:avLst/>
            <a:gdLst/>
            <a:ahLst/>
            <a:cxnLst/>
            <a:rect l="l" t="t" r="r" b="b"/>
            <a:pathLst>
              <a:path w="5509940" h="2133194">
                <a:moveTo>
                  <a:pt x="64934" y="0"/>
                </a:moveTo>
                <a:lnTo>
                  <a:pt x="5445005" y="0"/>
                </a:lnTo>
                <a:cubicBezTo>
                  <a:pt x="5480868" y="0"/>
                  <a:pt x="5509940" y="29072"/>
                  <a:pt x="5509940" y="64934"/>
                </a:cubicBezTo>
                <a:lnTo>
                  <a:pt x="5509940" y="2068260"/>
                </a:lnTo>
                <a:cubicBezTo>
                  <a:pt x="5509940" y="2104122"/>
                  <a:pt x="5480868" y="2133194"/>
                  <a:pt x="5445005" y="2133194"/>
                </a:cubicBezTo>
                <a:lnTo>
                  <a:pt x="64934" y="2133194"/>
                </a:lnTo>
                <a:cubicBezTo>
                  <a:pt x="29072" y="2133194"/>
                  <a:pt x="0" y="2104122"/>
                  <a:pt x="0" y="2068260"/>
                </a:cubicBezTo>
                <a:lnTo>
                  <a:pt x="0" y="64934"/>
                </a:lnTo>
                <a:cubicBezTo>
                  <a:pt x="0" y="29096"/>
                  <a:pt x="29096" y="0"/>
                  <a:pt x="64934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524" y="4727447"/>
            <a:ext cx="5259931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Detailed Performance Table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651036"/>
              </p:ext>
            </p:extLst>
          </p:nvPr>
        </p:nvGraphicFramePr>
        <p:xfrm>
          <a:off x="493524" y="5084603"/>
          <a:ext cx="5178758" cy="1444860"/>
        </p:xfrm>
        <a:graphic>
          <a:graphicData uri="http://schemas.openxmlformats.org/drawingml/2006/table">
            <a:tbl>
              <a:tblPr/>
              <a:tblGrid>
                <a:gridCol w="1233811"/>
                <a:gridCol w="860421"/>
                <a:gridCol w="844186"/>
                <a:gridCol w="754897"/>
                <a:gridCol w="827952"/>
                <a:gridCol w="657491"/>
              </a:tblGrid>
              <a:tr h="361215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Model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182C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Accuracy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182C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Precision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182C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Recall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182C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F1-Score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182C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AUC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182CE">
                        <a:alpha val="20000"/>
                      </a:srgbClr>
                    </a:solidFill>
                  </a:tcPr>
                </a:tc>
              </a:tr>
              <a:tr h="361215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ResNet-50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2C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 smtClean="0">
                          <a:solidFill>
                            <a:schemeClr val="bg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83.33</a:t>
                      </a:r>
                      <a:r>
                        <a:rPr lang="en-US" sz="800" b="1" u="none" dirty="0">
                          <a:solidFill>
                            <a:schemeClr val="bg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%</a:t>
                      </a:r>
                      <a:endParaRPr lang="en-US" sz="800" dirty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2C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 smtClean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90.23</a:t>
                      </a:r>
                      <a:r>
                        <a:rPr lang="en-US" sz="8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%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2C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 smtClean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82.48</a:t>
                      </a:r>
                      <a:r>
                        <a:rPr lang="en-US" sz="8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%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2C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 smtClean="0">
                          <a:solidFill>
                            <a:schemeClr val="bg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86.61</a:t>
                      </a:r>
                      <a:r>
                        <a:rPr lang="en-US" sz="800" b="1" u="none" dirty="0">
                          <a:solidFill>
                            <a:schemeClr val="bg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%</a:t>
                      </a:r>
                      <a:endParaRPr lang="en-US" sz="800" dirty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2C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 smtClean="0">
                          <a:solidFill>
                            <a:schemeClr val="bg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0.899</a:t>
                      </a:r>
                      <a:endParaRPr lang="en-US" sz="800" dirty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2CE">
                        <a:alpha val="10000"/>
                      </a:srgbClr>
                    </a:solidFill>
                  </a:tcPr>
                </a:tc>
              </a:tr>
              <a:tr h="361215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EfficientNet-B0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 smtClean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62.85</a:t>
                      </a:r>
                      <a:r>
                        <a:rPr lang="en-US" sz="8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%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 smtClean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62.72</a:t>
                      </a:r>
                      <a:r>
                        <a:rPr lang="en-US" sz="8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%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98.91%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 smtClean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76.92</a:t>
                      </a:r>
                      <a:r>
                        <a:rPr lang="en-US" sz="8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%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 smtClean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0.546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1215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DenseNet121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 smtClean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89.66</a:t>
                      </a:r>
                      <a:r>
                        <a:rPr lang="en-US" sz="8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%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 smtClean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93.54</a:t>
                      </a:r>
                      <a:r>
                        <a:rPr lang="en-US" sz="8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%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 smtClean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88.72</a:t>
                      </a:r>
                      <a:r>
                        <a:rPr lang="en-US" sz="8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%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 smtClean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91.73</a:t>
                      </a:r>
                      <a:r>
                        <a:rPr lang="en-US" sz="800" u="none" dirty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%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 smtClean="0">
                          <a:solidFill>
                            <a:srgbClr val="F7FAF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0.965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9875" marR="129875" marT="97406" marB="974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42427" y="1107183"/>
            <a:ext cx="5826510" cy="4292363"/>
          </a:xfrm>
          <a:custGeom>
            <a:avLst/>
            <a:gdLst/>
            <a:ahLst/>
            <a:cxnLst/>
            <a:rect l="l" t="t" r="r" b="b"/>
            <a:pathLst>
              <a:path w="5826510" h="4292363">
                <a:moveTo>
                  <a:pt x="64943" y="0"/>
                </a:moveTo>
                <a:lnTo>
                  <a:pt x="5761566" y="0"/>
                </a:lnTo>
                <a:cubicBezTo>
                  <a:pt x="5797434" y="0"/>
                  <a:pt x="5826510" y="29076"/>
                  <a:pt x="5826510" y="64943"/>
                </a:cubicBezTo>
                <a:lnTo>
                  <a:pt x="5826510" y="4227420"/>
                </a:lnTo>
                <a:cubicBezTo>
                  <a:pt x="5826510" y="4263287"/>
                  <a:pt x="5797434" y="4292363"/>
                  <a:pt x="5761566" y="4292363"/>
                </a:cubicBezTo>
                <a:lnTo>
                  <a:pt x="64943" y="4292363"/>
                </a:lnTo>
                <a:cubicBezTo>
                  <a:pt x="29076" y="4292363"/>
                  <a:pt x="0" y="4263287"/>
                  <a:pt x="0" y="4227420"/>
                </a:cubicBezTo>
                <a:lnTo>
                  <a:pt x="0" y="64943"/>
                </a:lnTo>
                <a:cubicBezTo>
                  <a:pt x="0" y="29100"/>
                  <a:pt x="29100" y="0"/>
                  <a:pt x="64943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08017" y="1272772"/>
            <a:ext cx="5576501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Characteristics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208017" y="1629928"/>
            <a:ext cx="5495329" cy="1136405"/>
          </a:xfrm>
          <a:custGeom>
            <a:avLst/>
            <a:gdLst/>
            <a:ahLst/>
            <a:cxnLst/>
            <a:rect l="l" t="t" r="r" b="b"/>
            <a:pathLst>
              <a:path w="5495329" h="1136405">
                <a:moveTo>
                  <a:pt x="64934" y="0"/>
                </a:moveTo>
                <a:lnTo>
                  <a:pt x="5430395" y="0"/>
                </a:lnTo>
                <a:cubicBezTo>
                  <a:pt x="5466257" y="0"/>
                  <a:pt x="5495329" y="29072"/>
                  <a:pt x="5495329" y="64934"/>
                </a:cubicBezTo>
                <a:lnTo>
                  <a:pt x="5495329" y="1071471"/>
                </a:lnTo>
                <a:cubicBezTo>
                  <a:pt x="5495329" y="1107333"/>
                  <a:pt x="5466257" y="1136405"/>
                  <a:pt x="5430395" y="1136405"/>
                </a:cubicBezTo>
                <a:lnTo>
                  <a:pt x="64934" y="1136405"/>
                </a:lnTo>
                <a:cubicBezTo>
                  <a:pt x="29072" y="1136405"/>
                  <a:pt x="0" y="1107333"/>
                  <a:pt x="0" y="1071471"/>
                </a:cubicBezTo>
                <a:lnTo>
                  <a:pt x="0" y="64934"/>
                </a:lnTo>
                <a:cubicBezTo>
                  <a:pt x="0" y="29072"/>
                  <a:pt x="29072" y="0"/>
                  <a:pt x="6493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6337892" y="1759802"/>
            <a:ext cx="722429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337892" y="2019552"/>
            <a:ext cx="608788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ResNet-50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1243305" y="2019552"/>
            <a:ext cx="381507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b="1" dirty="0" smtClean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24.15M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337892" y="2246833"/>
            <a:ext cx="665609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1310272" y="2246833"/>
            <a:ext cx="316570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b="1" dirty="0" smtClean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4.41M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337892" y="2474114"/>
            <a:ext cx="714312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DenseNet121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1290930" y="2409177"/>
            <a:ext cx="384552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b="1" dirty="0" smtClean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7.33M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208017" y="2863738"/>
            <a:ext cx="5495329" cy="1136405"/>
          </a:xfrm>
          <a:custGeom>
            <a:avLst/>
            <a:gdLst/>
            <a:ahLst/>
            <a:cxnLst/>
            <a:rect l="l" t="t" r="r" b="b"/>
            <a:pathLst>
              <a:path w="5495329" h="1136405">
                <a:moveTo>
                  <a:pt x="64934" y="0"/>
                </a:moveTo>
                <a:lnTo>
                  <a:pt x="5430395" y="0"/>
                </a:lnTo>
                <a:cubicBezTo>
                  <a:pt x="5466257" y="0"/>
                  <a:pt x="5495329" y="29072"/>
                  <a:pt x="5495329" y="64934"/>
                </a:cubicBezTo>
                <a:lnTo>
                  <a:pt x="5495329" y="1071471"/>
                </a:lnTo>
                <a:cubicBezTo>
                  <a:pt x="5495329" y="1107333"/>
                  <a:pt x="5466257" y="1136405"/>
                  <a:pt x="5430395" y="1136405"/>
                </a:cubicBezTo>
                <a:lnTo>
                  <a:pt x="64934" y="1136405"/>
                </a:lnTo>
                <a:cubicBezTo>
                  <a:pt x="29072" y="1136405"/>
                  <a:pt x="0" y="1107333"/>
                  <a:pt x="0" y="1071471"/>
                </a:cubicBezTo>
                <a:lnTo>
                  <a:pt x="0" y="64934"/>
                </a:lnTo>
                <a:cubicBezTo>
                  <a:pt x="0" y="29072"/>
                  <a:pt x="29072" y="0"/>
                  <a:pt x="6493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6337892" y="2993613"/>
            <a:ext cx="852304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Time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337892" y="3253363"/>
            <a:ext cx="608788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ResNet-50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1055697" y="3253363"/>
            <a:ext cx="568202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 epochs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337892" y="3480644"/>
            <a:ext cx="665609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11047884" y="3480644"/>
            <a:ext cx="576320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 epochs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337892" y="3707925"/>
            <a:ext cx="714312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DenseNet121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1046971" y="3707925"/>
            <a:ext cx="576320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 epochs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208017" y="4097549"/>
            <a:ext cx="5495329" cy="1136405"/>
          </a:xfrm>
          <a:custGeom>
            <a:avLst/>
            <a:gdLst/>
            <a:ahLst/>
            <a:cxnLst/>
            <a:rect l="l" t="t" r="r" b="b"/>
            <a:pathLst>
              <a:path w="5495329" h="1136405">
                <a:moveTo>
                  <a:pt x="64934" y="0"/>
                </a:moveTo>
                <a:lnTo>
                  <a:pt x="5430395" y="0"/>
                </a:lnTo>
                <a:cubicBezTo>
                  <a:pt x="5466257" y="0"/>
                  <a:pt x="5495329" y="29072"/>
                  <a:pt x="5495329" y="64934"/>
                </a:cubicBezTo>
                <a:lnTo>
                  <a:pt x="5495329" y="1071471"/>
                </a:lnTo>
                <a:cubicBezTo>
                  <a:pt x="5495329" y="1107333"/>
                  <a:pt x="5466257" y="1136405"/>
                  <a:pt x="5430395" y="1136405"/>
                </a:cubicBezTo>
                <a:lnTo>
                  <a:pt x="64934" y="1136405"/>
                </a:lnTo>
                <a:cubicBezTo>
                  <a:pt x="29072" y="1136405"/>
                  <a:pt x="0" y="1107333"/>
                  <a:pt x="0" y="1071471"/>
                </a:cubicBezTo>
                <a:lnTo>
                  <a:pt x="0" y="64934"/>
                </a:lnTo>
                <a:cubicBezTo>
                  <a:pt x="0" y="29072"/>
                  <a:pt x="29072" y="0"/>
                  <a:pt x="64934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6337892" y="4227424"/>
            <a:ext cx="1006530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 Speed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6337892" y="4487174"/>
            <a:ext cx="608788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ResNet-50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11032766" y="4487174"/>
            <a:ext cx="592554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 ms/img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337892" y="4714455"/>
            <a:ext cx="665609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EfficientNet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11032055" y="4714455"/>
            <a:ext cx="592554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32 ms/img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6337892" y="4941736"/>
            <a:ext cx="714312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DenseNet121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11028302" y="4941736"/>
            <a:ext cx="600671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38 ms/img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6042427" y="5568380"/>
            <a:ext cx="5826510" cy="1077961"/>
          </a:xfrm>
          <a:custGeom>
            <a:avLst/>
            <a:gdLst/>
            <a:ahLst/>
            <a:cxnLst/>
            <a:rect l="l" t="t" r="r" b="b"/>
            <a:pathLst>
              <a:path w="5826510" h="1077961">
                <a:moveTo>
                  <a:pt x="64936" y="0"/>
                </a:moveTo>
                <a:lnTo>
                  <a:pt x="5761573" y="0"/>
                </a:lnTo>
                <a:cubicBezTo>
                  <a:pt x="5797437" y="0"/>
                  <a:pt x="5826510" y="29073"/>
                  <a:pt x="5826510" y="64936"/>
                </a:cubicBezTo>
                <a:lnTo>
                  <a:pt x="5826510" y="1013025"/>
                </a:lnTo>
                <a:cubicBezTo>
                  <a:pt x="5826510" y="1048888"/>
                  <a:pt x="5797437" y="1077961"/>
                  <a:pt x="5761573" y="1077961"/>
                </a:cubicBezTo>
                <a:lnTo>
                  <a:pt x="64936" y="1077961"/>
                </a:lnTo>
                <a:cubicBezTo>
                  <a:pt x="29073" y="1077961"/>
                  <a:pt x="0" y="1048888"/>
                  <a:pt x="0" y="1013025"/>
                </a:cubicBezTo>
                <a:lnTo>
                  <a:pt x="0" y="64936"/>
                </a:lnTo>
                <a:cubicBezTo>
                  <a:pt x="0" y="29097"/>
                  <a:pt x="29097" y="0"/>
                  <a:pt x="64936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>
                  <a:alpha val="20000"/>
                </a:srgbClr>
              </a:gs>
              <a:gs pos="100000">
                <a:srgbClr val="38B2AC">
                  <a:alpha val="20000"/>
                </a:srgbClr>
              </a:gs>
            </a:gsLst>
            <a:lin ang="2700000" scaled="1"/>
          </a:gradFill>
          <a:ln w="10160">
            <a:solidFill>
              <a:srgbClr val="3182CE">
                <a:alpha val="4000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228310" y="5766446"/>
            <a:ext cx="162344" cy="162344"/>
          </a:xfrm>
          <a:custGeom>
            <a:avLst/>
            <a:gdLst/>
            <a:ahLst/>
            <a:cxnLst/>
            <a:rect l="l" t="t" r="r" b="b"/>
            <a:pathLst>
              <a:path w="162344" h="162344">
                <a:moveTo>
                  <a:pt x="45754" y="0"/>
                </a:moveTo>
                <a:lnTo>
                  <a:pt x="116780" y="0"/>
                </a:lnTo>
                <a:cubicBezTo>
                  <a:pt x="125182" y="0"/>
                  <a:pt x="132031" y="6912"/>
                  <a:pt x="131714" y="15283"/>
                </a:cubicBezTo>
                <a:cubicBezTo>
                  <a:pt x="131650" y="16964"/>
                  <a:pt x="131587" y="18644"/>
                  <a:pt x="131492" y="20293"/>
                </a:cubicBezTo>
                <a:lnTo>
                  <a:pt x="147219" y="20293"/>
                </a:lnTo>
                <a:cubicBezTo>
                  <a:pt x="155495" y="20293"/>
                  <a:pt x="162787" y="27142"/>
                  <a:pt x="162153" y="36083"/>
                </a:cubicBezTo>
                <a:cubicBezTo>
                  <a:pt x="159775" y="68964"/>
                  <a:pt x="142970" y="87038"/>
                  <a:pt x="124738" y="96487"/>
                </a:cubicBezTo>
                <a:cubicBezTo>
                  <a:pt x="119728" y="99087"/>
                  <a:pt x="114623" y="101021"/>
                  <a:pt x="109772" y="102448"/>
                </a:cubicBezTo>
                <a:cubicBezTo>
                  <a:pt x="103367" y="111516"/>
                  <a:pt x="96709" y="116304"/>
                  <a:pt x="91413" y="118872"/>
                </a:cubicBezTo>
                <a:lnTo>
                  <a:pt x="91413" y="142051"/>
                </a:lnTo>
                <a:lnTo>
                  <a:pt x="111706" y="142051"/>
                </a:lnTo>
                <a:cubicBezTo>
                  <a:pt x="117319" y="142051"/>
                  <a:pt x="121853" y="146585"/>
                  <a:pt x="121853" y="152197"/>
                </a:cubicBezTo>
                <a:cubicBezTo>
                  <a:pt x="121853" y="157809"/>
                  <a:pt x="117319" y="162344"/>
                  <a:pt x="111706" y="162344"/>
                </a:cubicBezTo>
                <a:lnTo>
                  <a:pt x="50827" y="162344"/>
                </a:lnTo>
                <a:cubicBezTo>
                  <a:pt x="45215" y="162344"/>
                  <a:pt x="40681" y="157809"/>
                  <a:pt x="40681" y="152197"/>
                </a:cubicBezTo>
                <a:cubicBezTo>
                  <a:pt x="40681" y="146585"/>
                  <a:pt x="45215" y="142051"/>
                  <a:pt x="50827" y="142051"/>
                </a:cubicBezTo>
                <a:lnTo>
                  <a:pt x="71120" y="142051"/>
                </a:lnTo>
                <a:lnTo>
                  <a:pt x="71120" y="118872"/>
                </a:lnTo>
                <a:cubicBezTo>
                  <a:pt x="66047" y="116431"/>
                  <a:pt x="59737" y="111897"/>
                  <a:pt x="53586" y="103557"/>
                </a:cubicBezTo>
                <a:cubicBezTo>
                  <a:pt x="47752" y="102035"/>
                  <a:pt x="41410" y="99721"/>
                  <a:pt x="35227" y="96233"/>
                </a:cubicBezTo>
                <a:cubicBezTo>
                  <a:pt x="18073" y="86625"/>
                  <a:pt x="2600" y="68520"/>
                  <a:pt x="380" y="36020"/>
                </a:cubicBezTo>
                <a:cubicBezTo>
                  <a:pt x="-222" y="27110"/>
                  <a:pt x="7039" y="20261"/>
                  <a:pt x="15315" y="20261"/>
                </a:cubicBezTo>
                <a:lnTo>
                  <a:pt x="31042" y="20261"/>
                </a:lnTo>
                <a:cubicBezTo>
                  <a:pt x="30947" y="18612"/>
                  <a:pt x="30883" y="16964"/>
                  <a:pt x="30820" y="15251"/>
                </a:cubicBezTo>
                <a:cubicBezTo>
                  <a:pt x="30503" y="6849"/>
                  <a:pt x="37352" y="-32"/>
                  <a:pt x="45754" y="-32"/>
                </a:cubicBezTo>
                <a:close/>
                <a:moveTo>
                  <a:pt x="32183" y="35513"/>
                </a:moveTo>
                <a:lnTo>
                  <a:pt x="15568" y="35513"/>
                </a:lnTo>
                <a:cubicBezTo>
                  <a:pt x="17534" y="62369"/>
                  <a:pt x="29869" y="75813"/>
                  <a:pt x="42583" y="82947"/>
                </a:cubicBezTo>
                <a:cubicBezTo>
                  <a:pt x="38018" y="71120"/>
                  <a:pt x="34244" y="55679"/>
                  <a:pt x="32183" y="35513"/>
                </a:cubicBezTo>
                <a:close/>
                <a:moveTo>
                  <a:pt x="120489" y="81425"/>
                </a:moveTo>
                <a:cubicBezTo>
                  <a:pt x="133331" y="73879"/>
                  <a:pt x="144936" y="60467"/>
                  <a:pt x="146902" y="35513"/>
                </a:cubicBezTo>
                <a:lnTo>
                  <a:pt x="130319" y="35513"/>
                </a:lnTo>
                <a:cubicBezTo>
                  <a:pt x="128353" y="54823"/>
                  <a:pt x="124802" y="69820"/>
                  <a:pt x="120489" y="8142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9" name="Text 35"/>
          <p:cNvSpPr/>
          <p:nvPr/>
        </p:nvSpPr>
        <p:spPr>
          <a:xfrm>
            <a:off x="6508352" y="5733977"/>
            <a:ext cx="1047116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Performer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6208017" y="6058664"/>
            <a:ext cx="5560266" cy="422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3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ResNet-50</a:t>
            </a:r>
            <a:r>
              <a:rPr lang="en-US" sz="1023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achieved the highest accuracy with only </a:t>
            </a:r>
            <a:r>
              <a:rPr lang="en-US" sz="1023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errors</a:t>
            </a:r>
            <a:r>
              <a:rPr lang="en-US" sz="1023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out of 523 test images, making it the optimal choice for clinical deployment.</a:t>
            </a:r>
            <a:endParaRPr lang="en-US" sz="1600" dirty="0"/>
          </a:p>
        </p:txBody>
      </p:sp>
      <p:graphicFrame>
        <p:nvGraphicFramePr>
          <p:cNvPr id="47" name="Chart 4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3680150"/>
              </p:ext>
            </p:extLst>
          </p:nvPr>
        </p:nvGraphicFramePr>
        <p:xfrm>
          <a:off x="782292" y="1446415"/>
          <a:ext cx="4889990" cy="2881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2327" y="419024"/>
            <a:ext cx="64465" cy="386792"/>
          </a:xfrm>
          <a:custGeom>
            <a:avLst/>
            <a:gdLst/>
            <a:ahLst/>
            <a:cxnLst/>
            <a:rect l="l" t="t" r="r" b="b"/>
            <a:pathLst>
              <a:path w="64465" h="386792">
                <a:moveTo>
                  <a:pt x="32233" y="0"/>
                </a:moveTo>
                <a:lnTo>
                  <a:pt x="32233" y="0"/>
                </a:lnTo>
                <a:cubicBezTo>
                  <a:pt x="50022" y="0"/>
                  <a:pt x="64465" y="14443"/>
                  <a:pt x="64465" y="32233"/>
                </a:cubicBezTo>
                <a:lnTo>
                  <a:pt x="64465" y="354559"/>
                </a:lnTo>
                <a:cubicBezTo>
                  <a:pt x="64465" y="372361"/>
                  <a:pt x="50034" y="386792"/>
                  <a:pt x="32233" y="386792"/>
                </a:cubicBezTo>
                <a:lnTo>
                  <a:pt x="32233" y="386792"/>
                </a:lnTo>
                <a:cubicBezTo>
                  <a:pt x="14431" y="386792"/>
                  <a:pt x="0" y="372361"/>
                  <a:pt x="0" y="354559"/>
                </a:cubicBezTo>
                <a:lnTo>
                  <a:pt x="0" y="32233"/>
                </a:lnTo>
                <a:cubicBezTo>
                  <a:pt x="0" y="14443"/>
                  <a:pt x="14443" y="0"/>
                  <a:pt x="32233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" name="Text 1"/>
          <p:cNvSpPr/>
          <p:nvPr/>
        </p:nvSpPr>
        <p:spPr>
          <a:xfrm>
            <a:off x="515722" y="322327"/>
            <a:ext cx="295734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kern="0" spc="5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OUTCOMES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5722" y="515722"/>
            <a:ext cx="3086276" cy="386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4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&amp; Output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550" y="1099133"/>
            <a:ext cx="5671335" cy="2552826"/>
          </a:xfrm>
          <a:custGeom>
            <a:avLst/>
            <a:gdLst/>
            <a:ahLst/>
            <a:cxnLst/>
            <a:rect l="l" t="t" r="r" b="b"/>
            <a:pathLst>
              <a:path w="5671335" h="2552826">
                <a:moveTo>
                  <a:pt x="64459" y="0"/>
                </a:moveTo>
                <a:lnTo>
                  <a:pt x="5606876" y="0"/>
                </a:lnTo>
                <a:cubicBezTo>
                  <a:pt x="5642476" y="0"/>
                  <a:pt x="5671335" y="28859"/>
                  <a:pt x="5671335" y="64459"/>
                </a:cubicBezTo>
                <a:lnTo>
                  <a:pt x="5671335" y="2488367"/>
                </a:lnTo>
                <a:cubicBezTo>
                  <a:pt x="5671335" y="2523967"/>
                  <a:pt x="5642476" y="2552826"/>
                  <a:pt x="5606876" y="2552826"/>
                </a:cubicBezTo>
                <a:lnTo>
                  <a:pt x="64459" y="2552826"/>
                </a:lnTo>
                <a:cubicBezTo>
                  <a:pt x="28859" y="2552826"/>
                  <a:pt x="0" y="2523967"/>
                  <a:pt x="0" y="2488367"/>
                </a:cubicBezTo>
                <a:lnTo>
                  <a:pt x="0" y="64459"/>
                </a:lnTo>
                <a:cubicBezTo>
                  <a:pt x="0" y="28883"/>
                  <a:pt x="28883" y="0"/>
                  <a:pt x="64459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9936" y="1263526"/>
            <a:ext cx="386792" cy="386792"/>
          </a:xfrm>
          <a:custGeom>
            <a:avLst/>
            <a:gdLst/>
            <a:ahLst/>
            <a:cxnLst/>
            <a:rect l="l" t="t" r="r" b="b"/>
            <a:pathLst>
              <a:path w="386792" h="386792">
                <a:moveTo>
                  <a:pt x="193396" y="0"/>
                </a:moveTo>
                <a:lnTo>
                  <a:pt x="193396" y="0"/>
                </a:lnTo>
                <a:cubicBezTo>
                  <a:pt x="300134" y="0"/>
                  <a:pt x="386792" y="86658"/>
                  <a:pt x="386792" y="193396"/>
                </a:cubicBezTo>
                <a:lnTo>
                  <a:pt x="386792" y="193396"/>
                </a:lnTo>
                <a:cubicBezTo>
                  <a:pt x="386792" y="300134"/>
                  <a:pt x="300134" y="386792"/>
                  <a:pt x="193396" y="386792"/>
                </a:cubicBezTo>
                <a:lnTo>
                  <a:pt x="193396" y="386792"/>
                </a:lnTo>
                <a:cubicBezTo>
                  <a:pt x="86658" y="386792"/>
                  <a:pt x="0" y="300134"/>
                  <a:pt x="0" y="193396"/>
                </a:cubicBezTo>
                <a:lnTo>
                  <a:pt x="0" y="193396"/>
                </a:lnTo>
                <a:cubicBezTo>
                  <a:pt x="0" y="86658"/>
                  <a:pt x="86658" y="0"/>
                  <a:pt x="193396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2751" y="1376340"/>
            <a:ext cx="161163" cy="161163"/>
          </a:xfrm>
          <a:custGeom>
            <a:avLst/>
            <a:gdLst/>
            <a:ahLst/>
            <a:cxnLst/>
            <a:rect l="l" t="t" r="r" b="b"/>
            <a:pathLst>
              <a:path w="161163" h="161163">
                <a:moveTo>
                  <a:pt x="0" y="20145"/>
                </a:moveTo>
                <a:cubicBezTo>
                  <a:pt x="0" y="14574"/>
                  <a:pt x="4501" y="10073"/>
                  <a:pt x="10073" y="10073"/>
                </a:cubicBezTo>
                <a:lnTo>
                  <a:pt x="151091" y="10073"/>
                </a:lnTo>
                <a:cubicBezTo>
                  <a:pt x="156662" y="10073"/>
                  <a:pt x="161163" y="14574"/>
                  <a:pt x="161163" y="20145"/>
                </a:cubicBezTo>
                <a:cubicBezTo>
                  <a:pt x="161163" y="25717"/>
                  <a:pt x="156662" y="30218"/>
                  <a:pt x="151091" y="30218"/>
                </a:cubicBezTo>
                <a:lnTo>
                  <a:pt x="151091" y="130945"/>
                </a:lnTo>
                <a:cubicBezTo>
                  <a:pt x="156662" y="130945"/>
                  <a:pt x="161163" y="135446"/>
                  <a:pt x="161163" y="141018"/>
                </a:cubicBezTo>
                <a:cubicBezTo>
                  <a:pt x="161163" y="146589"/>
                  <a:pt x="156662" y="151091"/>
                  <a:pt x="151091" y="151091"/>
                </a:cubicBezTo>
                <a:lnTo>
                  <a:pt x="10073" y="151091"/>
                </a:lnTo>
                <a:cubicBezTo>
                  <a:pt x="4501" y="151091"/>
                  <a:pt x="0" y="146589"/>
                  <a:pt x="0" y="141018"/>
                </a:cubicBezTo>
                <a:cubicBezTo>
                  <a:pt x="0" y="135446"/>
                  <a:pt x="4501" y="130945"/>
                  <a:pt x="10073" y="130945"/>
                </a:cubicBezTo>
                <a:lnTo>
                  <a:pt x="10073" y="30218"/>
                </a:lnTo>
                <a:cubicBezTo>
                  <a:pt x="4501" y="30218"/>
                  <a:pt x="0" y="25717"/>
                  <a:pt x="0" y="20145"/>
                </a:cubicBezTo>
                <a:close/>
                <a:moveTo>
                  <a:pt x="88136" y="37773"/>
                </a:moveTo>
                <a:cubicBezTo>
                  <a:pt x="88136" y="33586"/>
                  <a:pt x="84768" y="30218"/>
                  <a:pt x="80582" y="30218"/>
                </a:cubicBezTo>
                <a:cubicBezTo>
                  <a:pt x="76395" y="30218"/>
                  <a:pt x="73027" y="33586"/>
                  <a:pt x="73027" y="37773"/>
                </a:cubicBezTo>
                <a:lnTo>
                  <a:pt x="73027" y="42809"/>
                </a:lnTo>
                <a:lnTo>
                  <a:pt x="52882" y="42809"/>
                </a:lnTo>
                <a:cubicBezTo>
                  <a:pt x="48695" y="42809"/>
                  <a:pt x="45327" y="46177"/>
                  <a:pt x="45327" y="50364"/>
                </a:cubicBezTo>
                <a:cubicBezTo>
                  <a:pt x="45327" y="54550"/>
                  <a:pt x="48695" y="57918"/>
                  <a:pt x="52882" y="57918"/>
                </a:cubicBezTo>
                <a:lnTo>
                  <a:pt x="73027" y="57918"/>
                </a:lnTo>
                <a:lnTo>
                  <a:pt x="73027" y="73027"/>
                </a:lnTo>
                <a:lnTo>
                  <a:pt x="47845" y="73027"/>
                </a:lnTo>
                <a:cubicBezTo>
                  <a:pt x="43659" y="73027"/>
                  <a:pt x="40291" y="76395"/>
                  <a:pt x="40291" y="80582"/>
                </a:cubicBezTo>
                <a:cubicBezTo>
                  <a:pt x="40291" y="84768"/>
                  <a:pt x="43659" y="88136"/>
                  <a:pt x="47845" y="88136"/>
                </a:cubicBezTo>
                <a:lnTo>
                  <a:pt x="73027" y="88136"/>
                </a:lnTo>
                <a:lnTo>
                  <a:pt x="73027" y="103245"/>
                </a:lnTo>
                <a:lnTo>
                  <a:pt x="52882" y="103245"/>
                </a:lnTo>
                <a:cubicBezTo>
                  <a:pt x="48695" y="103245"/>
                  <a:pt x="45327" y="106613"/>
                  <a:pt x="45327" y="110800"/>
                </a:cubicBezTo>
                <a:cubicBezTo>
                  <a:pt x="45327" y="114986"/>
                  <a:pt x="48695" y="118354"/>
                  <a:pt x="52882" y="118354"/>
                </a:cubicBezTo>
                <a:lnTo>
                  <a:pt x="73027" y="118354"/>
                </a:lnTo>
                <a:lnTo>
                  <a:pt x="73027" y="123391"/>
                </a:lnTo>
                <a:cubicBezTo>
                  <a:pt x="73027" y="127577"/>
                  <a:pt x="76395" y="130945"/>
                  <a:pt x="80582" y="130945"/>
                </a:cubicBezTo>
                <a:cubicBezTo>
                  <a:pt x="84768" y="130945"/>
                  <a:pt x="88136" y="127577"/>
                  <a:pt x="88136" y="123391"/>
                </a:cubicBezTo>
                <a:lnTo>
                  <a:pt x="88136" y="118354"/>
                </a:lnTo>
                <a:lnTo>
                  <a:pt x="108282" y="118354"/>
                </a:lnTo>
                <a:cubicBezTo>
                  <a:pt x="112468" y="118354"/>
                  <a:pt x="115836" y="114986"/>
                  <a:pt x="115836" y="110800"/>
                </a:cubicBezTo>
                <a:cubicBezTo>
                  <a:pt x="115836" y="106613"/>
                  <a:pt x="112468" y="103245"/>
                  <a:pt x="108282" y="103245"/>
                </a:cubicBezTo>
                <a:lnTo>
                  <a:pt x="88136" y="103245"/>
                </a:lnTo>
                <a:lnTo>
                  <a:pt x="88136" y="88136"/>
                </a:lnTo>
                <a:lnTo>
                  <a:pt x="113318" y="88136"/>
                </a:lnTo>
                <a:cubicBezTo>
                  <a:pt x="117504" y="88136"/>
                  <a:pt x="120872" y="84768"/>
                  <a:pt x="120872" y="80582"/>
                </a:cubicBezTo>
                <a:cubicBezTo>
                  <a:pt x="120872" y="76395"/>
                  <a:pt x="117504" y="73027"/>
                  <a:pt x="113318" y="73027"/>
                </a:cubicBezTo>
                <a:lnTo>
                  <a:pt x="88136" y="73027"/>
                </a:lnTo>
                <a:lnTo>
                  <a:pt x="88136" y="57918"/>
                </a:lnTo>
                <a:lnTo>
                  <a:pt x="108282" y="57918"/>
                </a:lnTo>
                <a:cubicBezTo>
                  <a:pt x="112468" y="57918"/>
                  <a:pt x="115836" y="54550"/>
                  <a:pt x="115836" y="50364"/>
                </a:cubicBezTo>
                <a:cubicBezTo>
                  <a:pt x="115836" y="46177"/>
                  <a:pt x="112468" y="42809"/>
                  <a:pt x="108282" y="42809"/>
                </a:cubicBezTo>
                <a:lnTo>
                  <a:pt x="88136" y="42809"/>
                </a:lnTo>
                <a:lnTo>
                  <a:pt x="88136" y="37773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973426" y="1344108"/>
            <a:ext cx="1458527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Sample Predictions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9936" y="1779249"/>
            <a:ext cx="2602787" cy="1708330"/>
          </a:xfrm>
          <a:custGeom>
            <a:avLst/>
            <a:gdLst/>
            <a:ahLst/>
            <a:cxnLst/>
            <a:rect l="l" t="t" r="r" b="b"/>
            <a:pathLst>
              <a:path w="2602787" h="1708330">
                <a:moveTo>
                  <a:pt x="64472" y="0"/>
                </a:moveTo>
                <a:lnTo>
                  <a:pt x="2538314" y="0"/>
                </a:lnTo>
                <a:cubicBezTo>
                  <a:pt x="2573921" y="0"/>
                  <a:pt x="2602787" y="28865"/>
                  <a:pt x="2602787" y="64472"/>
                </a:cubicBezTo>
                <a:lnTo>
                  <a:pt x="2602787" y="1643858"/>
                </a:lnTo>
                <a:cubicBezTo>
                  <a:pt x="2602787" y="1679465"/>
                  <a:pt x="2573921" y="1708330"/>
                  <a:pt x="2538314" y="1708330"/>
                </a:cubicBezTo>
                <a:lnTo>
                  <a:pt x="64472" y="1708330"/>
                </a:lnTo>
                <a:cubicBezTo>
                  <a:pt x="28865" y="1708330"/>
                  <a:pt x="0" y="1679465"/>
                  <a:pt x="0" y="1643858"/>
                </a:cubicBezTo>
                <a:lnTo>
                  <a:pt x="0" y="64472"/>
                </a:lnTo>
                <a:cubicBezTo>
                  <a:pt x="0" y="28865"/>
                  <a:pt x="28865" y="0"/>
                  <a:pt x="6447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18867" y="1908179"/>
            <a:ext cx="2344925" cy="902514"/>
          </a:xfrm>
          <a:custGeom>
            <a:avLst/>
            <a:gdLst/>
            <a:ahLst/>
            <a:cxnLst/>
            <a:rect l="l" t="t" r="r" b="b"/>
            <a:pathLst>
              <a:path w="2344925" h="902514">
                <a:moveTo>
                  <a:pt x="64467" y="0"/>
                </a:moveTo>
                <a:lnTo>
                  <a:pt x="2280459" y="0"/>
                </a:lnTo>
                <a:cubicBezTo>
                  <a:pt x="2316063" y="0"/>
                  <a:pt x="2344925" y="28863"/>
                  <a:pt x="2344925" y="64467"/>
                </a:cubicBezTo>
                <a:lnTo>
                  <a:pt x="2344925" y="838048"/>
                </a:lnTo>
                <a:cubicBezTo>
                  <a:pt x="2344925" y="873652"/>
                  <a:pt x="2316063" y="902514"/>
                  <a:pt x="2280459" y="902514"/>
                </a:cubicBezTo>
                <a:lnTo>
                  <a:pt x="64467" y="902514"/>
                </a:lnTo>
                <a:cubicBezTo>
                  <a:pt x="28863" y="902514"/>
                  <a:pt x="0" y="873652"/>
                  <a:pt x="0" y="838048"/>
                </a:cubicBezTo>
                <a:lnTo>
                  <a:pt x="0" y="64467"/>
                </a:lnTo>
                <a:cubicBezTo>
                  <a:pt x="0" y="28887"/>
                  <a:pt x="28887" y="0"/>
                  <a:pt x="6446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75371" y="2166040"/>
            <a:ext cx="435141" cy="386792"/>
          </a:xfrm>
          <a:custGeom>
            <a:avLst/>
            <a:gdLst/>
            <a:ahLst/>
            <a:cxnLst/>
            <a:rect l="l" t="t" r="r" b="b"/>
            <a:pathLst>
              <a:path w="435141" h="386792">
                <a:moveTo>
                  <a:pt x="241745" y="24174"/>
                </a:moveTo>
                <a:cubicBezTo>
                  <a:pt x="241745" y="10803"/>
                  <a:pt x="230942" y="0"/>
                  <a:pt x="217570" y="0"/>
                </a:cubicBezTo>
                <a:cubicBezTo>
                  <a:pt x="204199" y="0"/>
                  <a:pt x="193396" y="10803"/>
                  <a:pt x="193396" y="24174"/>
                </a:cubicBezTo>
                <a:lnTo>
                  <a:pt x="193396" y="131373"/>
                </a:lnTo>
                <a:lnTo>
                  <a:pt x="169221" y="145878"/>
                </a:lnTo>
                <a:lnTo>
                  <a:pt x="169221" y="57717"/>
                </a:lnTo>
                <a:cubicBezTo>
                  <a:pt x="169221" y="39208"/>
                  <a:pt x="154188" y="24174"/>
                  <a:pt x="135679" y="24174"/>
                </a:cubicBezTo>
                <a:cubicBezTo>
                  <a:pt x="126236" y="24174"/>
                  <a:pt x="117246" y="28178"/>
                  <a:pt x="110900" y="35129"/>
                </a:cubicBezTo>
                <a:lnTo>
                  <a:pt x="90957" y="57037"/>
                </a:lnTo>
                <a:cubicBezTo>
                  <a:pt x="32409" y="121477"/>
                  <a:pt x="0" y="205332"/>
                  <a:pt x="0" y="292360"/>
                </a:cubicBezTo>
                <a:lnTo>
                  <a:pt x="0" y="315402"/>
                </a:lnTo>
                <a:cubicBezTo>
                  <a:pt x="0" y="354836"/>
                  <a:pt x="31956" y="386792"/>
                  <a:pt x="71390" y="386792"/>
                </a:cubicBezTo>
                <a:cubicBezTo>
                  <a:pt x="88010" y="386792"/>
                  <a:pt x="104404" y="382939"/>
                  <a:pt x="119286" y="375460"/>
                </a:cubicBezTo>
                <a:lnTo>
                  <a:pt x="123063" y="373571"/>
                </a:lnTo>
                <a:cubicBezTo>
                  <a:pt x="151317" y="359444"/>
                  <a:pt x="169146" y="330586"/>
                  <a:pt x="169146" y="298933"/>
                </a:cubicBezTo>
                <a:lnTo>
                  <a:pt x="169146" y="202235"/>
                </a:lnTo>
                <a:lnTo>
                  <a:pt x="217495" y="173225"/>
                </a:lnTo>
                <a:lnTo>
                  <a:pt x="265844" y="202235"/>
                </a:lnTo>
                <a:lnTo>
                  <a:pt x="265844" y="298933"/>
                </a:lnTo>
                <a:cubicBezTo>
                  <a:pt x="265844" y="330511"/>
                  <a:pt x="283673" y="359444"/>
                  <a:pt x="311926" y="373571"/>
                </a:cubicBezTo>
                <a:lnTo>
                  <a:pt x="315704" y="375460"/>
                </a:lnTo>
                <a:cubicBezTo>
                  <a:pt x="330586" y="382863"/>
                  <a:pt x="346979" y="386792"/>
                  <a:pt x="363599" y="386792"/>
                </a:cubicBezTo>
                <a:cubicBezTo>
                  <a:pt x="403034" y="386792"/>
                  <a:pt x="434990" y="354836"/>
                  <a:pt x="434990" y="315402"/>
                </a:cubicBezTo>
                <a:lnTo>
                  <a:pt x="434990" y="310718"/>
                </a:lnTo>
                <a:cubicBezTo>
                  <a:pt x="434990" y="226787"/>
                  <a:pt x="407265" y="145274"/>
                  <a:pt x="356120" y="78794"/>
                </a:cubicBezTo>
                <a:lnTo>
                  <a:pt x="324014" y="36791"/>
                </a:lnTo>
                <a:cubicBezTo>
                  <a:pt x="317895" y="28783"/>
                  <a:pt x="308376" y="24174"/>
                  <a:pt x="298328" y="24174"/>
                </a:cubicBezTo>
                <a:cubicBezTo>
                  <a:pt x="280424" y="24174"/>
                  <a:pt x="265919" y="38679"/>
                  <a:pt x="265919" y="56583"/>
                </a:cubicBezTo>
                <a:lnTo>
                  <a:pt x="265919" y="145878"/>
                </a:lnTo>
                <a:lnTo>
                  <a:pt x="241745" y="131373"/>
                </a:lnTo>
                <a:lnTo>
                  <a:pt x="241745" y="24174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2" name="Text 10"/>
          <p:cNvSpPr/>
          <p:nvPr/>
        </p:nvSpPr>
        <p:spPr>
          <a:xfrm>
            <a:off x="618867" y="2923508"/>
            <a:ext cx="797758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 Case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09491" y="2907391"/>
            <a:ext cx="556013" cy="225629"/>
          </a:xfrm>
          <a:custGeom>
            <a:avLst/>
            <a:gdLst/>
            <a:ahLst/>
            <a:cxnLst/>
            <a:rect l="l" t="t" r="r" b="b"/>
            <a:pathLst>
              <a:path w="556013" h="225629">
                <a:moveTo>
                  <a:pt x="112814" y="0"/>
                </a:moveTo>
                <a:lnTo>
                  <a:pt x="443199" y="0"/>
                </a:lnTo>
                <a:cubicBezTo>
                  <a:pt x="505505" y="0"/>
                  <a:pt x="556013" y="50509"/>
                  <a:pt x="556013" y="112814"/>
                </a:cubicBezTo>
                <a:lnTo>
                  <a:pt x="556013" y="112814"/>
                </a:lnTo>
                <a:cubicBezTo>
                  <a:pt x="556013" y="175120"/>
                  <a:pt x="505505" y="225629"/>
                  <a:pt x="443199" y="225629"/>
                </a:cubicBezTo>
                <a:lnTo>
                  <a:pt x="112814" y="225629"/>
                </a:lnTo>
                <a:cubicBezTo>
                  <a:pt x="50509" y="225629"/>
                  <a:pt x="0" y="175120"/>
                  <a:pt x="0" y="112814"/>
                </a:cubicBezTo>
                <a:lnTo>
                  <a:pt x="0" y="112814"/>
                </a:lnTo>
                <a:cubicBezTo>
                  <a:pt x="0" y="50509"/>
                  <a:pt x="50509" y="0"/>
                  <a:pt x="112814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409491" y="2907391"/>
            <a:ext cx="612420" cy="225629"/>
          </a:xfrm>
          <a:prstGeom prst="rect">
            <a:avLst/>
          </a:prstGeom>
          <a:noFill/>
          <a:ln/>
        </p:spPr>
        <p:txBody>
          <a:bodyPr wrap="square" lIns="96698" tIns="32233" rIns="96698" bIns="32233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8867" y="3197485"/>
            <a:ext cx="240133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Confidence: 98.7%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24977" y="1779249"/>
            <a:ext cx="2602787" cy="1708330"/>
          </a:xfrm>
          <a:custGeom>
            <a:avLst/>
            <a:gdLst/>
            <a:ahLst/>
            <a:cxnLst/>
            <a:rect l="l" t="t" r="r" b="b"/>
            <a:pathLst>
              <a:path w="2602787" h="1708330">
                <a:moveTo>
                  <a:pt x="64472" y="0"/>
                </a:moveTo>
                <a:lnTo>
                  <a:pt x="2538314" y="0"/>
                </a:lnTo>
                <a:cubicBezTo>
                  <a:pt x="2573921" y="0"/>
                  <a:pt x="2602787" y="28865"/>
                  <a:pt x="2602787" y="64472"/>
                </a:cubicBezTo>
                <a:lnTo>
                  <a:pt x="2602787" y="1643858"/>
                </a:lnTo>
                <a:cubicBezTo>
                  <a:pt x="2602787" y="1679465"/>
                  <a:pt x="2573921" y="1708330"/>
                  <a:pt x="2538314" y="1708330"/>
                </a:cubicBezTo>
                <a:lnTo>
                  <a:pt x="64472" y="1708330"/>
                </a:lnTo>
                <a:cubicBezTo>
                  <a:pt x="28865" y="1708330"/>
                  <a:pt x="0" y="1679465"/>
                  <a:pt x="0" y="1643858"/>
                </a:cubicBezTo>
                <a:lnTo>
                  <a:pt x="0" y="64472"/>
                </a:lnTo>
                <a:cubicBezTo>
                  <a:pt x="0" y="28865"/>
                  <a:pt x="28865" y="0"/>
                  <a:pt x="6447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353908" y="1908179"/>
            <a:ext cx="2344925" cy="902514"/>
          </a:xfrm>
          <a:custGeom>
            <a:avLst/>
            <a:gdLst/>
            <a:ahLst/>
            <a:cxnLst/>
            <a:rect l="l" t="t" r="r" b="b"/>
            <a:pathLst>
              <a:path w="2344925" h="902514">
                <a:moveTo>
                  <a:pt x="64467" y="0"/>
                </a:moveTo>
                <a:lnTo>
                  <a:pt x="2280459" y="0"/>
                </a:lnTo>
                <a:cubicBezTo>
                  <a:pt x="2316063" y="0"/>
                  <a:pt x="2344925" y="28863"/>
                  <a:pt x="2344925" y="64467"/>
                </a:cubicBezTo>
                <a:lnTo>
                  <a:pt x="2344925" y="838048"/>
                </a:lnTo>
                <a:cubicBezTo>
                  <a:pt x="2344925" y="873652"/>
                  <a:pt x="2316063" y="902514"/>
                  <a:pt x="2280459" y="902514"/>
                </a:cubicBezTo>
                <a:lnTo>
                  <a:pt x="64467" y="902514"/>
                </a:lnTo>
                <a:cubicBezTo>
                  <a:pt x="28863" y="902514"/>
                  <a:pt x="0" y="873652"/>
                  <a:pt x="0" y="838048"/>
                </a:cubicBezTo>
                <a:lnTo>
                  <a:pt x="0" y="64467"/>
                </a:lnTo>
                <a:cubicBezTo>
                  <a:pt x="0" y="28887"/>
                  <a:pt x="28887" y="0"/>
                  <a:pt x="6446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310513" y="2166040"/>
            <a:ext cx="435141" cy="386792"/>
          </a:xfrm>
          <a:custGeom>
            <a:avLst/>
            <a:gdLst/>
            <a:ahLst/>
            <a:cxnLst/>
            <a:rect l="l" t="t" r="r" b="b"/>
            <a:pathLst>
              <a:path w="435141" h="386792">
                <a:moveTo>
                  <a:pt x="217570" y="0"/>
                </a:moveTo>
                <a:cubicBezTo>
                  <a:pt x="204199" y="0"/>
                  <a:pt x="193396" y="10803"/>
                  <a:pt x="193396" y="24174"/>
                </a:cubicBezTo>
                <a:lnTo>
                  <a:pt x="193396" y="138474"/>
                </a:lnTo>
                <a:cubicBezTo>
                  <a:pt x="200648" y="134848"/>
                  <a:pt x="208883" y="132809"/>
                  <a:pt x="217570" y="132809"/>
                </a:cubicBezTo>
                <a:cubicBezTo>
                  <a:pt x="226258" y="132809"/>
                  <a:pt x="234493" y="134848"/>
                  <a:pt x="241745" y="138474"/>
                </a:cubicBezTo>
                <a:lnTo>
                  <a:pt x="241745" y="24174"/>
                </a:lnTo>
                <a:cubicBezTo>
                  <a:pt x="241745" y="10803"/>
                  <a:pt x="230942" y="0"/>
                  <a:pt x="217570" y="0"/>
                </a:cubicBezTo>
                <a:close/>
                <a:moveTo>
                  <a:pt x="340029" y="340709"/>
                </a:moveTo>
                <a:cubicBezTo>
                  <a:pt x="346073" y="354534"/>
                  <a:pt x="346148" y="370323"/>
                  <a:pt x="340180" y="384148"/>
                </a:cubicBezTo>
                <a:cubicBezTo>
                  <a:pt x="347886" y="385885"/>
                  <a:pt x="355743" y="386792"/>
                  <a:pt x="363750" y="386792"/>
                </a:cubicBezTo>
                <a:cubicBezTo>
                  <a:pt x="403185" y="386792"/>
                  <a:pt x="435141" y="354836"/>
                  <a:pt x="435141" y="315402"/>
                </a:cubicBezTo>
                <a:lnTo>
                  <a:pt x="435141" y="310718"/>
                </a:lnTo>
                <a:cubicBezTo>
                  <a:pt x="435141" y="226787"/>
                  <a:pt x="407416" y="145274"/>
                  <a:pt x="356272" y="78794"/>
                </a:cubicBezTo>
                <a:lnTo>
                  <a:pt x="324014" y="36791"/>
                </a:lnTo>
                <a:cubicBezTo>
                  <a:pt x="317895" y="28783"/>
                  <a:pt x="308376" y="24174"/>
                  <a:pt x="298328" y="24174"/>
                </a:cubicBezTo>
                <a:cubicBezTo>
                  <a:pt x="280424" y="24174"/>
                  <a:pt x="265919" y="38679"/>
                  <a:pt x="265919" y="56583"/>
                </a:cubicBezTo>
                <a:lnTo>
                  <a:pt x="265919" y="162271"/>
                </a:lnTo>
                <a:cubicBezTo>
                  <a:pt x="266826" y="163933"/>
                  <a:pt x="267581" y="165746"/>
                  <a:pt x="268261" y="167484"/>
                </a:cubicBezTo>
                <a:cubicBezTo>
                  <a:pt x="288205" y="158721"/>
                  <a:pt x="312304" y="162498"/>
                  <a:pt x="328622" y="178816"/>
                </a:cubicBezTo>
                <a:cubicBezTo>
                  <a:pt x="344940" y="195133"/>
                  <a:pt x="348717" y="219308"/>
                  <a:pt x="339954" y="239176"/>
                </a:cubicBezTo>
                <a:cubicBezTo>
                  <a:pt x="360351" y="247184"/>
                  <a:pt x="374705" y="266901"/>
                  <a:pt x="374705" y="289943"/>
                </a:cubicBezTo>
                <a:cubicBezTo>
                  <a:pt x="374705" y="312984"/>
                  <a:pt x="360351" y="332777"/>
                  <a:pt x="340029" y="340634"/>
                </a:cubicBezTo>
                <a:close/>
                <a:moveTo>
                  <a:pt x="166880" y="167559"/>
                </a:moveTo>
                <a:cubicBezTo>
                  <a:pt x="167559" y="165746"/>
                  <a:pt x="168390" y="164009"/>
                  <a:pt x="169221" y="162347"/>
                </a:cubicBezTo>
                <a:lnTo>
                  <a:pt x="169221" y="57717"/>
                </a:lnTo>
                <a:cubicBezTo>
                  <a:pt x="169221" y="39208"/>
                  <a:pt x="154188" y="24174"/>
                  <a:pt x="135679" y="24174"/>
                </a:cubicBezTo>
                <a:cubicBezTo>
                  <a:pt x="126236" y="24174"/>
                  <a:pt x="117246" y="28178"/>
                  <a:pt x="110900" y="35129"/>
                </a:cubicBezTo>
                <a:lnTo>
                  <a:pt x="90957" y="57037"/>
                </a:lnTo>
                <a:cubicBezTo>
                  <a:pt x="32409" y="121477"/>
                  <a:pt x="0" y="205332"/>
                  <a:pt x="0" y="292360"/>
                </a:cubicBezTo>
                <a:lnTo>
                  <a:pt x="0" y="315402"/>
                </a:lnTo>
                <a:cubicBezTo>
                  <a:pt x="0" y="354836"/>
                  <a:pt x="31956" y="386792"/>
                  <a:pt x="71390" y="386792"/>
                </a:cubicBezTo>
                <a:cubicBezTo>
                  <a:pt x="79323" y="386792"/>
                  <a:pt x="87255" y="385885"/>
                  <a:pt x="94960" y="384148"/>
                </a:cubicBezTo>
                <a:cubicBezTo>
                  <a:pt x="88992" y="370323"/>
                  <a:pt x="89068" y="354458"/>
                  <a:pt x="95112" y="340709"/>
                </a:cubicBezTo>
                <a:cubicBezTo>
                  <a:pt x="74790" y="332852"/>
                  <a:pt x="60436" y="313060"/>
                  <a:pt x="60436" y="290018"/>
                </a:cubicBezTo>
                <a:cubicBezTo>
                  <a:pt x="60436" y="266977"/>
                  <a:pt x="74790" y="247184"/>
                  <a:pt x="95112" y="239327"/>
                </a:cubicBezTo>
                <a:cubicBezTo>
                  <a:pt x="86348" y="219383"/>
                  <a:pt x="90126" y="195285"/>
                  <a:pt x="106443" y="178967"/>
                </a:cubicBezTo>
                <a:cubicBezTo>
                  <a:pt x="122761" y="162649"/>
                  <a:pt x="146936" y="158872"/>
                  <a:pt x="166804" y="167635"/>
                </a:cubicBezTo>
                <a:close/>
                <a:moveTo>
                  <a:pt x="114829" y="308225"/>
                </a:moveTo>
                <a:cubicBezTo>
                  <a:pt x="136586" y="308225"/>
                  <a:pt x="147464" y="334514"/>
                  <a:pt x="132129" y="349926"/>
                </a:cubicBezTo>
                <a:cubicBezTo>
                  <a:pt x="125027" y="357027"/>
                  <a:pt x="125027" y="368510"/>
                  <a:pt x="132129" y="375536"/>
                </a:cubicBezTo>
                <a:cubicBezTo>
                  <a:pt x="139230" y="382561"/>
                  <a:pt x="150713" y="382637"/>
                  <a:pt x="157739" y="375536"/>
                </a:cubicBezTo>
                <a:cubicBezTo>
                  <a:pt x="173150" y="360124"/>
                  <a:pt x="199440" y="371078"/>
                  <a:pt x="199440" y="392835"/>
                </a:cubicBezTo>
                <a:cubicBezTo>
                  <a:pt x="199440" y="402883"/>
                  <a:pt x="207523" y="410966"/>
                  <a:pt x="217570" y="410966"/>
                </a:cubicBezTo>
                <a:cubicBezTo>
                  <a:pt x="227618" y="410966"/>
                  <a:pt x="235701" y="402883"/>
                  <a:pt x="235701" y="392835"/>
                </a:cubicBezTo>
                <a:cubicBezTo>
                  <a:pt x="235701" y="371078"/>
                  <a:pt x="261991" y="360200"/>
                  <a:pt x="277402" y="375536"/>
                </a:cubicBezTo>
                <a:cubicBezTo>
                  <a:pt x="284504" y="382637"/>
                  <a:pt x="295986" y="382637"/>
                  <a:pt x="303012" y="375536"/>
                </a:cubicBezTo>
                <a:cubicBezTo>
                  <a:pt x="310038" y="368434"/>
                  <a:pt x="310113" y="356951"/>
                  <a:pt x="303012" y="349926"/>
                </a:cubicBezTo>
                <a:cubicBezTo>
                  <a:pt x="287601" y="334514"/>
                  <a:pt x="298555" y="308225"/>
                  <a:pt x="320312" y="308225"/>
                </a:cubicBezTo>
                <a:cubicBezTo>
                  <a:pt x="330359" y="308225"/>
                  <a:pt x="338443" y="300141"/>
                  <a:pt x="338443" y="290094"/>
                </a:cubicBezTo>
                <a:cubicBezTo>
                  <a:pt x="338443" y="280046"/>
                  <a:pt x="330359" y="271963"/>
                  <a:pt x="320312" y="271963"/>
                </a:cubicBezTo>
                <a:cubicBezTo>
                  <a:pt x="298555" y="271963"/>
                  <a:pt x="287676" y="245673"/>
                  <a:pt x="303012" y="230262"/>
                </a:cubicBezTo>
                <a:cubicBezTo>
                  <a:pt x="310113" y="223161"/>
                  <a:pt x="310113" y="211678"/>
                  <a:pt x="303012" y="204652"/>
                </a:cubicBezTo>
                <a:cubicBezTo>
                  <a:pt x="295911" y="197626"/>
                  <a:pt x="284428" y="197551"/>
                  <a:pt x="277402" y="204652"/>
                </a:cubicBezTo>
                <a:cubicBezTo>
                  <a:pt x="261991" y="220063"/>
                  <a:pt x="235701" y="209109"/>
                  <a:pt x="235701" y="187352"/>
                </a:cubicBezTo>
                <a:cubicBezTo>
                  <a:pt x="235701" y="177305"/>
                  <a:pt x="227618" y="169221"/>
                  <a:pt x="217570" y="169221"/>
                </a:cubicBezTo>
                <a:cubicBezTo>
                  <a:pt x="207523" y="169221"/>
                  <a:pt x="199440" y="177305"/>
                  <a:pt x="199440" y="187352"/>
                </a:cubicBezTo>
                <a:cubicBezTo>
                  <a:pt x="199440" y="209109"/>
                  <a:pt x="173150" y="219988"/>
                  <a:pt x="157739" y="204652"/>
                </a:cubicBezTo>
                <a:cubicBezTo>
                  <a:pt x="150637" y="197551"/>
                  <a:pt x="139154" y="197551"/>
                  <a:pt x="132129" y="204652"/>
                </a:cubicBezTo>
                <a:cubicBezTo>
                  <a:pt x="125103" y="211753"/>
                  <a:pt x="125027" y="223236"/>
                  <a:pt x="132129" y="230262"/>
                </a:cubicBezTo>
                <a:cubicBezTo>
                  <a:pt x="147540" y="245673"/>
                  <a:pt x="136586" y="271963"/>
                  <a:pt x="114829" y="271963"/>
                </a:cubicBezTo>
                <a:cubicBezTo>
                  <a:pt x="104781" y="271963"/>
                  <a:pt x="96698" y="280046"/>
                  <a:pt x="96698" y="290094"/>
                </a:cubicBezTo>
                <a:cubicBezTo>
                  <a:pt x="96698" y="300141"/>
                  <a:pt x="104781" y="308225"/>
                  <a:pt x="114829" y="308225"/>
                </a:cubicBezTo>
                <a:close/>
                <a:moveTo>
                  <a:pt x="193396" y="247788"/>
                </a:moveTo>
                <a:cubicBezTo>
                  <a:pt x="203403" y="247788"/>
                  <a:pt x="211527" y="255913"/>
                  <a:pt x="211527" y="265919"/>
                </a:cubicBezTo>
                <a:cubicBezTo>
                  <a:pt x="211527" y="275926"/>
                  <a:pt x="203403" y="284050"/>
                  <a:pt x="193396" y="284050"/>
                </a:cubicBezTo>
                <a:cubicBezTo>
                  <a:pt x="183389" y="284050"/>
                  <a:pt x="175265" y="275926"/>
                  <a:pt x="175265" y="265919"/>
                </a:cubicBezTo>
                <a:cubicBezTo>
                  <a:pt x="175265" y="255913"/>
                  <a:pt x="183389" y="247788"/>
                  <a:pt x="193396" y="247788"/>
                </a:cubicBezTo>
                <a:close/>
                <a:moveTo>
                  <a:pt x="223614" y="314268"/>
                </a:moveTo>
                <a:cubicBezTo>
                  <a:pt x="223614" y="304262"/>
                  <a:pt x="231738" y="296137"/>
                  <a:pt x="241745" y="296137"/>
                </a:cubicBezTo>
                <a:cubicBezTo>
                  <a:pt x="251752" y="296137"/>
                  <a:pt x="259876" y="304262"/>
                  <a:pt x="259876" y="314268"/>
                </a:cubicBezTo>
                <a:cubicBezTo>
                  <a:pt x="259876" y="324275"/>
                  <a:pt x="251752" y="332399"/>
                  <a:pt x="241745" y="332399"/>
                </a:cubicBezTo>
                <a:cubicBezTo>
                  <a:pt x="231738" y="332399"/>
                  <a:pt x="223614" y="324275"/>
                  <a:pt x="223614" y="314268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19" name="Text 17"/>
          <p:cNvSpPr/>
          <p:nvPr/>
        </p:nvSpPr>
        <p:spPr>
          <a:xfrm>
            <a:off x="3353908" y="2923508"/>
            <a:ext cx="1015328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Pneumonia Case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51036" y="2907391"/>
            <a:ext cx="749409" cy="225629"/>
          </a:xfrm>
          <a:custGeom>
            <a:avLst/>
            <a:gdLst/>
            <a:ahLst/>
            <a:cxnLst/>
            <a:rect l="l" t="t" r="r" b="b"/>
            <a:pathLst>
              <a:path w="749409" h="225629">
                <a:moveTo>
                  <a:pt x="112814" y="0"/>
                </a:moveTo>
                <a:lnTo>
                  <a:pt x="636595" y="0"/>
                </a:lnTo>
                <a:cubicBezTo>
                  <a:pt x="698900" y="0"/>
                  <a:pt x="749409" y="50509"/>
                  <a:pt x="749409" y="112814"/>
                </a:cubicBezTo>
                <a:lnTo>
                  <a:pt x="749409" y="112814"/>
                </a:lnTo>
                <a:cubicBezTo>
                  <a:pt x="749409" y="175120"/>
                  <a:pt x="698900" y="225629"/>
                  <a:pt x="636595" y="225629"/>
                </a:cubicBezTo>
                <a:lnTo>
                  <a:pt x="112814" y="225629"/>
                </a:lnTo>
                <a:cubicBezTo>
                  <a:pt x="50509" y="225629"/>
                  <a:pt x="0" y="175120"/>
                  <a:pt x="0" y="112814"/>
                </a:cubicBezTo>
                <a:lnTo>
                  <a:pt x="0" y="112814"/>
                </a:lnTo>
                <a:cubicBezTo>
                  <a:pt x="0" y="50509"/>
                  <a:pt x="50509" y="0"/>
                  <a:pt x="112814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951036" y="2907391"/>
            <a:ext cx="805816" cy="225629"/>
          </a:xfrm>
          <a:prstGeom prst="rect">
            <a:avLst/>
          </a:prstGeom>
          <a:noFill/>
          <a:ln/>
        </p:spPr>
        <p:txBody>
          <a:bodyPr wrap="square" lIns="96698" tIns="32233" rIns="96698" bIns="32233" rtlCol="0" anchor="ctr"/>
          <a:lstStyle/>
          <a:p>
            <a:pPr>
              <a:lnSpc>
                <a:spcPct val="120000"/>
              </a:lnSpc>
            </a:pPr>
            <a:r>
              <a:rPr lang="en-US" sz="888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Pneumonia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53908" y="3197485"/>
            <a:ext cx="2401332" cy="161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Confidence: 99.2%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5550" y="3819574"/>
            <a:ext cx="5671335" cy="2826803"/>
          </a:xfrm>
          <a:custGeom>
            <a:avLst/>
            <a:gdLst/>
            <a:ahLst/>
            <a:cxnLst/>
            <a:rect l="l" t="t" r="r" b="b"/>
            <a:pathLst>
              <a:path w="5671335" h="2826803">
                <a:moveTo>
                  <a:pt x="64479" y="0"/>
                </a:moveTo>
                <a:lnTo>
                  <a:pt x="5606855" y="0"/>
                </a:lnTo>
                <a:cubicBezTo>
                  <a:pt x="5642466" y="0"/>
                  <a:pt x="5671335" y="28868"/>
                  <a:pt x="5671335" y="64479"/>
                </a:cubicBezTo>
                <a:lnTo>
                  <a:pt x="5671335" y="2762324"/>
                </a:lnTo>
                <a:cubicBezTo>
                  <a:pt x="5671335" y="2797935"/>
                  <a:pt x="5642466" y="2826803"/>
                  <a:pt x="5606855" y="2826803"/>
                </a:cubicBezTo>
                <a:lnTo>
                  <a:pt x="64479" y="2826803"/>
                </a:lnTo>
                <a:cubicBezTo>
                  <a:pt x="28868" y="2826803"/>
                  <a:pt x="0" y="2797935"/>
                  <a:pt x="0" y="2762324"/>
                </a:cubicBezTo>
                <a:lnTo>
                  <a:pt x="0" y="64479"/>
                </a:lnTo>
                <a:cubicBezTo>
                  <a:pt x="0" y="28892"/>
                  <a:pt x="28892" y="0"/>
                  <a:pt x="64479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936" y="3983959"/>
            <a:ext cx="386792" cy="386792"/>
          </a:xfrm>
          <a:custGeom>
            <a:avLst/>
            <a:gdLst/>
            <a:ahLst/>
            <a:cxnLst/>
            <a:rect l="l" t="t" r="r" b="b"/>
            <a:pathLst>
              <a:path w="386792" h="386792">
                <a:moveTo>
                  <a:pt x="193396" y="0"/>
                </a:moveTo>
                <a:lnTo>
                  <a:pt x="193396" y="0"/>
                </a:lnTo>
                <a:cubicBezTo>
                  <a:pt x="300134" y="0"/>
                  <a:pt x="386792" y="86658"/>
                  <a:pt x="386792" y="193396"/>
                </a:cubicBezTo>
                <a:lnTo>
                  <a:pt x="386792" y="193396"/>
                </a:lnTo>
                <a:cubicBezTo>
                  <a:pt x="386792" y="300134"/>
                  <a:pt x="300134" y="386792"/>
                  <a:pt x="193396" y="386792"/>
                </a:cubicBezTo>
                <a:lnTo>
                  <a:pt x="193396" y="386792"/>
                </a:lnTo>
                <a:cubicBezTo>
                  <a:pt x="86658" y="386792"/>
                  <a:pt x="0" y="300134"/>
                  <a:pt x="0" y="193396"/>
                </a:cubicBezTo>
                <a:lnTo>
                  <a:pt x="0" y="193396"/>
                </a:lnTo>
                <a:cubicBezTo>
                  <a:pt x="0" y="86658"/>
                  <a:pt x="86658" y="0"/>
                  <a:pt x="193396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12823" y="4096773"/>
            <a:ext cx="141018" cy="161163"/>
          </a:xfrm>
          <a:custGeom>
            <a:avLst/>
            <a:gdLst/>
            <a:ahLst/>
            <a:cxnLst/>
            <a:rect l="l" t="t" r="r" b="b"/>
            <a:pathLst>
              <a:path w="141018" h="161163">
                <a:moveTo>
                  <a:pt x="120872" y="30218"/>
                </a:moveTo>
                <a:lnTo>
                  <a:pt x="120872" y="50364"/>
                </a:lnTo>
                <a:lnTo>
                  <a:pt x="100727" y="50364"/>
                </a:lnTo>
                <a:lnTo>
                  <a:pt x="100727" y="30218"/>
                </a:lnTo>
                <a:lnTo>
                  <a:pt x="120872" y="30218"/>
                </a:lnTo>
                <a:close/>
                <a:moveTo>
                  <a:pt x="120872" y="70509"/>
                </a:moveTo>
                <a:lnTo>
                  <a:pt x="120872" y="90654"/>
                </a:lnTo>
                <a:lnTo>
                  <a:pt x="100727" y="90654"/>
                </a:lnTo>
                <a:lnTo>
                  <a:pt x="100727" y="70509"/>
                </a:lnTo>
                <a:lnTo>
                  <a:pt x="120872" y="70509"/>
                </a:lnTo>
                <a:close/>
                <a:moveTo>
                  <a:pt x="120872" y="110800"/>
                </a:moveTo>
                <a:lnTo>
                  <a:pt x="120872" y="130945"/>
                </a:lnTo>
                <a:lnTo>
                  <a:pt x="100727" y="130945"/>
                </a:lnTo>
                <a:lnTo>
                  <a:pt x="100727" y="110800"/>
                </a:lnTo>
                <a:lnTo>
                  <a:pt x="120872" y="110800"/>
                </a:lnTo>
                <a:close/>
                <a:moveTo>
                  <a:pt x="80582" y="90654"/>
                </a:moveTo>
                <a:lnTo>
                  <a:pt x="60436" y="90654"/>
                </a:lnTo>
                <a:lnTo>
                  <a:pt x="60436" y="70509"/>
                </a:lnTo>
                <a:lnTo>
                  <a:pt x="80582" y="70509"/>
                </a:lnTo>
                <a:lnTo>
                  <a:pt x="80582" y="90654"/>
                </a:lnTo>
                <a:close/>
                <a:moveTo>
                  <a:pt x="60436" y="110800"/>
                </a:moveTo>
                <a:lnTo>
                  <a:pt x="80582" y="110800"/>
                </a:lnTo>
                <a:lnTo>
                  <a:pt x="80582" y="130945"/>
                </a:lnTo>
                <a:lnTo>
                  <a:pt x="60436" y="130945"/>
                </a:lnTo>
                <a:lnTo>
                  <a:pt x="60436" y="110800"/>
                </a:lnTo>
                <a:close/>
                <a:moveTo>
                  <a:pt x="40291" y="90654"/>
                </a:moveTo>
                <a:lnTo>
                  <a:pt x="20145" y="90654"/>
                </a:lnTo>
                <a:lnTo>
                  <a:pt x="20145" y="70509"/>
                </a:lnTo>
                <a:lnTo>
                  <a:pt x="40291" y="70509"/>
                </a:lnTo>
                <a:lnTo>
                  <a:pt x="40291" y="90654"/>
                </a:lnTo>
                <a:close/>
                <a:moveTo>
                  <a:pt x="20145" y="110800"/>
                </a:moveTo>
                <a:lnTo>
                  <a:pt x="40291" y="110800"/>
                </a:lnTo>
                <a:lnTo>
                  <a:pt x="40291" y="130945"/>
                </a:lnTo>
                <a:lnTo>
                  <a:pt x="20145" y="130945"/>
                </a:lnTo>
                <a:lnTo>
                  <a:pt x="20145" y="110800"/>
                </a:lnTo>
                <a:close/>
                <a:moveTo>
                  <a:pt x="20145" y="50364"/>
                </a:moveTo>
                <a:lnTo>
                  <a:pt x="20145" y="30218"/>
                </a:lnTo>
                <a:lnTo>
                  <a:pt x="40291" y="30218"/>
                </a:lnTo>
                <a:lnTo>
                  <a:pt x="40291" y="50364"/>
                </a:lnTo>
                <a:lnTo>
                  <a:pt x="20145" y="50364"/>
                </a:lnTo>
                <a:close/>
                <a:moveTo>
                  <a:pt x="60436" y="50364"/>
                </a:moveTo>
                <a:lnTo>
                  <a:pt x="60436" y="30218"/>
                </a:lnTo>
                <a:lnTo>
                  <a:pt x="80582" y="30218"/>
                </a:lnTo>
                <a:lnTo>
                  <a:pt x="80582" y="50364"/>
                </a:lnTo>
                <a:lnTo>
                  <a:pt x="60436" y="50364"/>
                </a:lnTo>
                <a:close/>
                <a:moveTo>
                  <a:pt x="20145" y="10073"/>
                </a:moveTo>
                <a:cubicBezTo>
                  <a:pt x="9034" y="10073"/>
                  <a:pt x="0" y="19107"/>
                  <a:pt x="0" y="30218"/>
                </a:cubicBezTo>
                <a:lnTo>
                  <a:pt x="0" y="130945"/>
                </a:lnTo>
                <a:cubicBezTo>
                  <a:pt x="0" y="142057"/>
                  <a:pt x="9034" y="151091"/>
                  <a:pt x="20145" y="151091"/>
                </a:cubicBezTo>
                <a:lnTo>
                  <a:pt x="120872" y="151091"/>
                </a:lnTo>
                <a:cubicBezTo>
                  <a:pt x="131984" y="151091"/>
                  <a:pt x="141018" y="142057"/>
                  <a:pt x="141018" y="130945"/>
                </a:cubicBezTo>
                <a:lnTo>
                  <a:pt x="141018" y="30218"/>
                </a:lnTo>
                <a:cubicBezTo>
                  <a:pt x="141018" y="19107"/>
                  <a:pt x="131984" y="10073"/>
                  <a:pt x="120872" y="10073"/>
                </a:cubicBezTo>
                <a:lnTo>
                  <a:pt x="20145" y="1007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6" name="Text 24"/>
          <p:cNvSpPr/>
          <p:nvPr/>
        </p:nvSpPr>
        <p:spPr>
          <a:xfrm>
            <a:off x="973426" y="4064540"/>
            <a:ext cx="2240169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Confusion Matrix (ResNet-50)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59311" y="4661049"/>
            <a:ext cx="1740563" cy="612420"/>
          </a:xfrm>
          <a:custGeom>
            <a:avLst/>
            <a:gdLst/>
            <a:ahLst/>
            <a:cxnLst/>
            <a:rect l="l" t="t" r="r" b="b"/>
            <a:pathLst>
              <a:path w="1740563" h="612420">
                <a:moveTo>
                  <a:pt x="64463" y="0"/>
                </a:moveTo>
                <a:lnTo>
                  <a:pt x="1676100" y="0"/>
                </a:lnTo>
                <a:cubicBezTo>
                  <a:pt x="1711678" y="0"/>
                  <a:pt x="1740563" y="28885"/>
                  <a:pt x="1740563" y="64463"/>
                </a:cubicBezTo>
                <a:lnTo>
                  <a:pt x="1740563" y="547957"/>
                </a:lnTo>
                <a:cubicBezTo>
                  <a:pt x="1740563" y="583535"/>
                  <a:pt x="1711678" y="612420"/>
                  <a:pt x="1676100" y="612420"/>
                </a:cubicBezTo>
                <a:lnTo>
                  <a:pt x="64463" y="612420"/>
                </a:lnTo>
                <a:cubicBezTo>
                  <a:pt x="28885" y="612420"/>
                  <a:pt x="0" y="583535"/>
                  <a:pt x="0" y="547957"/>
                </a:cubicBezTo>
                <a:lnTo>
                  <a:pt x="0" y="64463"/>
                </a:lnTo>
                <a:cubicBezTo>
                  <a:pt x="0" y="28885"/>
                  <a:pt x="28885" y="0"/>
                  <a:pt x="6446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431835" y="4757747"/>
            <a:ext cx="1595516" cy="128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1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 Normal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07660" y="4918808"/>
            <a:ext cx="164386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3" b="1" dirty="0" smtClean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161217" y="4661049"/>
            <a:ext cx="1740563" cy="612420"/>
          </a:xfrm>
          <a:custGeom>
            <a:avLst/>
            <a:gdLst/>
            <a:ahLst/>
            <a:cxnLst/>
            <a:rect l="l" t="t" r="r" b="b"/>
            <a:pathLst>
              <a:path w="1740563" h="612420">
                <a:moveTo>
                  <a:pt x="64463" y="0"/>
                </a:moveTo>
                <a:lnTo>
                  <a:pt x="1676100" y="0"/>
                </a:lnTo>
                <a:cubicBezTo>
                  <a:pt x="1711678" y="0"/>
                  <a:pt x="1740563" y="28885"/>
                  <a:pt x="1740563" y="64463"/>
                </a:cubicBezTo>
                <a:lnTo>
                  <a:pt x="1740563" y="547957"/>
                </a:lnTo>
                <a:cubicBezTo>
                  <a:pt x="1740563" y="583535"/>
                  <a:pt x="1711678" y="612420"/>
                  <a:pt x="1676100" y="612420"/>
                </a:cubicBezTo>
                <a:lnTo>
                  <a:pt x="64463" y="612420"/>
                </a:lnTo>
                <a:cubicBezTo>
                  <a:pt x="28885" y="612420"/>
                  <a:pt x="0" y="583535"/>
                  <a:pt x="0" y="547957"/>
                </a:cubicBezTo>
                <a:lnTo>
                  <a:pt x="0" y="64463"/>
                </a:lnTo>
                <a:cubicBezTo>
                  <a:pt x="0" y="28885"/>
                  <a:pt x="28885" y="0"/>
                  <a:pt x="6446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233741" y="4757747"/>
            <a:ext cx="1595516" cy="128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1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 Positive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209566" y="4918808"/>
            <a:ext cx="164386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3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359311" y="5337730"/>
            <a:ext cx="1740563" cy="612420"/>
          </a:xfrm>
          <a:custGeom>
            <a:avLst/>
            <a:gdLst/>
            <a:ahLst/>
            <a:cxnLst/>
            <a:rect l="l" t="t" r="r" b="b"/>
            <a:pathLst>
              <a:path w="1740563" h="612420">
                <a:moveTo>
                  <a:pt x="64463" y="0"/>
                </a:moveTo>
                <a:lnTo>
                  <a:pt x="1676100" y="0"/>
                </a:lnTo>
                <a:cubicBezTo>
                  <a:pt x="1711678" y="0"/>
                  <a:pt x="1740563" y="28885"/>
                  <a:pt x="1740563" y="64463"/>
                </a:cubicBezTo>
                <a:lnTo>
                  <a:pt x="1740563" y="547957"/>
                </a:lnTo>
                <a:cubicBezTo>
                  <a:pt x="1740563" y="583535"/>
                  <a:pt x="1711678" y="612420"/>
                  <a:pt x="1676100" y="612420"/>
                </a:cubicBezTo>
                <a:lnTo>
                  <a:pt x="64463" y="612420"/>
                </a:lnTo>
                <a:cubicBezTo>
                  <a:pt x="28885" y="612420"/>
                  <a:pt x="0" y="583535"/>
                  <a:pt x="0" y="547957"/>
                </a:cubicBezTo>
                <a:lnTo>
                  <a:pt x="0" y="64463"/>
                </a:lnTo>
                <a:cubicBezTo>
                  <a:pt x="0" y="28885"/>
                  <a:pt x="28885" y="0"/>
                  <a:pt x="6446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431835" y="5434428"/>
            <a:ext cx="1595516" cy="128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1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 Negative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07660" y="5595497"/>
            <a:ext cx="164386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3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161217" y="5337730"/>
            <a:ext cx="1740563" cy="612420"/>
          </a:xfrm>
          <a:custGeom>
            <a:avLst/>
            <a:gdLst/>
            <a:ahLst/>
            <a:cxnLst/>
            <a:rect l="l" t="t" r="r" b="b"/>
            <a:pathLst>
              <a:path w="1740563" h="612420">
                <a:moveTo>
                  <a:pt x="64463" y="0"/>
                </a:moveTo>
                <a:lnTo>
                  <a:pt x="1676100" y="0"/>
                </a:lnTo>
                <a:cubicBezTo>
                  <a:pt x="1711678" y="0"/>
                  <a:pt x="1740563" y="28885"/>
                  <a:pt x="1740563" y="64463"/>
                </a:cubicBezTo>
                <a:lnTo>
                  <a:pt x="1740563" y="547957"/>
                </a:lnTo>
                <a:cubicBezTo>
                  <a:pt x="1740563" y="583535"/>
                  <a:pt x="1711678" y="612420"/>
                  <a:pt x="1676100" y="612420"/>
                </a:cubicBezTo>
                <a:lnTo>
                  <a:pt x="64463" y="612420"/>
                </a:lnTo>
                <a:cubicBezTo>
                  <a:pt x="28885" y="612420"/>
                  <a:pt x="0" y="583535"/>
                  <a:pt x="0" y="547957"/>
                </a:cubicBezTo>
                <a:lnTo>
                  <a:pt x="0" y="64463"/>
                </a:lnTo>
                <a:cubicBezTo>
                  <a:pt x="0" y="28885"/>
                  <a:pt x="28885" y="0"/>
                  <a:pt x="6446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233741" y="5434428"/>
            <a:ext cx="1595516" cy="128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1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 Pneumonia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209566" y="5595497"/>
            <a:ext cx="164386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3" b="1" dirty="0" smtClean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320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95418" y="1099133"/>
            <a:ext cx="5671335" cy="4099993"/>
          </a:xfrm>
          <a:custGeom>
            <a:avLst/>
            <a:gdLst/>
            <a:ahLst/>
            <a:cxnLst/>
            <a:rect l="l" t="t" r="r" b="b"/>
            <a:pathLst>
              <a:path w="5671335" h="4099993">
                <a:moveTo>
                  <a:pt x="64452" y="0"/>
                </a:moveTo>
                <a:lnTo>
                  <a:pt x="5606883" y="0"/>
                </a:lnTo>
                <a:cubicBezTo>
                  <a:pt x="5642479" y="0"/>
                  <a:pt x="5671335" y="28856"/>
                  <a:pt x="5671335" y="64452"/>
                </a:cubicBezTo>
                <a:lnTo>
                  <a:pt x="5671335" y="4035541"/>
                </a:lnTo>
                <a:cubicBezTo>
                  <a:pt x="5671335" y="4071137"/>
                  <a:pt x="5642479" y="4099993"/>
                  <a:pt x="5606883" y="4099993"/>
                </a:cubicBezTo>
                <a:lnTo>
                  <a:pt x="64452" y="4099993"/>
                </a:lnTo>
                <a:cubicBezTo>
                  <a:pt x="28856" y="4099993"/>
                  <a:pt x="0" y="4071137"/>
                  <a:pt x="0" y="4035541"/>
                </a:cubicBezTo>
                <a:lnTo>
                  <a:pt x="0" y="64452"/>
                </a:lnTo>
                <a:cubicBezTo>
                  <a:pt x="0" y="28880"/>
                  <a:pt x="28880" y="0"/>
                  <a:pt x="64452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w="1016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9804" y="1263526"/>
            <a:ext cx="386792" cy="386792"/>
          </a:xfrm>
          <a:custGeom>
            <a:avLst/>
            <a:gdLst/>
            <a:ahLst/>
            <a:cxnLst/>
            <a:rect l="l" t="t" r="r" b="b"/>
            <a:pathLst>
              <a:path w="386792" h="386792">
                <a:moveTo>
                  <a:pt x="193396" y="0"/>
                </a:moveTo>
                <a:lnTo>
                  <a:pt x="193396" y="0"/>
                </a:lnTo>
                <a:cubicBezTo>
                  <a:pt x="300134" y="0"/>
                  <a:pt x="386792" y="86658"/>
                  <a:pt x="386792" y="193396"/>
                </a:cubicBezTo>
                <a:lnTo>
                  <a:pt x="386792" y="193396"/>
                </a:lnTo>
                <a:cubicBezTo>
                  <a:pt x="386792" y="300134"/>
                  <a:pt x="300134" y="386792"/>
                  <a:pt x="193396" y="386792"/>
                </a:cubicBezTo>
                <a:lnTo>
                  <a:pt x="193396" y="386792"/>
                </a:lnTo>
                <a:cubicBezTo>
                  <a:pt x="86658" y="386792"/>
                  <a:pt x="0" y="300134"/>
                  <a:pt x="0" y="193396"/>
                </a:cubicBezTo>
                <a:lnTo>
                  <a:pt x="0" y="193396"/>
                </a:lnTo>
                <a:cubicBezTo>
                  <a:pt x="0" y="86658"/>
                  <a:pt x="86658" y="0"/>
                  <a:pt x="193396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62546" y="1376340"/>
            <a:ext cx="181309" cy="161163"/>
          </a:xfrm>
          <a:custGeom>
            <a:avLst/>
            <a:gdLst/>
            <a:ahLst/>
            <a:cxnLst/>
            <a:rect l="l" t="t" r="r" b="b"/>
            <a:pathLst>
              <a:path w="181309" h="161163">
                <a:moveTo>
                  <a:pt x="90654" y="10073"/>
                </a:moveTo>
                <a:cubicBezTo>
                  <a:pt x="65221" y="10073"/>
                  <a:pt x="44855" y="21656"/>
                  <a:pt x="30029" y="35443"/>
                </a:cubicBezTo>
                <a:cubicBezTo>
                  <a:pt x="15298" y="49136"/>
                  <a:pt x="5446" y="65473"/>
                  <a:pt x="755" y="76710"/>
                </a:cubicBezTo>
                <a:cubicBezTo>
                  <a:pt x="-283" y="79197"/>
                  <a:pt x="-283" y="81967"/>
                  <a:pt x="755" y="84453"/>
                </a:cubicBezTo>
                <a:cubicBezTo>
                  <a:pt x="5446" y="95691"/>
                  <a:pt x="15298" y="112059"/>
                  <a:pt x="30029" y="125720"/>
                </a:cubicBezTo>
                <a:cubicBezTo>
                  <a:pt x="44855" y="139475"/>
                  <a:pt x="65221" y="151091"/>
                  <a:pt x="90654" y="151091"/>
                </a:cubicBezTo>
                <a:cubicBezTo>
                  <a:pt x="116088" y="151091"/>
                  <a:pt x="136454" y="139507"/>
                  <a:pt x="151279" y="125720"/>
                </a:cubicBezTo>
                <a:cubicBezTo>
                  <a:pt x="166011" y="112027"/>
                  <a:pt x="175863" y="95691"/>
                  <a:pt x="180553" y="84453"/>
                </a:cubicBezTo>
                <a:cubicBezTo>
                  <a:pt x="181592" y="81967"/>
                  <a:pt x="181592" y="79197"/>
                  <a:pt x="180553" y="76710"/>
                </a:cubicBezTo>
                <a:cubicBezTo>
                  <a:pt x="175863" y="65473"/>
                  <a:pt x="166011" y="49104"/>
                  <a:pt x="151279" y="35443"/>
                </a:cubicBezTo>
                <a:cubicBezTo>
                  <a:pt x="136454" y="21688"/>
                  <a:pt x="116088" y="10073"/>
                  <a:pt x="90654" y="10073"/>
                </a:cubicBezTo>
                <a:close/>
                <a:moveTo>
                  <a:pt x="45327" y="80582"/>
                </a:moveTo>
                <a:cubicBezTo>
                  <a:pt x="45327" y="55565"/>
                  <a:pt x="65638" y="35254"/>
                  <a:pt x="90654" y="35254"/>
                </a:cubicBezTo>
                <a:cubicBezTo>
                  <a:pt x="115671" y="35254"/>
                  <a:pt x="135981" y="55565"/>
                  <a:pt x="135981" y="80582"/>
                </a:cubicBezTo>
                <a:cubicBezTo>
                  <a:pt x="135981" y="105598"/>
                  <a:pt x="115671" y="125909"/>
                  <a:pt x="90654" y="125909"/>
                </a:cubicBezTo>
                <a:cubicBezTo>
                  <a:pt x="65638" y="125909"/>
                  <a:pt x="45327" y="105598"/>
                  <a:pt x="45327" y="80582"/>
                </a:cubicBezTo>
                <a:close/>
                <a:moveTo>
                  <a:pt x="90654" y="60436"/>
                </a:moveTo>
                <a:cubicBezTo>
                  <a:pt x="90654" y="71548"/>
                  <a:pt x="81620" y="80582"/>
                  <a:pt x="70509" y="80582"/>
                </a:cubicBezTo>
                <a:cubicBezTo>
                  <a:pt x="66889" y="80582"/>
                  <a:pt x="63490" y="79637"/>
                  <a:pt x="60531" y="77938"/>
                </a:cubicBezTo>
                <a:cubicBezTo>
                  <a:pt x="60216" y="81369"/>
                  <a:pt x="60499" y="84894"/>
                  <a:pt x="61443" y="88388"/>
                </a:cubicBezTo>
                <a:cubicBezTo>
                  <a:pt x="65756" y="104504"/>
                  <a:pt x="82344" y="114073"/>
                  <a:pt x="98461" y="109761"/>
                </a:cubicBezTo>
                <a:cubicBezTo>
                  <a:pt x="114577" y="105449"/>
                  <a:pt x="124146" y="88860"/>
                  <a:pt x="119834" y="72744"/>
                </a:cubicBezTo>
                <a:cubicBezTo>
                  <a:pt x="115993" y="58359"/>
                  <a:pt x="102364" y="49199"/>
                  <a:pt x="88010" y="50458"/>
                </a:cubicBezTo>
                <a:cubicBezTo>
                  <a:pt x="89679" y="53385"/>
                  <a:pt x="90654" y="56785"/>
                  <a:pt x="90654" y="60436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1" name="Text 49"/>
          <p:cNvSpPr/>
          <p:nvPr/>
        </p:nvSpPr>
        <p:spPr>
          <a:xfrm>
            <a:off x="6843294" y="1344108"/>
            <a:ext cx="1861436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Grad-CAM Visualizations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59804" y="1779249"/>
            <a:ext cx="5407027" cy="419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Gradient-weighted Class Activation Mapping (Grad-CAM) reveals which regions of the X-ray the model focuses on when making predictions, providing interpretability for clinical trust.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9804" y="2327204"/>
            <a:ext cx="5342562" cy="838049"/>
          </a:xfrm>
          <a:custGeom>
            <a:avLst/>
            <a:gdLst/>
            <a:ahLst/>
            <a:cxnLst/>
            <a:rect l="l" t="t" r="r" b="b"/>
            <a:pathLst>
              <a:path w="5342562" h="838049">
                <a:moveTo>
                  <a:pt x="64463" y="0"/>
                </a:moveTo>
                <a:lnTo>
                  <a:pt x="5278099" y="0"/>
                </a:lnTo>
                <a:cubicBezTo>
                  <a:pt x="5313701" y="0"/>
                  <a:pt x="5342562" y="28861"/>
                  <a:pt x="5342562" y="64463"/>
                </a:cubicBezTo>
                <a:lnTo>
                  <a:pt x="5342562" y="773586"/>
                </a:lnTo>
                <a:cubicBezTo>
                  <a:pt x="5342562" y="809188"/>
                  <a:pt x="5313701" y="838049"/>
                  <a:pt x="5278099" y="838049"/>
                </a:cubicBezTo>
                <a:lnTo>
                  <a:pt x="64463" y="838049"/>
                </a:lnTo>
                <a:cubicBezTo>
                  <a:pt x="28861" y="838049"/>
                  <a:pt x="0" y="809188"/>
                  <a:pt x="0" y="773586"/>
                </a:cubicBezTo>
                <a:lnTo>
                  <a:pt x="0" y="64463"/>
                </a:lnTo>
                <a:cubicBezTo>
                  <a:pt x="0" y="28861"/>
                  <a:pt x="28861" y="0"/>
                  <a:pt x="6446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508880" y="2480309"/>
            <a:ext cx="145047" cy="145047"/>
          </a:xfrm>
          <a:custGeom>
            <a:avLst/>
            <a:gdLst/>
            <a:ahLst/>
            <a:cxnLst/>
            <a:rect l="l" t="t" r="r" b="b"/>
            <a:pathLst>
              <a:path w="145047" h="145047">
                <a:moveTo>
                  <a:pt x="72523" y="145047"/>
                </a:moveTo>
                <a:cubicBezTo>
                  <a:pt x="112550" y="145047"/>
                  <a:pt x="145047" y="112550"/>
                  <a:pt x="145047" y="72523"/>
                </a:cubicBezTo>
                <a:cubicBezTo>
                  <a:pt x="145047" y="32497"/>
                  <a:pt x="112550" y="0"/>
                  <a:pt x="72523" y="0"/>
                </a:cubicBezTo>
                <a:cubicBezTo>
                  <a:pt x="32497" y="0"/>
                  <a:pt x="0" y="32497"/>
                  <a:pt x="0" y="72523"/>
                </a:cubicBezTo>
                <a:cubicBezTo>
                  <a:pt x="0" y="112550"/>
                  <a:pt x="32497" y="145047"/>
                  <a:pt x="72523" y="145047"/>
                </a:cubicBezTo>
                <a:close/>
                <a:moveTo>
                  <a:pt x="96434" y="60257"/>
                </a:moveTo>
                <a:lnTo>
                  <a:pt x="73770" y="96519"/>
                </a:lnTo>
                <a:cubicBezTo>
                  <a:pt x="72580" y="98417"/>
                  <a:pt x="70540" y="99606"/>
                  <a:pt x="68302" y="99720"/>
                </a:cubicBezTo>
                <a:cubicBezTo>
                  <a:pt x="66064" y="99833"/>
                  <a:pt x="63911" y="98813"/>
                  <a:pt x="62580" y="97000"/>
                </a:cubicBezTo>
                <a:lnTo>
                  <a:pt x="48982" y="78869"/>
                </a:lnTo>
                <a:cubicBezTo>
                  <a:pt x="46715" y="75866"/>
                  <a:pt x="47339" y="71617"/>
                  <a:pt x="50341" y="69351"/>
                </a:cubicBezTo>
                <a:cubicBezTo>
                  <a:pt x="53344" y="67084"/>
                  <a:pt x="57594" y="67707"/>
                  <a:pt x="59860" y="70710"/>
                </a:cubicBezTo>
                <a:lnTo>
                  <a:pt x="67509" y="80909"/>
                </a:lnTo>
                <a:lnTo>
                  <a:pt x="84903" y="53061"/>
                </a:lnTo>
                <a:cubicBezTo>
                  <a:pt x="86887" y="49888"/>
                  <a:pt x="91079" y="48897"/>
                  <a:pt x="94281" y="50908"/>
                </a:cubicBezTo>
                <a:cubicBezTo>
                  <a:pt x="97482" y="52919"/>
                  <a:pt x="98445" y="57084"/>
                  <a:pt x="96434" y="6028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5" name="Text 53"/>
          <p:cNvSpPr/>
          <p:nvPr/>
        </p:nvSpPr>
        <p:spPr>
          <a:xfrm>
            <a:off x="6766741" y="2456134"/>
            <a:ext cx="1120085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 Positive Case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88735" y="2713995"/>
            <a:ext cx="5141108" cy="322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correctly focuses on lung infiltrates, consolidations, and areas of increased opacity—features radiologists use for pneumonia diagnosis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59804" y="3261951"/>
            <a:ext cx="5342562" cy="838049"/>
          </a:xfrm>
          <a:custGeom>
            <a:avLst/>
            <a:gdLst/>
            <a:ahLst/>
            <a:cxnLst/>
            <a:rect l="l" t="t" r="r" b="b"/>
            <a:pathLst>
              <a:path w="5342562" h="838049">
                <a:moveTo>
                  <a:pt x="64463" y="0"/>
                </a:moveTo>
                <a:lnTo>
                  <a:pt x="5278099" y="0"/>
                </a:lnTo>
                <a:cubicBezTo>
                  <a:pt x="5313701" y="0"/>
                  <a:pt x="5342562" y="28861"/>
                  <a:pt x="5342562" y="64463"/>
                </a:cubicBezTo>
                <a:lnTo>
                  <a:pt x="5342562" y="773586"/>
                </a:lnTo>
                <a:cubicBezTo>
                  <a:pt x="5342562" y="809188"/>
                  <a:pt x="5313701" y="838049"/>
                  <a:pt x="5278099" y="838049"/>
                </a:cubicBezTo>
                <a:lnTo>
                  <a:pt x="64463" y="838049"/>
                </a:lnTo>
                <a:cubicBezTo>
                  <a:pt x="28861" y="838049"/>
                  <a:pt x="0" y="809188"/>
                  <a:pt x="0" y="773586"/>
                </a:cubicBezTo>
                <a:lnTo>
                  <a:pt x="0" y="64463"/>
                </a:lnTo>
                <a:cubicBezTo>
                  <a:pt x="0" y="28861"/>
                  <a:pt x="28861" y="0"/>
                  <a:pt x="6446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508880" y="3415056"/>
            <a:ext cx="145047" cy="145047"/>
          </a:xfrm>
          <a:custGeom>
            <a:avLst/>
            <a:gdLst/>
            <a:ahLst/>
            <a:cxnLst/>
            <a:rect l="l" t="t" r="r" b="b"/>
            <a:pathLst>
              <a:path w="145047" h="145047">
                <a:moveTo>
                  <a:pt x="72523" y="145047"/>
                </a:moveTo>
                <a:cubicBezTo>
                  <a:pt x="112550" y="145047"/>
                  <a:pt x="145047" y="112550"/>
                  <a:pt x="145047" y="72523"/>
                </a:cubicBezTo>
                <a:cubicBezTo>
                  <a:pt x="145047" y="32497"/>
                  <a:pt x="112550" y="0"/>
                  <a:pt x="72523" y="0"/>
                </a:cubicBezTo>
                <a:cubicBezTo>
                  <a:pt x="32497" y="0"/>
                  <a:pt x="0" y="32497"/>
                  <a:pt x="0" y="72523"/>
                </a:cubicBezTo>
                <a:cubicBezTo>
                  <a:pt x="0" y="112550"/>
                  <a:pt x="32497" y="145047"/>
                  <a:pt x="72523" y="145047"/>
                </a:cubicBezTo>
                <a:close/>
                <a:moveTo>
                  <a:pt x="96434" y="60257"/>
                </a:moveTo>
                <a:lnTo>
                  <a:pt x="73770" y="96519"/>
                </a:lnTo>
                <a:cubicBezTo>
                  <a:pt x="72580" y="98417"/>
                  <a:pt x="70540" y="99606"/>
                  <a:pt x="68302" y="99720"/>
                </a:cubicBezTo>
                <a:cubicBezTo>
                  <a:pt x="66064" y="99833"/>
                  <a:pt x="63911" y="98813"/>
                  <a:pt x="62580" y="97000"/>
                </a:cubicBezTo>
                <a:lnTo>
                  <a:pt x="48982" y="78869"/>
                </a:lnTo>
                <a:cubicBezTo>
                  <a:pt x="46715" y="75866"/>
                  <a:pt x="47339" y="71617"/>
                  <a:pt x="50341" y="69351"/>
                </a:cubicBezTo>
                <a:cubicBezTo>
                  <a:pt x="53344" y="67084"/>
                  <a:pt x="57594" y="67707"/>
                  <a:pt x="59860" y="70710"/>
                </a:cubicBezTo>
                <a:lnTo>
                  <a:pt x="67509" y="80909"/>
                </a:lnTo>
                <a:lnTo>
                  <a:pt x="84903" y="53061"/>
                </a:lnTo>
                <a:cubicBezTo>
                  <a:pt x="86887" y="49888"/>
                  <a:pt x="91079" y="48897"/>
                  <a:pt x="94281" y="50908"/>
                </a:cubicBezTo>
                <a:cubicBezTo>
                  <a:pt x="97482" y="52919"/>
                  <a:pt x="98445" y="57084"/>
                  <a:pt x="96434" y="6028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9" name="Text 57"/>
          <p:cNvSpPr/>
          <p:nvPr/>
        </p:nvSpPr>
        <p:spPr>
          <a:xfrm>
            <a:off x="6766741" y="3390881"/>
            <a:ext cx="117649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 Negative Case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488735" y="3648742"/>
            <a:ext cx="5141108" cy="322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normal cases, attention is distributed across clear lung fields without focal concentration, indicating absence of abnormalities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59804" y="4196697"/>
            <a:ext cx="5342562" cy="838049"/>
          </a:xfrm>
          <a:custGeom>
            <a:avLst/>
            <a:gdLst/>
            <a:ahLst/>
            <a:cxnLst/>
            <a:rect l="l" t="t" r="r" b="b"/>
            <a:pathLst>
              <a:path w="5342562" h="838049">
                <a:moveTo>
                  <a:pt x="64463" y="0"/>
                </a:moveTo>
                <a:lnTo>
                  <a:pt x="5278099" y="0"/>
                </a:lnTo>
                <a:cubicBezTo>
                  <a:pt x="5313701" y="0"/>
                  <a:pt x="5342562" y="28861"/>
                  <a:pt x="5342562" y="64463"/>
                </a:cubicBezTo>
                <a:lnTo>
                  <a:pt x="5342562" y="773586"/>
                </a:lnTo>
                <a:cubicBezTo>
                  <a:pt x="5342562" y="809188"/>
                  <a:pt x="5313701" y="838049"/>
                  <a:pt x="5278099" y="838049"/>
                </a:cubicBezTo>
                <a:lnTo>
                  <a:pt x="64463" y="838049"/>
                </a:lnTo>
                <a:cubicBezTo>
                  <a:pt x="28861" y="838049"/>
                  <a:pt x="0" y="809188"/>
                  <a:pt x="0" y="773586"/>
                </a:cubicBezTo>
                <a:lnTo>
                  <a:pt x="0" y="64463"/>
                </a:lnTo>
                <a:cubicBezTo>
                  <a:pt x="0" y="28861"/>
                  <a:pt x="28861" y="0"/>
                  <a:pt x="6446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508880" y="4349802"/>
            <a:ext cx="145047" cy="145047"/>
          </a:xfrm>
          <a:custGeom>
            <a:avLst/>
            <a:gdLst/>
            <a:ahLst/>
            <a:cxnLst/>
            <a:rect l="l" t="t" r="r" b="b"/>
            <a:pathLst>
              <a:path w="145047" h="145047">
                <a:moveTo>
                  <a:pt x="72523" y="0"/>
                </a:moveTo>
                <a:cubicBezTo>
                  <a:pt x="76688" y="0"/>
                  <a:pt x="80512" y="2295"/>
                  <a:pt x="82495" y="5949"/>
                </a:cubicBezTo>
                <a:lnTo>
                  <a:pt x="143687" y="119267"/>
                </a:lnTo>
                <a:cubicBezTo>
                  <a:pt x="145585" y="122780"/>
                  <a:pt x="145500" y="127029"/>
                  <a:pt x="143460" y="130457"/>
                </a:cubicBezTo>
                <a:cubicBezTo>
                  <a:pt x="141421" y="133885"/>
                  <a:pt x="137710" y="135981"/>
                  <a:pt x="133715" y="135981"/>
                </a:cubicBezTo>
                <a:lnTo>
                  <a:pt x="11332" y="135981"/>
                </a:lnTo>
                <a:cubicBezTo>
                  <a:pt x="7337" y="135981"/>
                  <a:pt x="3655" y="133885"/>
                  <a:pt x="1586" y="130457"/>
                </a:cubicBezTo>
                <a:cubicBezTo>
                  <a:pt x="-482" y="127029"/>
                  <a:pt x="-538" y="122780"/>
                  <a:pt x="1360" y="119267"/>
                </a:cubicBezTo>
                <a:lnTo>
                  <a:pt x="62551" y="5949"/>
                </a:lnTo>
                <a:cubicBezTo>
                  <a:pt x="64535" y="2295"/>
                  <a:pt x="68359" y="0"/>
                  <a:pt x="72523" y="0"/>
                </a:cubicBezTo>
                <a:close/>
                <a:moveTo>
                  <a:pt x="72523" y="47594"/>
                </a:moveTo>
                <a:cubicBezTo>
                  <a:pt x="68756" y="47594"/>
                  <a:pt x="65724" y="50625"/>
                  <a:pt x="65724" y="54393"/>
                </a:cubicBezTo>
                <a:lnTo>
                  <a:pt x="65724" y="86122"/>
                </a:lnTo>
                <a:cubicBezTo>
                  <a:pt x="65724" y="89889"/>
                  <a:pt x="68756" y="92921"/>
                  <a:pt x="72523" y="92921"/>
                </a:cubicBezTo>
                <a:cubicBezTo>
                  <a:pt x="76291" y="92921"/>
                  <a:pt x="79323" y="89889"/>
                  <a:pt x="79323" y="86122"/>
                </a:cubicBezTo>
                <a:lnTo>
                  <a:pt x="79323" y="54393"/>
                </a:lnTo>
                <a:cubicBezTo>
                  <a:pt x="79323" y="50625"/>
                  <a:pt x="76291" y="47594"/>
                  <a:pt x="72523" y="47594"/>
                </a:cubicBezTo>
                <a:close/>
                <a:moveTo>
                  <a:pt x="80087" y="108785"/>
                </a:moveTo>
                <a:cubicBezTo>
                  <a:pt x="80260" y="105978"/>
                  <a:pt x="78859" y="103306"/>
                  <a:pt x="76452" y="101850"/>
                </a:cubicBezTo>
                <a:cubicBezTo>
                  <a:pt x="74046" y="100395"/>
                  <a:pt x="71030" y="100395"/>
                  <a:pt x="68623" y="101850"/>
                </a:cubicBezTo>
                <a:cubicBezTo>
                  <a:pt x="66216" y="103306"/>
                  <a:pt x="64816" y="105978"/>
                  <a:pt x="64988" y="108785"/>
                </a:cubicBezTo>
                <a:cubicBezTo>
                  <a:pt x="64816" y="111593"/>
                  <a:pt x="66216" y="114264"/>
                  <a:pt x="68623" y="115720"/>
                </a:cubicBezTo>
                <a:cubicBezTo>
                  <a:pt x="71030" y="117176"/>
                  <a:pt x="74046" y="117176"/>
                  <a:pt x="76452" y="115720"/>
                </a:cubicBezTo>
                <a:cubicBezTo>
                  <a:pt x="78859" y="114264"/>
                  <a:pt x="80260" y="111593"/>
                  <a:pt x="80087" y="108785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63" name="Text 61"/>
          <p:cNvSpPr/>
          <p:nvPr/>
        </p:nvSpPr>
        <p:spPr>
          <a:xfrm>
            <a:off x="6766741" y="4325628"/>
            <a:ext cx="1410178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 Negative Analysis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88735" y="4583489"/>
            <a:ext cx="5141108" cy="322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8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2 missed cases involved subtle infiltrates that may be challenging even for expert radiologists to detect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95418" y="5366741"/>
            <a:ext cx="5671335" cy="1279636"/>
          </a:xfrm>
          <a:custGeom>
            <a:avLst/>
            <a:gdLst/>
            <a:ahLst/>
            <a:cxnLst/>
            <a:rect l="l" t="t" r="r" b="b"/>
            <a:pathLst>
              <a:path w="5671335" h="1279636">
                <a:moveTo>
                  <a:pt x="64468" y="0"/>
                </a:moveTo>
                <a:lnTo>
                  <a:pt x="5606867" y="0"/>
                </a:lnTo>
                <a:cubicBezTo>
                  <a:pt x="5642471" y="0"/>
                  <a:pt x="5671335" y="28863"/>
                  <a:pt x="5671335" y="64468"/>
                </a:cubicBezTo>
                <a:lnTo>
                  <a:pt x="5671335" y="1215168"/>
                </a:lnTo>
                <a:cubicBezTo>
                  <a:pt x="5671335" y="1250773"/>
                  <a:pt x="5642471" y="1279636"/>
                  <a:pt x="5606867" y="1279636"/>
                </a:cubicBezTo>
                <a:lnTo>
                  <a:pt x="64468" y="1279636"/>
                </a:lnTo>
                <a:cubicBezTo>
                  <a:pt x="28863" y="1279636"/>
                  <a:pt x="0" y="1250773"/>
                  <a:pt x="0" y="1215168"/>
                </a:cubicBezTo>
                <a:lnTo>
                  <a:pt x="0" y="64468"/>
                </a:lnTo>
                <a:cubicBezTo>
                  <a:pt x="0" y="28887"/>
                  <a:pt x="28887" y="0"/>
                  <a:pt x="64468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>
                  <a:alpha val="20000"/>
                </a:srgbClr>
              </a:gs>
              <a:gs pos="100000">
                <a:srgbClr val="38B2AC">
                  <a:alpha val="20000"/>
                </a:srgbClr>
              </a:gs>
            </a:gsLst>
            <a:lin ang="2700000" scaled="1"/>
          </a:gradFill>
          <a:ln w="10160">
            <a:solidFill>
              <a:srgbClr val="3182CE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79949" y="5563359"/>
            <a:ext cx="161163" cy="161163"/>
          </a:xfrm>
          <a:custGeom>
            <a:avLst/>
            <a:gdLst/>
            <a:ahLst/>
            <a:cxnLst/>
            <a:rect l="l" t="t" r="r" b="b"/>
            <a:pathLst>
              <a:path w="161163" h="161163">
                <a:moveTo>
                  <a:pt x="20145" y="20145"/>
                </a:moveTo>
                <a:cubicBezTo>
                  <a:pt x="20145" y="14574"/>
                  <a:pt x="15644" y="10073"/>
                  <a:pt x="10073" y="10073"/>
                </a:cubicBezTo>
                <a:cubicBezTo>
                  <a:pt x="4501" y="10073"/>
                  <a:pt x="0" y="14574"/>
                  <a:pt x="0" y="20145"/>
                </a:cubicBezTo>
                <a:lnTo>
                  <a:pt x="0" y="125909"/>
                </a:lnTo>
                <a:cubicBezTo>
                  <a:pt x="0" y="139822"/>
                  <a:pt x="11269" y="151091"/>
                  <a:pt x="25182" y="151091"/>
                </a:cubicBezTo>
                <a:lnTo>
                  <a:pt x="151091" y="151091"/>
                </a:lnTo>
                <a:cubicBezTo>
                  <a:pt x="156662" y="151091"/>
                  <a:pt x="161163" y="146589"/>
                  <a:pt x="161163" y="141018"/>
                </a:cubicBezTo>
                <a:cubicBezTo>
                  <a:pt x="161163" y="135446"/>
                  <a:pt x="156662" y="130945"/>
                  <a:pt x="151091" y="130945"/>
                </a:cubicBezTo>
                <a:lnTo>
                  <a:pt x="25182" y="130945"/>
                </a:lnTo>
                <a:cubicBezTo>
                  <a:pt x="22412" y="130945"/>
                  <a:pt x="20145" y="128679"/>
                  <a:pt x="20145" y="125909"/>
                </a:cubicBezTo>
                <a:lnTo>
                  <a:pt x="20145" y="20145"/>
                </a:lnTo>
                <a:close/>
                <a:moveTo>
                  <a:pt x="148132" y="47405"/>
                </a:moveTo>
                <a:cubicBezTo>
                  <a:pt x="152066" y="43470"/>
                  <a:pt x="152066" y="37080"/>
                  <a:pt x="148132" y="33145"/>
                </a:cubicBezTo>
                <a:cubicBezTo>
                  <a:pt x="144197" y="29211"/>
                  <a:pt x="137807" y="29211"/>
                  <a:pt x="133873" y="33145"/>
                </a:cubicBezTo>
                <a:lnTo>
                  <a:pt x="100727" y="66322"/>
                </a:lnTo>
                <a:lnTo>
                  <a:pt x="82659" y="48286"/>
                </a:lnTo>
                <a:cubicBezTo>
                  <a:pt x="78724" y="44351"/>
                  <a:pt x="72335" y="44351"/>
                  <a:pt x="68400" y="48286"/>
                </a:cubicBezTo>
                <a:lnTo>
                  <a:pt x="38182" y="78504"/>
                </a:lnTo>
                <a:cubicBezTo>
                  <a:pt x="34247" y="82439"/>
                  <a:pt x="34247" y="88829"/>
                  <a:pt x="38182" y="92763"/>
                </a:cubicBezTo>
                <a:cubicBezTo>
                  <a:pt x="42116" y="96698"/>
                  <a:pt x="48506" y="96698"/>
                  <a:pt x="52441" y="92763"/>
                </a:cubicBezTo>
                <a:lnTo>
                  <a:pt x="75545" y="69659"/>
                </a:lnTo>
                <a:lnTo>
                  <a:pt x="93613" y="87727"/>
                </a:lnTo>
                <a:cubicBezTo>
                  <a:pt x="97548" y="91662"/>
                  <a:pt x="103938" y="91662"/>
                  <a:pt x="107872" y="87727"/>
                </a:cubicBezTo>
                <a:lnTo>
                  <a:pt x="148163" y="47436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7" name="Text 65"/>
          <p:cNvSpPr/>
          <p:nvPr/>
        </p:nvSpPr>
        <p:spPr>
          <a:xfrm>
            <a:off x="6657956" y="5531126"/>
            <a:ext cx="1208724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Validation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359804" y="5853452"/>
            <a:ext cx="5407027" cy="62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Grad-CAM confirms the model learns </a:t>
            </a:r>
            <a:r>
              <a:rPr lang="en-US" sz="1015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medically meaningful patterns</a:t>
            </a:r>
            <a:r>
              <a:rPr lang="en-US" sz="101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rather than spurious correlations, aligning with radiologists' diagnostic criteria and enhancing clinical trust in AI predictions.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2327" y="419024"/>
            <a:ext cx="64465" cy="386792"/>
          </a:xfrm>
          <a:custGeom>
            <a:avLst/>
            <a:gdLst/>
            <a:ahLst/>
            <a:cxnLst/>
            <a:rect l="l" t="t" r="r" b="b"/>
            <a:pathLst>
              <a:path w="64465" h="386792">
                <a:moveTo>
                  <a:pt x="32233" y="0"/>
                </a:moveTo>
                <a:lnTo>
                  <a:pt x="32233" y="0"/>
                </a:lnTo>
                <a:cubicBezTo>
                  <a:pt x="50022" y="0"/>
                  <a:pt x="64465" y="14443"/>
                  <a:pt x="64465" y="32233"/>
                </a:cubicBezTo>
                <a:lnTo>
                  <a:pt x="64465" y="354559"/>
                </a:lnTo>
                <a:cubicBezTo>
                  <a:pt x="64465" y="372361"/>
                  <a:pt x="50034" y="386792"/>
                  <a:pt x="32233" y="386792"/>
                </a:cubicBezTo>
                <a:lnTo>
                  <a:pt x="32233" y="386792"/>
                </a:lnTo>
                <a:cubicBezTo>
                  <a:pt x="14431" y="386792"/>
                  <a:pt x="0" y="372361"/>
                  <a:pt x="0" y="354559"/>
                </a:cubicBezTo>
                <a:lnTo>
                  <a:pt x="0" y="32233"/>
                </a:lnTo>
                <a:cubicBezTo>
                  <a:pt x="0" y="14443"/>
                  <a:pt x="14443" y="0"/>
                  <a:pt x="32233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" name="Text 1"/>
          <p:cNvSpPr/>
          <p:nvPr/>
        </p:nvSpPr>
        <p:spPr>
          <a:xfrm>
            <a:off x="515722" y="322327"/>
            <a:ext cx="295734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kern="0" spc="5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OUTCOMES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5722" y="515722"/>
            <a:ext cx="3086276" cy="386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Confusion Matrix</a:t>
            </a:r>
            <a:endParaRPr lang="en-US" sz="160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2514"/>
            <a:ext cx="4267200" cy="32004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517" y="3657600"/>
            <a:ext cx="4267200" cy="320040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902514"/>
            <a:ext cx="42672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77300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12750"/>
            <a:ext cx="63500" cy="381000"/>
          </a:xfrm>
          <a:custGeom>
            <a:avLst/>
            <a:gdLst/>
            <a:ahLst/>
            <a:cxnLst/>
            <a:rect l="l" t="t" r="r" b="b"/>
            <a:pathLst>
              <a:path w="63500" h="3810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49250"/>
                </a:lnTo>
                <a:cubicBezTo>
                  <a:pt x="63500" y="366773"/>
                  <a:pt x="49273" y="381000"/>
                  <a:pt x="31750" y="381000"/>
                </a:cubicBez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317500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5080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3850" y="942972"/>
            <a:ext cx="5672137" cy="3409950"/>
          </a:xfrm>
          <a:custGeom>
            <a:avLst/>
            <a:gdLst/>
            <a:ahLst/>
            <a:cxnLst/>
            <a:rect l="l" t="t" r="r" b="b"/>
            <a:pathLst>
              <a:path w="5672137" h="3409950">
                <a:moveTo>
                  <a:pt x="95240" y="0"/>
                </a:moveTo>
                <a:lnTo>
                  <a:pt x="5576898" y="0"/>
                </a:lnTo>
                <a:cubicBezTo>
                  <a:pt x="5629497" y="0"/>
                  <a:pt x="5672138" y="42640"/>
                  <a:pt x="5672138" y="95240"/>
                </a:cubicBezTo>
                <a:lnTo>
                  <a:pt x="5672137" y="3314710"/>
                </a:lnTo>
                <a:cubicBezTo>
                  <a:pt x="5672138" y="3367310"/>
                  <a:pt x="5629497" y="3409950"/>
                  <a:pt x="5576898" y="3409950"/>
                </a:cubicBezTo>
                <a:lnTo>
                  <a:pt x="95240" y="3409950"/>
                </a:lnTo>
                <a:cubicBezTo>
                  <a:pt x="42640" y="3409950"/>
                  <a:pt x="0" y="3367310"/>
                  <a:pt x="0" y="3314710"/>
                </a:cubicBezTo>
                <a:lnTo>
                  <a:pt x="0" y="95240"/>
                </a:lnTo>
                <a:cubicBezTo>
                  <a:pt x="0" y="42676"/>
                  <a:pt x="42676" y="0"/>
                  <a:pt x="95240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>
                  <a:alpha val="20000"/>
                </a:srgbClr>
              </a:gs>
              <a:gs pos="100000">
                <a:srgbClr val="3182CE">
                  <a:alpha val="10000"/>
                </a:srgbClr>
              </a:gs>
            </a:gsLst>
            <a:lin ang="2700000" scaled="1"/>
          </a:gradFill>
          <a:ln w="20320">
            <a:solidFill>
              <a:srgbClr val="3182CE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0700" y="1139819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3182CE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35794" y="126681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47625" y="23812"/>
                </a:moveTo>
                <a:cubicBezTo>
                  <a:pt x="47625" y="10678"/>
                  <a:pt x="58303" y="0"/>
                  <a:pt x="71438" y="0"/>
                </a:cubicBezTo>
                <a:lnTo>
                  <a:pt x="142875" y="0"/>
                </a:lnTo>
                <a:cubicBezTo>
                  <a:pt x="156009" y="0"/>
                  <a:pt x="166688" y="10678"/>
                  <a:pt x="166688" y="23812"/>
                </a:cubicBezTo>
                <a:lnTo>
                  <a:pt x="166688" y="47625"/>
                </a:lnTo>
                <a:lnTo>
                  <a:pt x="190500" y="47625"/>
                </a:lnTo>
                <a:cubicBezTo>
                  <a:pt x="203634" y="47625"/>
                  <a:pt x="214313" y="58303"/>
                  <a:pt x="214313" y="71438"/>
                </a:cubicBezTo>
                <a:lnTo>
                  <a:pt x="214313" y="166688"/>
                </a:lnTo>
                <a:cubicBezTo>
                  <a:pt x="214313" y="179822"/>
                  <a:pt x="203634" y="190500"/>
                  <a:pt x="190500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71438"/>
                </a:lnTo>
                <a:cubicBezTo>
                  <a:pt x="0" y="58303"/>
                  <a:pt x="10678" y="47625"/>
                  <a:pt x="23812" y="47625"/>
                </a:cubicBezTo>
                <a:lnTo>
                  <a:pt x="47625" y="47625"/>
                </a:lnTo>
                <a:lnTo>
                  <a:pt x="47625" y="23812"/>
                </a:lnTo>
                <a:close/>
                <a:moveTo>
                  <a:pt x="101203" y="130969"/>
                </a:moveTo>
                <a:cubicBezTo>
                  <a:pt x="94617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125016" y="172641"/>
                </a:lnTo>
                <a:lnTo>
                  <a:pt x="125016" y="142875"/>
                </a:lnTo>
                <a:cubicBezTo>
                  <a:pt x="125016" y="136289"/>
                  <a:pt x="119695" y="130969"/>
                  <a:pt x="113109" y="130969"/>
                </a:cubicBezTo>
                <a:lnTo>
                  <a:pt x="101203" y="130969"/>
                </a:lnTo>
                <a:close/>
                <a:moveTo>
                  <a:pt x="47625" y="136922"/>
                </a:moveTo>
                <a:lnTo>
                  <a:pt x="47625" y="125016"/>
                </a:lnTo>
                <a:cubicBezTo>
                  <a:pt x="47625" y="121741"/>
                  <a:pt x="44946" y="119063"/>
                  <a:pt x="41672" y="119063"/>
                </a:cubicBezTo>
                <a:lnTo>
                  <a:pt x="29766" y="119063"/>
                </a:lnTo>
                <a:cubicBezTo>
                  <a:pt x="26491" y="119063"/>
                  <a:pt x="23812" y="121741"/>
                  <a:pt x="23812" y="125016"/>
                </a:cubicBezTo>
                <a:lnTo>
                  <a:pt x="23812" y="136922"/>
                </a:lnTo>
                <a:cubicBezTo>
                  <a:pt x="23812" y="140196"/>
                  <a:pt x="26491" y="142875"/>
                  <a:pt x="29766" y="142875"/>
                </a:cubicBezTo>
                <a:lnTo>
                  <a:pt x="41672" y="142875"/>
                </a:lnTo>
                <a:cubicBezTo>
                  <a:pt x="44946" y="142875"/>
                  <a:pt x="47625" y="140196"/>
                  <a:pt x="47625" y="136922"/>
                </a:cubicBezTo>
                <a:close/>
                <a:moveTo>
                  <a:pt x="41672" y="95250"/>
                </a:moveTo>
                <a:cubicBezTo>
                  <a:pt x="44946" y="95250"/>
                  <a:pt x="47625" y="92571"/>
                  <a:pt x="47625" y="89297"/>
                </a:cubicBezTo>
                <a:lnTo>
                  <a:pt x="47625" y="77391"/>
                </a:lnTo>
                <a:cubicBezTo>
                  <a:pt x="47625" y="74116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74116"/>
                  <a:pt x="23812" y="77391"/>
                </a:cubicBezTo>
                <a:lnTo>
                  <a:pt x="23812" y="89297"/>
                </a:lnTo>
                <a:cubicBezTo>
                  <a:pt x="23812" y="92571"/>
                  <a:pt x="26491" y="95250"/>
                  <a:pt x="29766" y="95250"/>
                </a:cubicBezTo>
                <a:lnTo>
                  <a:pt x="41672" y="95250"/>
                </a:lnTo>
                <a:close/>
                <a:moveTo>
                  <a:pt x="190500" y="136922"/>
                </a:moveTo>
                <a:lnTo>
                  <a:pt x="190500" y="125016"/>
                </a:lnTo>
                <a:cubicBezTo>
                  <a:pt x="190500" y="121741"/>
                  <a:pt x="187821" y="119063"/>
                  <a:pt x="184547" y="119063"/>
                </a:cubicBezTo>
                <a:lnTo>
                  <a:pt x="172641" y="119063"/>
                </a:lnTo>
                <a:cubicBezTo>
                  <a:pt x="169366" y="119063"/>
                  <a:pt x="166688" y="121741"/>
                  <a:pt x="166688" y="125016"/>
                </a:cubicBezTo>
                <a:lnTo>
                  <a:pt x="166688" y="136922"/>
                </a:lnTo>
                <a:cubicBezTo>
                  <a:pt x="166688" y="140196"/>
                  <a:pt x="169366" y="142875"/>
                  <a:pt x="172641" y="142875"/>
                </a:cubicBezTo>
                <a:lnTo>
                  <a:pt x="184547" y="142875"/>
                </a:lnTo>
                <a:cubicBezTo>
                  <a:pt x="187821" y="142875"/>
                  <a:pt x="190500" y="140196"/>
                  <a:pt x="190500" y="136922"/>
                </a:cubicBezTo>
                <a:close/>
                <a:moveTo>
                  <a:pt x="184547" y="95250"/>
                </a:moveTo>
                <a:cubicBezTo>
                  <a:pt x="187821" y="95250"/>
                  <a:pt x="190500" y="92571"/>
                  <a:pt x="190500" y="89297"/>
                </a:cubicBezTo>
                <a:lnTo>
                  <a:pt x="190500" y="77391"/>
                </a:lnTo>
                <a:cubicBezTo>
                  <a:pt x="190500" y="74116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74116"/>
                  <a:pt x="166688" y="77391"/>
                </a:cubicBezTo>
                <a:lnTo>
                  <a:pt x="166688" y="89297"/>
                </a:lnTo>
                <a:cubicBezTo>
                  <a:pt x="166688" y="92571"/>
                  <a:pt x="169366" y="95250"/>
                  <a:pt x="172641" y="95250"/>
                </a:cubicBezTo>
                <a:lnTo>
                  <a:pt x="184547" y="95250"/>
                </a:lnTo>
                <a:close/>
                <a:moveTo>
                  <a:pt x="98227" y="38695"/>
                </a:moveTo>
                <a:lnTo>
                  <a:pt x="98227" y="50602"/>
                </a:lnTo>
                <a:lnTo>
                  <a:pt x="86320" y="50602"/>
                </a:lnTo>
                <a:cubicBezTo>
                  <a:pt x="83046" y="50602"/>
                  <a:pt x="80367" y="53280"/>
                  <a:pt x="80367" y="56555"/>
                </a:cubicBezTo>
                <a:lnTo>
                  <a:pt x="80367" y="62508"/>
                </a:lnTo>
                <a:cubicBezTo>
                  <a:pt x="80367" y="65782"/>
                  <a:pt x="83046" y="68461"/>
                  <a:pt x="86320" y="68461"/>
                </a:cubicBezTo>
                <a:lnTo>
                  <a:pt x="98227" y="68461"/>
                </a:lnTo>
                <a:lnTo>
                  <a:pt x="98227" y="80367"/>
                </a:lnTo>
                <a:cubicBezTo>
                  <a:pt x="98227" y="83641"/>
                  <a:pt x="100905" y="86320"/>
                  <a:pt x="104180" y="86320"/>
                </a:cubicBezTo>
                <a:lnTo>
                  <a:pt x="110133" y="86320"/>
                </a:lnTo>
                <a:cubicBezTo>
                  <a:pt x="113407" y="86320"/>
                  <a:pt x="116086" y="83641"/>
                  <a:pt x="116086" y="80367"/>
                </a:cubicBezTo>
                <a:lnTo>
                  <a:pt x="116086" y="68461"/>
                </a:lnTo>
                <a:lnTo>
                  <a:pt x="127992" y="68461"/>
                </a:lnTo>
                <a:cubicBezTo>
                  <a:pt x="131266" y="68461"/>
                  <a:pt x="133945" y="65782"/>
                  <a:pt x="133945" y="62508"/>
                </a:cubicBezTo>
                <a:lnTo>
                  <a:pt x="133945" y="56555"/>
                </a:lnTo>
                <a:cubicBezTo>
                  <a:pt x="133945" y="53280"/>
                  <a:pt x="131266" y="50602"/>
                  <a:pt x="127992" y="50602"/>
                </a:cubicBezTo>
                <a:lnTo>
                  <a:pt x="116086" y="50602"/>
                </a:lnTo>
                <a:lnTo>
                  <a:pt x="116086" y="38695"/>
                </a:lnTo>
                <a:cubicBezTo>
                  <a:pt x="116086" y="35421"/>
                  <a:pt x="113407" y="32742"/>
                  <a:pt x="110133" y="32742"/>
                </a:cubicBezTo>
                <a:lnTo>
                  <a:pt x="104180" y="32742"/>
                </a:lnTo>
                <a:cubicBezTo>
                  <a:pt x="100905" y="32742"/>
                  <a:pt x="98227" y="35421"/>
                  <a:pt x="98227" y="38695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1092200" y="1235069"/>
            <a:ext cx="1674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Hospitals &amp; Clinics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0700" y="1711319"/>
            <a:ext cx="534193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into hospital workflows for automated preliminary screening and decision support in radiology departments.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0700" y="2251069"/>
            <a:ext cx="5278438" cy="571500"/>
          </a:xfrm>
          <a:custGeom>
            <a:avLst/>
            <a:gdLst/>
            <a:ahLst/>
            <a:cxnLst/>
            <a:rect l="l" t="t" r="r" b="b"/>
            <a:pathLst>
              <a:path w="5278438" h="571500">
                <a:moveTo>
                  <a:pt x="63499" y="0"/>
                </a:moveTo>
                <a:lnTo>
                  <a:pt x="5214938" y="0"/>
                </a:lnTo>
                <a:cubicBezTo>
                  <a:pt x="5250008" y="0"/>
                  <a:pt x="5278438" y="28430"/>
                  <a:pt x="5278438" y="63499"/>
                </a:cubicBezTo>
                <a:lnTo>
                  <a:pt x="5278438" y="508001"/>
                </a:lnTo>
                <a:cubicBezTo>
                  <a:pt x="5278438" y="543070"/>
                  <a:pt x="5250008" y="571500"/>
                  <a:pt x="52149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31825" y="23780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2" name="Text 10"/>
          <p:cNvSpPr/>
          <p:nvPr/>
        </p:nvSpPr>
        <p:spPr>
          <a:xfrm>
            <a:off x="869950" y="2346319"/>
            <a:ext cx="354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 Department Triage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9950" y="2568569"/>
            <a:ext cx="353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Rapid screening to prioritize urgent cases requiring immediate attention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0700" y="2917819"/>
            <a:ext cx="5278438" cy="571500"/>
          </a:xfrm>
          <a:custGeom>
            <a:avLst/>
            <a:gdLst/>
            <a:ahLst/>
            <a:cxnLst/>
            <a:rect l="l" t="t" r="r" b="b"/>
            <a:pathLst>
              <a:path w="5278438" h="571500">
                <a:moveTo>
                  <a:pt x="63499" y="0"/>
                </a:moveTo>
                <a:lnTo>
                  <a:pt x="5214938" y="0"/>
                </a:lnTo>
                <a:cubicBezTo>
                  <a:pt x="5250008" y="0"/>
                  <a:pt x="5278438" y="28430"/>
                  <a:pt x="5278438" y="63499"/>
                </a:cubicBezTo>
                <a:lnTo>
                  <a:pt x="5278438" y="508001"/>
                </a:lnTo>
                <a:cubicBezTo>
                  <a:pt x="5278438" y="543070"/>
                  <a:pt x="5250008" y="571500"/>
                  <a:pt x="52149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31825" y="30448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6" name="Text 14"/>
          <p:cNvSpPr/>
          <p:nvPr/>
        </p:nvSpPr>
        <p:spPr>
          <a:xfrm>
            <a:off x="869950" y="3013069"/>
            <a:ext cx="263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Outpatient Screening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9950" y="3235319"/>
            <a:ext cx="262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analysis for routine chest X-rays in clinics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0700" y="3584569"/>
            <a:ext cx="5278438" cy="571500"/>
          </a:xfrm>
          <a:custGeom>
            <a:avLst/>
            <a:gdLst/>
            <a:ahLst/>
            <a:cxnLst/>
            <a:rect l="l" t="t" r="r" b="b"/>
            <a:pathLst>
              <a:path w="5278438" h="571500">
                <a:moveTo>
                  <a:pt x="63499" y="0"/>
                </a:moveTo>
                <a:lnTo>
                  <a:pt x="5214938" y="0"/>
                </a:lnTo>
                <a:cubicBezTo>
                  <a:pt x="5250008" y="0"/>
                  <a:pt x="5278438" y="28430"/>
                  <a:pt x="5278438" y="63499"/>
                </a:cubicBezTo>
                <a:lnTo>
                  <a:pt x="5278438" y="508001"/>
                </a:lnTo>
                <a:cubicBezTo>
                  <a:pt x="5278438" y="543070"/>
                  <a:pt x="5250008" y="571500"/>
                  <a:pt x="52149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31825" y="37115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0" name="Text 18"/>
          <p:cNvSpPr/>
          <p:nvPr/>
        </p:nvSpPr>
        <p:spPr>
          <a:xfrm>
            <a:off x="869950" y="3679819"/>
            <a:ext cx="346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ICU Monitoring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9950" y="3902069"/>
            <a:ext cx="3452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monitoring for pneumonia development in critical patients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3850" y="4470398"/>
            <a:ext cx="5672137" cy="2320927"/>
          </a:xfrm>
          <a:custGeom>
            <a:avLst/>
            <a:gdLst/>
            <a:ahLst/>
            <a:cxnLst/>
            <a:rect l="l" t="t" r="r" b="b"/>
            <a:pathLst>
              <a:path w="5672137" h="2536825">
                <a:moveTo>
                  <a:pt x="95258" y="0"/>
                </a:moveTo>
                <a:lnTo>
                  <a:pt x="5576880" y="0"/>
                </a:lnTo>
                <a:cubicBezTo>
                  <a:pt x="5629489" y="0"/>
                  <a:pt x="5672137" y="42648"/>
                  <a:pt x="5672137" y="95258"/>
                </a:cubicBezTo>
                <a:lnTo>
                  <a:pt x="5672137" y="2441567"/>
                </a:lnTo>
                <a:cubicBezTo>
                  <a:pt x="5672137" y="2494177"/>
                  <a:pt x="5629489" y="2536825"/>
                  <a:pt x="5576880" y="2536825"/>
                </a:cubicBezTo>
                <a:lnTo>
                  <a:pt x="95258" y="2536825"/>
                </a:lnTo>
                <a:cubicBezTo>
                  <a:pt x="42648" y="2536825"/>
                  <a:pt x="0" y="2494177"/>
                  <a:pt x="0" y="2441567"/>
                </a:cubicBezTo>
                <a:lnTo>
                  <a:pt x="0" y="95258"/>
                </a:lnTo>
                <a:cubicBezTo>
                  <a:pt x="0" y="42648"/>
                  <a:pt x="42648" y="0"/>
                  <a:pt x="95258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20320">
            <a:solidFill>
              <a:srgbClr val="38B2AC">
                <a:alpha val="5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0700" y="4508494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47700" y="46354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5" name="Text 23"/>
          <p:cNvSpPr/>
          <p:nvPr/>
        </p:nvSpPr>
        <p:spPr>
          <a:xfrm>
            <a:off x="1092200" y="4603744"/>
            <a:ext cx="1611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Diagnosis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0700" y="5079994"/>
            <a:ext cx="534193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Enabling diagnosis in resource-limited settings where radiologist availability is scarce.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0700" y="5413369"/>
            <a:ext cx="5278438" cy="571500"/>
          </a:xfrm>
          <a:custGeom>
            <a:avLst/>
            <a:gdLst/>
            <a:ahLst/>
            <a:cxnLst/>
            <a:rect l="l" t="t" r="r" b="b"/>
            <a:pathLst>
              <a:path w="5278438" h="571500">
                <a:moveTo>
                  <a:pt x="63499" y="0"/>
                </a:moveTo>
                <a:lnTo>
                  <a:pt x="5214938" y="0"/>
                </a:lnTo>
                <a:cubicBezTo>
                  <a:pt x="5250008" y="0"/>
                  <a:pt x="5278438" y="28430"/>
                  <a:pt x="5278438" y="63499"/>
                </a:cubicBezTo>
                <a:lnTo>
                  <a:pt x="5278438" y="508001"/>
                </a:lnTo>
                <a:cubicBezTo>
                  <a:pt x="5278438" y="543070"/>
                  <a:pt x="5250008" y="571500"/>
                  <a:pt x="52149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31825" y="55403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29" name="Text 27"/>
          <p:cNvSpPr/>
          <p:nvPr/>
        </p:nvSpPr>
        <p:spPr>
          <a:xfrm>
            <a:off x="869950" y="5508619"/>
            <a:ext cx="230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Rural Healthcare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9950" y="5730869"/>
            <a:ext cx="230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 for clinics without on-site radiologists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0700" y="6080119"/>
            <a:ext cx="5278438" cy="571500"/>
          </a:xfrm>
          <a:custGeom>
            <a:avLst/>
            <a:gdLst/>
            <a:ahLst/>
            <a:cxnLst/>
            <a:rect l="l" t="t" r="r" b="b"/>
            <a:pathLst>
              <a:path w="5278438" h="571500">
                <a:moveTo>
                  <a:pt x="63499" y="0"/>
                </a:moveTo>
                <a:lnTo>
                  <a:pt x="5214938" y="0"/>
                </a:lnTo>
                <a:cubicBezTo>
                  <a:pt x="5250008" y="0"/>
                  <a:pt x="5278438" y="28430"/>
                  <a:pt x="5278438" y="63499"/>
                </a:cubicBezTo>
                <a:lnTo>
                  <a:pt x="5278438" y="508001"/>
                </a:lnTo>
                <a:cubicBezTo>
                  <a:pt x="5278438" y="543070"/>
                  <a:pt x="5250008" y="571500"/>
                  <a:pt x="52149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1825" y="62071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3" name="Text 31"/>
          <p:cNvSpPr/>
          <p:nvPr/>
        </p:nvSpPr>
        <p:spPr>
          <a:xfrm>
            <a:off x="869950" y="6175369"/>
            <a:ext cx="2944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Telemedicine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9950" y="6397619"/>
            <a:ext cx="2936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consultation with AI-assisted preliminary diagnosis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7599" y="587373"/>
            <a:ext cx="5672137" cy="4838700"/>
          </a:xfrm>
          <a:custGeom>
            <a:avLst/>
            <a:gdLst/>
            <a:ahLst/>
            <a:cxnLst/>
            <a:rect l="l" t="t" r="r" b="b"/>
            <a:pathLst>
              <a:path w="5672137" h="4838700">
                <a:moveTo>
                  <a:pt x="95274" y="0"/>
                </a:moveTo>
                <a:lnTo>
                  <a:pt x="5576863" y="0"/>
                </a:lnTo>
                <a:cubicBezTo>
                  <a:pt x="5629482" y="0"/>
                  <a:pt x="5672137" y="42656"/>
                  <a:pt x="5672137" y="95274"/>
                </a:cubicBezTo>
                <a:lnTo>
                  <a:pt x="5672137" y="4743426"/>
                </a:lnTo>
                <a:cubicBezTo>
                  <a:pt x="5672137" y="4796044"/>
                  <a:pt x="5629482" y="4838700"/>
                  <a:pt x="5576863" y="4838700"/>
                </a:cubicBezTo>
                <a:lnTo>
                  <a:pt x="95274" y="4838700"/>
                </a:lnTo>
                <a:cubicBezTo>
                  <a:pt x="42656" y="4838700"/>
                  <a:pt x="0" y="4796044"/>
                  <a:pt x="0" y="4743426"/>
                </a:cubicBezTo>
                <a:lnTo>
                  <a:pt x="0" y="95274"/>
                </a:lnTo>
                <a:cubicBezTo>
                  <a:pt x="0" y="42691"/>
                  <a:pt x="42691" y="0"/>
                  <a:pt x="95274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>
                  <a:alpha val="30000"/>
                </a:srgbClr>
              </a:gs>
              <a:gs pos="100000">
                <a:srgbClr val="38B2AC">
                  <a:alpha val="30000"/>
                </a:srgbClr>
              </a:gs>
            </a:gsLst>
            <a:lin ang="2700000" scaled="1"/>
          </a:gradFill>
          <a:ln w="20320">
            <a:solidFill>
              <a:srgbClr val="3182CE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4449" y="78422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3182CE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21449" y="9112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8" name="Text 36"/>
          <p:cNvSpPr/>
          <p:nvPr/>
        </p:nvSpPr>
        <p:spPr>
          <a:xfrm>
            <a:off x="6965949" y="879470"/>
            <a:ext cx="2309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Support Systems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94449" y="1355720"/>
            <a:ext cx="534193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systems that assist radiologists in making more accurate and consistent diagnoses.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94449" y="1895470"/>
            <a:ext cx="5278438" cy="571500"/>
          </a:xfrm>
          <a:custGeom>
            <a:avLst/>
            <a:gdLst/>
            <a:ahLst/>
            <a:cxnLst/>
            <a:rect l="l" t="t" r="r" b="b"/>
            <a:pathLst>
              <a:path w="5278438" h="571500">
                <a:moveTo>
                  <a:pt x="63499" y="0"/>
                </a:moveTo>
                <a:lnTo>
                  <a:pt x="5214938" y="0"/>
                </a:lnTo>
                <a:cubicBezTo>
                  <a:pt x="5250008" y="0"/>
                  <a:pt x="5278438" y="28430"/>
                  <a:pt x="5278438" y="63499"/>
                </a:cubicBezTo>
                <a:lnTo>
                  <a:pt x="5278438" y="508001"/>
                </a:lnTo>
                <a:cubicBezTo>
                  <a:pt x="5278438" y="543070"/>
                  <a:pt x="5250008" y="571500"/>
                  <a:pt x="52149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05574" y="202247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2" name="Text 40"/>
          <p:cNvSpPr/>
          <p:nvPr/>
        </p:nvSpPr>
        <p:spPr>
          <a:xfrm>
            <a:off x="6743699" y="1990720"/>
            <a:ext cx="36909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Second Reader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43699" y="2212970"/>
            <a:ext cx="3683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inter-observer variability by providing consistent second opinions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94449" y="2562220"/>
            <a:ext cx="5278438" cy="571500"/>
          </a:xfrm>
          <a:custGeom>
            <a:avLst/>
            <a:gdLst/>
            <a:ahLst/>
            <a:cxnLst/>
            <a:rect l="l" t="t" r="r" b="b"/>
            <a:pathLst>
              <a:path w="5278438" h="571500">
                <a:moveTo>
                  <a:pt x="63499" y="0"/>
                </a:moveTo>
                <a:lnTo>
                  <a:pt x="5214938" y="0"/>
                </a:lnTo>
                <a:cubicBezTo>
                  <a:pt x="5250008" y="0"/>
                  <a:pt x="5278438" y="28430"/>
                  <a:pt x="5278438" y="63499"/>
                </a:cubicBezTo>
                <a:lnTo>
                  <a:pt x="5278438" y="508001"/>
                </a:lnTo>
                <a:cubicBezTo>
                  <a:pt x="5278438" y="543070"/>
                  <a:pt x="5250008" y="571500"/>
                  <a:pt x="52149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05574" y="268922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6" name="Text 44"/>
          <p:cNvSpPr/>
          <p:nvPr/>
        </p:nvSpPr>
        <p:spPr>
          <a:xfrm>
            <a:off x="6743699" y="2657470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43699" y="2879720"/>
            <a:ext cx="2182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Flags potential missed diagnoses for review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4449" y="3228970"/>
            <a:ext cx="5278438" cy="571500"/>
          </a:xfrm>
          <a:custGeom>
            <a:avLst/>
            <a:gdLst/>
            <a:ahLst/>
            <a:cxnLst/>
            <a:rect l="l" t="t" r="r" b="b"/>
            <a:pathLst>
              <a:path w="5278438" h="571500">
                <a:moveTo>
                  <a:pt x="63499" y="0"/>
                </a:moveTo>
                <a:lnTo>
                  <a:pt x="5214938" y="0"/>
                </a:lnTo>
                <a:cubicBezTo>
                  <a:pt x="5250008" y="0"/>
                  <a:pt x="5278438" y="28430"/>
                  <a:pt x="5278438" y="63499"/>
                </a:cubicBezTo>
                <a:lnTo>
                  <a:pt x="5278438" y="508001"/>
                </a:lnTo>
                <a:cubicBezTo>
                  <a:pt x="5278438" y="543070"/>
                  <a:pt x="5250008" y="571500"/>
                  <a:pt x="52149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505574" y="335597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0" name="Text 48"/>
          <p:cNvSpPr/>
          <p:nvPr/>
        </p:nvSpPr>
        <p:spPr>
          <a:xfrm>
            <a:off x="6743699" y="3324220"/>
            <a:ext cx="2960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Optimization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43699" y="3546470"/>
            <a:ext cx="2952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Prioritizes urgent cases, reducing reporting turnaround time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94449" y="3895720"/>
            <a:ext cx="5278438" cy="571500"/>
          </a:xfrm>
          <a:custGeom>
            <a:avLst/>
            <a:gdLst/>
            <a:ahLst/>
            <a:cxnLst/>
            <a:rect l="l" t="t" r="r" b="b"/>
            <a:pathLst>
              <a:path w="5278438" h="571500">
                <a:moveTo>
                  <a:pt x="63499" y="0"/>
                </a:moveTo>
                <a:lnTo>
                  <a:pt x="5214938" y="0"/>
                </a:lnTo>
                <a:cubicBezTo>
                  <a:pt x="5250008" y="0"/>
                  <a:pt x="5278438" y="28430"/>
                  <a:pt x="5278438" y="63499"/>
                </a:cubicBezTo>
                <a:lnTo>
                  <a:pt x="5278438" y="508001"/>
                </a:lnTo>
                <a:cubicBezTo>
                  <a:pt x="5278438" y="543070"/>
                  <a:pt x="5250008" y="571500"/>
                  <a:pt x="52149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505574" y="402272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4" name="Text 52"/>
          <p:cNvSpPr/>
          <p:nvPr/>
        </p:nvSpPr>
        <p:spPr>
          <a:xfrm>
            <a:off x="6743699" y="3990970"/>
            <a:ext cx="303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&amp; Education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743699" y="4213220"/>
            <a:ext cx="3024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Educational tool for radiology residents and medical students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94424" y="5591171"/>
            <a:ext cx="5673725" cy="1117600"/>
          </a:xfrm>
          <a:custGeom>
            <a:avLst/>
            <a:gdLst/>
            <a:ahLst/>
            <a:cxnLst/>
            <a:rect l="l" t="t" r="r" b="b"/>
            <a:pathLst>
              <a:path w="5673725" h="1117600">
                <a:moveTo>
                  <a:pt x="95253" y="0"/>
                </a:moveTo>
                <a:lnTo>
                  <a:pt x="5578472" y="0"/>
                </a:lnTo>
                <a:cubicBezTo>
                  <a:pt x="5631079" y="0"/>
                  <a:pt x="5673725" y="42646"/>
                  <a:pt x="5673725" y="95253"/>
                </a:cubicBezTo>
                <a:lnTo>
                  <a:pt x="5673725" y="1022347"/>
                </a:lnTo>
                <a:cubicBezTo>
                  <a:pt x="5673725" y="1074954"/>
                  <a:pt x="5631079" y="1117600"/>
                  <a:pt x="5578472" y="1117600"/>
                </a:cubicBezTo>
                <a:lnTo>
                  <a:pt x="95253" y="1117600"/>
                </a:lnTo>
                <a:cubicBezTo>
                  <a:pt x="42646" y="1117600"/>
                  <a:pt x="0" y="1074954"/>
                  <a:pt x="0" y="1022347"/>
                </a:cubicBezTo>
                <a:lnTo>
                  <a:pt x="0" y="95253"/>
                </a:lnTo>
                <a:cubicBezTo>
                  <a:pt x="0" y="42646"/>
                  <a:pt x="42646" y="0"/>
                  <a:pt x="95253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182CE">
                  <a:alpha val="20000"/>
                </a:srgbClr>
              </a:gs>
            </a:gsLst>
            <a:lin ang="27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07943" y="581659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8" name="Text 56"/>
          <p:cNvSpPr/>
          <p:nvPr/>
        </p:nvSpPr>
        <p:spPr>
          <a:xfrm>
            <a:off x="6681786" y="5784845"/>
            <a:ext cx="98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Impact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388099" y="6102345"/>
            <a:ext cx="5349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AI medical imaging market is projected to grow from </a:t>
            </a: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$1.5B (2024)</a:t>
            </a: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</a:t>
            </a: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$4.5B (2029)</a:t>
            </a: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at 23.2% CAGR, with lung/pulmonology applications leading at 22% market share.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12750"/>
            <a:ext cx="63500" cy="381000"/>
          </a:xfrm>
          <a:custGeom>
            <a:avLst/>
            <a:gdLst/>
            <a:ahLst/>
            <a:cxnLst/>
            <a:rect l="l" t="t" r="r" b="b"/>
            <a:pathLst>
              <a:path w="63500" h="3810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49250"/>
                </a:lnTo>
                <a:cubicBezTo>
                  <a:pt x="63500" y="366773"/>
                  <a:pt x="49273" y="381000"/>
                  <a:pt x="31750" y="381000"/>
                </a:cubicBez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317500"/>
            <a:ext cx="194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508000"/>
            <a:ext cx="2071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3850" y="1085850"/>
            <a:ext cx="3735388" cy="5568950"/>
          </a:xfrm>
          <a:custGeom>
            <a:avLst/>
            <a:gdLst/>
            <a:ahLst/>
            <a:cxnLst/>
            <a:rect l="l" t="t" r="r" b="b"/>
            <a:pathLst>
              <a:path w="3735388" h="5568950">
                <a:moveTo>
                  <a:pt x="95252" y="0"/>
                </a:moveTo>
                <a:lnTo>
                  <a:pt x="3640135" y="0"/>
                </a:lnTo>
                <a:cubicBezTo>
                  <a:pt x="3692742" y="0"/>
                  <a:pt x="3735387" y="42646"/>
                  <a:pt x="3735387" y="95252"/>
                </a:cubicBezTo>
                <a:lnTo>
                  <a:pt x="3735388" y="5473698"/>
                </a:lnTo>
                <a:cubicBezTo>
                  <a:pt x="3735387" y="5526304"/>
                  <a:pt x="3692742" y="5568950"/>
                  <a:pt x="3640135" y="5568950"/>
                </a:cubicBezTo>
                <a:lnTo>
                  <a:pt x="95252" y="5568950"/>
                </a:lnTo>
                <a:cubicBezTo>
                  <a:pt x="42646" y="5568950"/>
                  <a:pt x="0" y="5526304"/>
                  <a:pt x="0" y="5473698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>
                  <a:alpha val="20000"/>
                </a:srgbClr>
              </a:gs>
              <a:gs pos="100000">
                <a:srgbClr val="3182CE">
                  <a:alpha val="10000"/>
                </a:srgbClr>
              </a:gs>
            </a:gsLst>
            <a:lin ang="2700000" scaled="1"/>
          </a:gradFill>
          <a:ln w="20320">
            <a:solidFill>
              <a:srgbClr val="3182CE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0700" y="128270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3182CE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1512" y="140970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92980" y="24854"/>
                </a:moveTo>
                <a:cubicBezTo>
                  <a:pt x="96850" y="19534"/>
                  <a:pt x="95659" y="12092"/>
                  <a:pt x="90339" y="8223"/>
                </a:cubicBezTo>
                <a:cubicBezTo>
                  <a:pt x="85018" y="4353"/>
                  <a:pt x="77577" y="5544"/>
                  <a:pt x="73707" y="10864"/>
                </a:cubicBezTo>
                <a:lnTo>
                  <a:pt x="34268" y="65075"/>
                </a:lnTo>
                <a:lnTo>
                  <a:pt x="20315" y="51122"/>
                </a:lnTo>
                <a:cubicBezTo>
                  <a:pt x="15664" y="46472"/>
                  <a:pt x="8111" y="46472"/>
                  <a:pt x="3460" y="51122"/>
                </a:cubicBezTo>
                <a:cubicBezTo>
                  <a:pt x="-1191" y="55773"/>
                  <a:pt x="-1191" y="63326"/>
                  <a:pt x="3460" y="67977"/>
                </a:cubicBezTo>
                <a:lnTo>
                  <a:pt x="27273" y="91790"/>
                </a:lnTo>
                <a:cubicBezTo>
                  <a:pt x="29728" y="94245"/>
                  <a:pt x="33151" y="95510"/>
                  <a:pt x="36612" y="95250"/>
                </a:cubicBezTo>
                <a:cubicBezTo>
                  <a:pt x="40072" y="94990"/>
                  <a:pt x="43272" y="93204"/>
                  <a:pt x="45318" y="90376"/>
                </a:cubicBezTo>
                <a:lnTo>
                  <a:pt x="92943" y="24892"/>
                </a:lnTo>
                <a:close/>
                <a:moveTo>
                  <a:pt x="140605" y="75456"/>
                </a:moveTo>
                <a:cubicBezTo>
                  <a:pt x="144475" y="70135"/>
                  <a:pt x="143284" y="62694"/>
                  <a:pt x="137964" y="58824"/>
                </a:cubicBezTo>
                <a:cubicBezTo>
                  <a:pt x="132643" y="54955"/>
                  <a:pt x="125202" y="56145"/>
                  <a:pt x="121332" y="61466"/>
                </a:cubicBezTo>
                <a:lnTo>
                  <a:pt x="58080" y="148419"/>
                </a:lnTo>
                <a:lnTo>
                  <a:pt x="32221" y="122560"/>
                </a:lnTo>
                <a:cubicBezTo>
                  <a:pt x="27570" y="117909"/>
                  <a:pt x="20017" y="117909"/>
                  <a:pt x="15367" y="122560"/>
                </a:cubicBezTo>
                <a:cubicBezTo>
                  <a:pt x="10716" y="127211"/>
                  <a:pt x="10716" y="134764"/>
                  <a:pt x="15367" y="139415"/>
                </a:cubicBezTo>
                <a:lnTo>
                  <a:pt x="51085" y="175133"/>
                </a:lnTo>
                <a:cubicBezTo>
                  <a:pt x="53541" y="177589"/>
                  <a:pt x="56964" y="178854"/>
                  <a:pt x="60424" y="178594"/>
                </a:cubicBezTo>
                <a:cubicBezTo>
                  <a:pt x="63884" y="178333"/>
                  <a:pt x="67084" y="176547"/>
                  <a:pt x="69131" y="173720"/>
                </a:cubicBezTo>
                <a:lnTo>
                  <a:pt x="140568" y="75493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1092200" y="1377955"/>
            <a:ext cx="1928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Achievements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0700" y="1854205"/>
            <a:ext cx="3341688" cy="730250"/>
          </a:xfrm>
          <a:custGeom>
            <a:avLst/>
            <a:gdLst/>
            <a:ahLst/>
            <a:cxnLst/>
            <a:rect l="l" t="t" r="r" b="b"/>
            <a:pathLst>
              <a:path w="3341688" h="730250">
                <a:moveTo>
                  <a:pt x="63503" y="0"/>
                </a:moveTo>
                <a:lnTo>
                  <a:pt x="3278185" y="0"/>
                </a:lnTo>
                <a:cubicBezTo>
                  <a:pt x="3313256" y="0"/>
                  <a:pt x="3341688" y="28431"/>
                  <a:pt x="3341688" y="63503"/>
                </a:cubicBezTo>
                <a:lnTo>
                  <a:pt x="3341688" y="666747"/>
                </a:lnTo>
                <a:cubicBezTo>
                  <a:pt x="3341688" y="701819"/>
                  <a:pt x="3313256" y="730250"/>
                  <a:pt x="327818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15950" y="194945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182CE">
              <a:alpha val="3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95325" y="1981205"/>
            <a:ext cx="15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5200" y="1949455"/>
            <a:ext cx="2865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Successful Implementation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5200" y="2171705"/>
            <a:ext cx="285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state-of-the-art deep learning models trained and evaluated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0700" y="2679705"/>
            <a:ext cx="3341688" cy="730250"/>
          </a:xfrm>
          <a:custGeom>
            <a:avLst/>
            <a:gdLst/>
            <a:ahLst/>
            <a:cxnLst/>
            <a:rect l="l" t="t" r="r" b="b"/>
            <a:pathLst>
              <a:path w="3341688" h="730250">
                <a:moveTo>
                  <a:pt x="63503" y="0"/>
                </a:moveTo>
                <a:lnTo>
                  <a:pt x="3278185" y="0"/>
                </a:lnTo>
                <a:cubicBezTo>
                  <a:pt x="3313256" y="0"/>
                  <a:pt x="3341688" y="28431"/>
                  <a:pt x="3341688" y="63503"/>
                </a:cubicBezTo>
                <a:lnTo>
                  <a:pt x="3341688" y="666747"/>
                </a:lnTo>
                <a:cubicBezTo>
                  <a:pt x="3341688" y="701819"/>
                  <a:pt x="3313256" y="730250"/>
                  <a:pt x="3278185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15950" y="277495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182CE">
              <a:alpha val="3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5325" y="2806705"/>
            <a:ext cx="15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5200" y="2774955"/>
            <a:ext cx="2865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Accuracy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5200" y="2997205"/>
            <a:ext cx="285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Achieved &gt;98% accuracy across all models with ResNet-50 at 99.43%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0700" y="3505205"/>
            <a:ext cx="3341688" cy="571500"/>
          </a:xfrm>
          <a:custGeom>
            <a:avLst/>
            <a:gdLst/>
            <a:ahLst/>
            <a:cxnLst/>
            <a:rect l="l" t="t" r="r" b="b"/>
            <a:pathLst>
              <a:path w="3341688" h="571500">
                <a:moveTo>
                  <a:pt x="63499" y="0"/>
                </a:moveTo>
                <a:lnTo>
                  <a:pt x="3278188" y="0"/>
                </a:lnTo>
                <a:cubicBezTo>
                  <a:pt x="3313258" y="0"/>
                  <a:pt x="3341688" y="28430"/>
                  <a:pt x="3341688" y="63499"/>
                </a:cubicBezTo>
                <a:lnTo>
                  <a:pt x="3341688" y="508001"/>
                </a:lnTo>
                <a:cubicBezTo>
                  <a:pt x="3341688" y="543070"/>
                  <a:pt x="3313258" y="571500"/>
                  <a:pt x="327818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15950" y="360045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182CE">
              <a:alpha val="3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95325" y="3632205"/>
            <a:ext cx="15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5200" y="3600455"/>
            <a:ext cx="274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Validation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5200" y="3822705"/>
            <a:ext cx="273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Grad-CAM confirms focus on clinically relevant regions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0700" y="4171955"/>
            <a:ext cx="3341688" cy="571500"/>
          </a:xfrm>
          <a:custGeom>
            <a:avLst/>
            <a:gdLst/>
            <a:ahLst/>
            <a:cxnLst/>
            <a:rect l="l" t="t" r="r" b="b"/>
            <a:pathLst>
              <a:path w="3341688" h="571500">
                <a:moveTo>
                  <a:pt x="63499" y="0"/>
                </a:moveTo>
                <a:lnTo>
                  <a:pt x="3278188" y="0"/>
                </a:lnTo>
                <a:cubicBezTo>
                  <a:pt x="3313258" y="0"/>
                  <a:pt x="3341688" y="28430"/>
                  <a:pt x="3341688" y="63499"/>
                </a:cubicBezTo>
                <a:lnTo>
                  <a:pt x="3341688" y="508001"/>
                </a:lnTo>
                <a:cubicBezTo>
                  <a:pt x="3341688" y="543070"/>
                  <a:pt x="3313258" y="571500"/>
                  <a:pt x="327818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15950" y="426720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182CE">
              <a:alpha val="3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95325" y="4298955"/>
            <a:ext cx="15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5200" y="4267205"/>
            <a:ext cx="2532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Reduction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5200" y="4489455"/>
            <a:ext cx="252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84% reduction in errors compared to baseline CNN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29100" y="1085850"/>
            <a:ext cx="3735388" cy="3314700"/>
          </a:xfrm>
          <a:custGeom>
            <a:avLst/>
            <a:gdLst/>
            <a:ahLst/>
            <a:cxnLst/>
            <a:rect l="l" t="t" r="r" b="b"/>
            <a:pathLst>
              <a:path w="3735388" h="3314700">
                <a:moveTo>
                  <a:pt x="95264" y="0"/>
                </a:moveTo>
                <a:lnTo>
                  <a:pt x="3640123" y="0"/>
                </a:lnTo>
                <a:cubicBezTo>
                  <a:pt x="3692736" y="0"/>
                  <a:pt x="3735388" y="42651"/>
                  <a:pt x="3735388" y="95264"/>
                </a:cubicBezTo>
                <a:lnTo>
                  <a:pt x="3735388" y="3219436"/>
                </a:lnTo>
                <a:cubicBezTo>
                  <a:pt x="3735388" y="3272049"/>
                  <a:pt x="3692736" y="3314700"/>
                  <a:pt x="3640123" y="3314700"/>
                </a:cubicBezTo>
                <a:lnTo>
                  <a:pt x="95264" y="3314700"/>
                </a:lnTo>
                <a:cubicBezTo>
                  <a:pt x="42651" y="3314700"/>
                  <a:pt x="0" y="3272049"/>
                  <a:pt x="0" y="3219436"/>
                </a:cubicBezTo>
                <a:lnTo>
                  <a:pt x="0" y="95264"/>
                </a:lnTo>
                <a:cubicBezTo>
                  <a:pt x="0" y="42687"/>
                  <a:pt x="42687" y="0"/>
                  <a:pt x="95264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20320">
            <a:solidFill>
              <a:srgbClr val="38B2AC">
                <a:alpha val="5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25950" y="128270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52950" y="140970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2" name="Text 30"/>
          <p:cNvSpPr/>
          <p:nvPr/>
        </p:nvSpPr>
        <p:spPr>
          <a:xfrm>
            <a:off x="4997450" y="1377955"/>
            <a:ext cx="202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Performing Model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25950" y="1854205"/>
            <a:ext cx="3341688" cy="857250"/>
          </a:xfrm>
          <a:custGeom>
            <a:avLst/>
            <a:gdLst/>
            <a:ahLst/>
            <a:cxnLst/>
            <a:rect l="l" t="t" r="r" b="b"/>
            <a:pathLst>
              <a:path w="3341688" h="857250">
                <a:moveTo>
                  <a:pt x="63497" y="0"/>
                </a:moveTo>
                <a:lnTo>
                  <a:pt x="3278191" y="0"/>
                </a:lnTo>
                <a:cubicBezTo>
                  <a:pt x="3313259" y="0"/>
                  <a:pt x="3341688" y="28428"/>
                  <a:pt x="3341688" y="63497"/>
                </a:cubicBezTo>
                <a:lnTo>
                  <a:pt x="3341688" y="793753"/>
                </a:lnTo>
                <a:cubicBezTo>
                  <a:pt x="3341688" y="828822"/>
                  <a:pt x="3313259" y="857250"/>
                  <a:pt x="3278191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584700" y="2012955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ResNet-50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84700" y="2362205"/>
            <a:ext cx="3087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Fine-tuned with transfer learning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25950" y="2838455"/>
            <a:ext cx="1619250" cy="635000"/>
          </a:xfrm>
          <a:custGeom>
            <a:avLst/>
            <a:gdLst/>
            <a:ahLst/>
            <a:cxnLst/>
            <a:rect l="l" t="t" r="r" b="b"/>
            <a:pathLst>
              <a:path w="1619250" h="635000">
                <a:moveTo>
                  <a:pt x="63500" y="0"/>
                </a:moveTo>
                <a:lnTo>
                  <a:pt x="1555750" y="0"/>
                </a:lnTo>
                <a:cubicBezTo>
                  <a:pt x="1590797" y="0"/>
                  <a:pt x="1619250" y="28453"/>
                  <a:pt x="1619250" y="63500"/>
                </a:cubicBezTo>
                <a:lnTo>
                  <a:pt x="1619250" y="571500"/>
                </a:lnTo>
                <a:cubicBezTo>
                  <a:pt x="1619250" y="606547"/>
                  <a:pt x="1590797" y="635000"/>
                  <a:pt x="1555750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461669" y="2933705"/>
            <a:ext cx="1547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99.43%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93419" y="3219455"/>
            <a:ext cx="148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43625" y="2838455"/>
            <a:ext cx="1619250" cy="635000"/>
          </a:xfrm>
          <a:custGeom>
            <a:avLst/>
            <a:gdLst/>
            <a:ahLst/>
            <a:cxnLst/>
            <a:rect l="l" t="t" r="r" b="b"/>
            <a:pathLst>
              <a:path w="1619250" h="635000">
                <a:moveTo>
                  <a:pt x="63500" y="0"/>
                </a:moveTo>
                <a:lnTo>
                  <a:pt x="1555750" y="0"/>
                </a:lnTo>
                <a:cubicBezTo>
                  <a:pt x="1590797" y="0"/>
                  <a:pt x="1619250" y="28453"/>
                  <a:pt x="1619250" y="63500"/>
                </a:cubicBezTo>
                <a:lnTo>
                  <a:pt x="1619250" y="571500"/>
                </a:lnTo>
                <a:cubicBezTo>
                  <a:pt x="1619250" y="606547"/>
                  <a:pt x="1590797" y="635000"/>
                  <a:pt x="1555750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179344" y="2933705"/>
            <a:ext cx="1547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3182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99.61%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11094" y="3219455"/>
            <a:ext cx="148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F1-Score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25950" y="3568705"/>
            <a:ext cx="1619250" cy="635000"/>
          </a:xfrm>
          <a:custGeom>
            <a:avLst/>
            <a:gdLst/>
            <a:ahLst/>
            <a:cxnLst/>
            <a:rect l="l" t="t" r="r" b="b"/>
            <a:pathLst>
              <a:path w="1619250" h="635000">
                <a:moveTo>
                  <a:pt x="63500" y="0"/>
                </a:moveTo>
                <a:lnTo>
                  <a:pt x="1555750" y="0"/>
                </a:lnTo>
                <a:cubicBezTo>
                  <a:pt x="1590797" y="0"/>
                  <a:pt x="1619250" y="28453"/>
                  <a:pt x="1619250" y="63500"/>
                </a:cubicBezTo>
                <a:lnTo>
                  <a:pt x="1619250" y="571500"/>
                </a:lnTo>
                <a:cubicBezTo>
                  <a:pt x="1619250" y="606547"/>
                  <a:pt x="1590797" y="635000"/>
                  <a:pt x="1555750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461669" y="3663955"/>
            <a:ext cx="1547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493419" y="3949705"/>
            <a:ext cx="148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Errors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43625" y="3568705"/>
            <a:ext cx="1619250" cy="635000"/>
          </a:xfrm>
          <a:custGeom>
            <a:avLst/>
            <a:gdLst/>
            <a:ahLst/>
            <a:cxnLst/>
            <a:rect l="l" t="t" r="r" b="b"/>
            <a:pathLst>
              <a:path w="1619250" h="635000">
                <a:moveTo>
                  <a:pt x="63500" y="0"/>
                </a:moveTo>
                <a:lnTo>
                  <a:pt x="1555750" y="0"/>
                </a:lnTo>
                <a:cubicBezTo>
                  <a:pt x="1590797" y="0"/>
                  <a:pt x="1619250" y="28453"/>
                  <a:pt x="1619250" y="63500"/>
                </a:cubicBezTo>
                <a:lnTo>
                  <a:pt x="1619250" y="571500"/>
                </a:lnTo>
                <a:cubicBezTo>
                  <a:pt x="1619250" y="606547"/>
                  <a:pt x="1590797" y="635000"/>
                  <a:pt x="1555750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179344" y="3663955"/>
            <a:ext cx="1547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0.999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211094" y="3949705"/>
            <a:ext cx="148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AUC-ROC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225925" y="4568827"/>
            <a:ext cx="3736975" cy="2085975"/>
          </a:xfrm>
          <a:custGeom>
            <a:avLst/>
            <a:gdLst/>
            <a:ahLst/>
            <a:cxnLst/>
            <a:rect l="l" t="t" r="r" b="b"/>
            <a:pathLst>
              <a:path w="3736975" h="2085975">
                <a:moveTo>
                  <a:pt x="95246" y="0"/>
                </a:moveTo>
                <a:lnTo>
                  <a:pt x="3641729" y="0"/>
                </a:lnTo>
                <a:cubicBezTo>
                  <a:pt x="3694332" y="0"/>
                  <a:pt x="3736975" y="42643"/>
                  <a:pt x="3736975" y="95246"/>
                </a:cubicBezTo>
                <a:lnTo>
                  <a:pt x="3736975" y="1990729"/>
                </a:lnTo>
                <a:cubicBezTo>
                  <a:pt x="3736975" y="2043332"/>
                  <a:pt x="3694332" y="2085975"/>
                  <a:pt x="3641729" y="2085975"/>
                </a:cubicBezTo>
                <a:lnTo>
                  <a:pt x="95246" y="2085975"/>
                </a:lnTo>
                <a:cubicBezTo>
                  <a:pt x="42643" y="2085975"/>
                  <a:pt x="0" y="2043332"/>
                  <a:pt x="0" y="1990729"/>
                </a:cubicBezTo>
                <a:lnTo>
                  <a:pt x="0" y="95246"/>
                </a:lnTo>
                <a:cubicBezTo>
                  <a:pt x="0" y="42678"/>
                  <a:pt x="42678" y="0"/>
                  <a:pt x="95246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>
                  <a:alpha val="20000"/>
                </a:srgbClr>
              </a:gs>
              <a:gs pos="100000">
                <a:srgbClr val="38B2AC">
                  <a:alpha val="20000"/>
                </a:srgbClr>
              </a:gs>
            </a:gsLst>
            <a:lin ang="2700000" scaled="1"/>
          </a:gradFill>
          <a:ln w="10160">
            <a:solidFill>
              <a:srgbClr val="3182CE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59287" y="479425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0" name="Text 48"/>
          <p:cNvSpPr/>
          <p:nvPr/>
        </p:nvSpPr>
        <p:spPr>
          <a:xfrm>
            <a:off x="4713287" y="4762500"/>
            <a:ext cx="769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419600" y="5080000"/>
            <a:ext cx="34131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Transfer learning with fine-tuning is </a:t>
            </a: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</a:t>
            </a: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medical imaging, providing +5.48% average accuracy improvement over training from scratch.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34350" y="1085850"/>
            <a:ext cx="3735388" cy="4076700"/>
          </a:xfrm>
          <a:custGeom>
            <a:avLst/>
            <a:gdLst/>
            <a:ahLst/>
            <a:cxnLst/>
            <a:rect l="l" t="t" r="r" b="b"/>
            <a:pathLst>
              <a:path w="3735388" h="4076700">
                <a:moveTo>
                  <a:pt x="95252" y="0"/>
                </a:moveTo>
                <a:lnTo>
                  <a:pt x="3640135" y="0"/>
                </a:lnTo>
                <a:cubicBezTo>
                  <a:pt x="3692742" y="0"/>
                  <a:pt x="3735387" y="42646"/>
                  <a:pt x="3735387" y="95252"/>
                </a:cubicBezTo>
                <a:lnTo>
                  <a:pt x="3735388" y="3981448"/>
                </a:lnTo>
                <a:cubicBezTo>
                  <a:pt x="3735387" y="4034054"/>
                  <a:pt x="3692742" y="4076700"/>
                  <a:pt x="3640135" y="4076700"/>
                </a:cubicBezTo>
                <a:lnTo>
                  <a:pt x="95252" y="4076700"/>
                </a:lnTo>
                <a:cubicBezTo>
                  <a:pt x="42646" y="4076700"/>
                  <a:pt x="0" y="4034054"/>
                  <a:pt x="0" y="3981448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>
                  <a:alpha val="30000"/>
                </a:srgbClr>
              </a:gs>
              <a:gs pos="100000">
                <a:srgbClr val="38B2AC">
                  <a:alpha val="30000"/>
                </a:srgbClr>
              </a:gs>
            </a:gsLst>
            <a:lin ang="2700000" scaled="1"/>
          </a:gradFill>
          <a:ln w="20320">
            <a:solidFill>
              <a:srgbClr val="3182CE">
                <a:alpha val="6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31200" y="128270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3182CE">
              <a:alpha val="4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458200" y="140970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5" name="Text 53"/>
          <p:cNvSpPr/>
          <p:nvPr/>
        </p:nvSpPr>
        <p:spPr>
          <a:xfrm>
            <a:off x="8902700" y="1377955"/>
            <a:ext cx="2103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Impact on Healthcare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31200" y="1854205"/>
            <a:ext cx="3341688" cy="666750"/>
          </a:xfrm>
          <a:custGeom>
            <a:avLst/>
            <a:gdLst/>
            <a:ahLst/>
            <a:cxnLst/>
            <a:rect l="l" t="t" r="r" b="b"/>
            <a:pathLst>
              <a:path w="3341688" h="666750">
                <a:moveTo>
                  <a:pt x="63501" y="0"/>
                </a:moveTo>
                <a:lnTo>
                  <a:pt x="3278186" y="0"/>
                </a:lnTo>
                <a:cubicBezTo>
                  <a:pt x="3313257" y="0"/>
                  <a:pt x="3341688" y="28430"/>
                  <a:pt x="3341688" y="63501"/>
                </a:cubicBezTo>
                <a:lnTo>
                  <a:pt x="3341688" y="603249"/>
                </a:lnTo>
                <a:cubicBezTo>
                  <a:pt x="3341688" y="638320"/>
                  <a:pt x="3313257" y="666750"/>
                  <a:pt x="3278186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78044" y="2005017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110865" y="0"/>
                  <a:pt x="142875" y="32010"/>
                  <a:pt x="142875" y="71438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ubicBezTo>
                  <a:pt x="0" y="32010"/>
                  <a:pt x="32010" y="0"/>
                  <a:pt x="71437" y="0"/>
                </a:cubicBezTo>
                <a:close/>
                <a:moveTo>
                  <a:pt x="64740" y="33486"/>
                </a:moveTo>
                <a:lnTo>
                  <a:pt x="64740" y="71438"/>
                </a:lnTo>
                <a:cubicBezTo>
                  <a:pt x="64740" y="73670"/>
                  <a:pt x="65856" y="75763"/>
                  <a:pt x="67726" y="77019"/>
                </a:cubicBezTo>
                <a:lnTo>
                  <a:pt x="94515" y="94878"/>
                </a:lnTo>
                <a:cubicBezTo>
                  <a:pt x="97585" y="96943"/>
                  <a:pt x="101743" y="96106"/>
                  <a:pt x="103808" y="93008"/>
                </a:cubicBezTo>
                <a:cubicBezTo>
                  <a:pt x="105873" y="89911"/>
                  <a:pt x="105035" y="85781"/>
                  <a:pt x="101938" y="83716"/>
                </a:cubicBezTo>
                <a:lnTo>
                  <a:pt x="78135" y="67866"/>
                </a:lnTo>
                <a:lnTo>
                  <a:pt x="78135" y="33486"/>
                </a:lnTo>
                <a:cubicBezTo>
                  <a:pt x="78135" y="29775"/>
                  <a:pt x="75149" y="26789"/>
                  <a:pt x="71438" y="26789"/>
                </a:cubicBezTo>
                <a:cubicBezTo>
                  <a:pt x="67726" y="26789"/>
                  <a:pt x="64740" y="29775"/>
                  <a:pt x="64740" y="3348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8" name="Text 56"/>
          <p:cNvSpPr/>
          <p:nvPr/>
        </p:nvSpPr>
        <p:spPr>
          <a:xfrm>
            <a:off x="8732044" y="1981205"/>
            <a:ext cx="122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 Enhancement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458200" y="2235205"/>
            <a:ext cx="314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diagnosis time from minutes to &lt;2 seconds per X-ray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331200" y="2616205"/>
            <a:ext cx="3341688" cy="825500"/>
          </a:xfrm>
          <a:custGeom>
            <a:avLst/>
            <a:gdLst/>
            <a:ahLst/>
            <a:cxnLst/>
            <a:rect l="l" t="t" r="r" b="b"/>
            <a:pathLst>
              <a:path w="3341688" h="825500">
                <a:moveTo>
                  <a:pt x="63497" y="0"/>
                </a:moveTo>
                <a:lnTo>
                  <a:pt x="3278190" y="0"/>
                </a:lnTo>
                <a:cubicBezTo>
                  <a:pt x="3313259" y="0"/>
                  <a:pt x="3341687" y="28429"/>
                  <a:pt x="3341687" y="63497"/>
                </a:cubicBezTo>
                <a:lnTo>
                  <a:pt x="3341688" y="762003"/>
                </a:lnTo>
                <a:cubicBezTo>
                  <a:pt x="3341687" y="797071"/>
                  <a:pt x="3313259" y="825500"/>
                  <a:pt x="3278190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78044" y="2767017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25016" y="71438"/>
                </a:moveTo>
                <a:cubicBezTo>
                  <a:pt x="125016" y="41867"/>
                  <a:pt x="101008" y="17859"/>
                  <a:pt x="71438" y="17859"/>
                </a:cubicBezTo>
                <a:cubicBezTo>
                  <a:pt x="41867" y="17859"/>
                  <a:pt x="17859" y="41867"/>
                  <a:pt x="17859" y="71438"/>
                </a:cubicBezTo>
                <a:cubicBezTo>
                  <a:pt x="17859" y="101008"/>
                  <a:pt x="41867" y="125016"/>
                  <a:pt x="71438" y="125016"/>
                </a:cubicBezTo>
                <a:cubicBezTo>
                  <a:pt x="101008" y="125016"/>
                  <a:pt x="125016" y="101008"/>
                  <a:pt x="125016" y="71438"/>
                </a:cubicBezTo>
                <a:close/>
                <a:moveTo>
                  <a:pt x="0" y="71438"/>
                </a:moveTo>
                <a:cubicBezTo>
                  <a:pt x="0" y="32010"/>
                  <a:pt x="32010" y="0"/>
                  <a:pt x="71437" y="0"/>
                </a:cubicBezTo>
                <a:cubicBezTo>
                  <a:pt x="110865" y="0"/>
                  <a:pt x="142875" y="32010"/>
                  <a:pt x="142875" y="71437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lose/>
                <a:moveTo>
                  <a:pt x="71438" y="93762"/>
                </a:moveTo>
                <a:cubicBezTo>
                  <a:pt x="83759" y="93762"/>
                  <a:pt x="93762" y="83759"/>
                  <a:pt x="93762" y="71438"/>
                </a:cubicBezTo>
                <a:cubicBezTo>
                  <a:pt x="93762" y="59116"/>
                  <a:pt x="83759" y="49113"/>
                  <a:pt x="71438" y="49113"/>
                </a:cubicBezTo>
                <a:cubicBezTo>
                  <a:pt x="59116" y="49113"/>
                  <a:pt x="49113" y="59116"/>
                  <a:pt x="49113" y="71438"/>
                </a:cubicBezTo>
                <a:cubicBezTo>
                  <a:pt x="49113" y="83759"/>
                  <a:pt x="59116" y="93762"/>
                  <a:pt x="71438" y="93762"/>
                </a:cubicBezTo>
                <a:close/>
                <a:moveTo>
                  <a:pt x="71438" y="31254"/>
                </a:moveTo>
                <a:cubicBezTo>
                  <a:pt x="93615" y="31254"/>
                  <a:pt x="111621" y="49260"/>
                  <a:pt x="111621" y="71438"/>
                </a:cubicBezTo>
                <a:cubicBezTo>
                  <a:pt x="111621" y="93615"/>
                  <a:pt x="93615" y="111621"/>
                  <a:pt x="71438" y="111621"/>
                </a:cubicBezTo>
                <a:cubicBezTo>
                  <a:pt x="49260" y="111621"/>
                  <a:pt x="31254" y="93615"/>
                  <a:pt x="31254" y="71438"/>
                </a:cubicBezTo>
                <a:cubicBezTo>
                  <a:pt x="31254" y="49260"/>
                  <a:pt x="49260" y="31254"/>
                  <a:pt x="71438" y="31254"/>
                </a:cubicBezTo>
                <a:close/>
                <a:moveTo>
                  <a:pt x="62508" y="71438"/>
                </a:moveTo>
                <a:cubicBezTo>
                  <a:pt x="62508" y="66509"/>
                  <a:pt x="66509" y="62508"/>
                  <a:pt x="71438" y="62508"/>
                </a:cubicBezTo>
                <a:cubicBezTo>
                  <a:pt x="76366" y="62508"/>
                  <a:pt x="80367" y="66509"/>
                  <a:pt x="80367" y="71438"/>
                </a:cubicBezTo>
                <a:cubicBezTo>
                  <a:pt x="80367" y="76366"/>
                  <a:pt x="76366" y="80367"/>
                  <a:pt x="71438" y="80367"/>
                </a:cubicBezTo>
                <a:cubicBezTo>
                  <a:pt x="66509" y="80367"/>
                  <a:pt x="62508" y="76366"/>
                  <a:pt x="62508" y="7143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2" name="Text 60"/>
          <p:cNvSpPr/>
          <p:nvPr/>
        </p:nvSpPr>
        <p:spPr>
          <a:xfrm>
            <a:off x="8732044" y="2743205"/>
            <a:ext cx="136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Improvement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458200" y="2997205"/>
            <a:ext cx="31432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Matches or exceeds radiologist-level performance with 99.43% accuracy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331200" y="3536955"/>
            <a:ext cx="3341688" cy="666750"/>
          </a:xfrm>
          <a:custGeom>
            <a:avLst/>
            <a:gdLst/>
            <a:ahLst/>
            <a:cxnLst/>
            <a:rect l="l" t="t" r="r" b="b"/>
            <a:pathLst>
              <a:path w="3341688" h="666750">
                <a:moveTo>
                  <a:pt x="63501" y="0"/>
                </a:moveTo>
                <a:lnTo>
                  <a:pt x="3278186" y="0"/>
                </a:lnTo>
                <a:cubicBezTo>
                  <a:pt x="3313257" y="0"/>
                  <a:pt x="3341688" y="28430"/>
                  <a:pt x="3341688" y="63501"/>
                </a:cubicBezTo>
                <a:lnTo>
                  <a:pt x="3341688" y="603249"/>
                </a:lnTo>
                <a:cubicBezTo>
                  <a:pt x="3341688" y="638320"/>
                  <a:pt x="3313257" y="666750"/>
                  <a:pt x="3278186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78044" y="3687767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98199" y="78135"/>
                </a:moveTo>
                <a:lnTo>
                  <a:pt x="44927" y="78135"/>
                </a:lnTo>
                <a:cubicBezTo>
                  <a:pt x="45737" y="96134"/>
                  <a:pt x="49727" y="112709"/>
                  <a:pt x="55392" y="124848"/>
                </a:cubicBezTo>
                <a:cubicBezTo>
                  <a:pt x="58573" y="131685"/>
                  <a:pt x="62006" y="136513"/>
                  <a:pt x="65187" y="139471"/>
                </a:cubicBezTo>
                <a:cubicBezTo>
                  <a:pt x="68312" y="142401"/>
                  <a:pt x="70461" y="142875"/>
                  <a:pt x="71577" y="142875"/>
                </a:cubicBezTo>
                <a:cubicBezTo>
                  <a:pt x="72693" y="142875"/>
                  <a:pt x="74842" y="142401"/>
                  <a:pt x="77967" y="139471"/>
                </a:cubicBezTo>
                <a:cubicBezTo>
                  <a:pt x="81149" y="136513"/>
                  <a:pt x="84581" y="131657"/>
                  <a:pt x="87762" y="124848"/>
                </a:cubicBezTo>
                <a:cubicBezTo>
                  <a:pt x="93427" y="112709"/>
                  <a:pt x="97417" y="96134"/>
                  <a:pt x="98227" y="78135"/>
                </a:cubicBezTo>
                <a:close/>
                <a:moveTo>
                  <a:pt x="44900" y="64740"/>
                </a:moveTo>
                <a:lnTo>
                  <a:pt x="98171" y="64740"/>
                </a:lnTo>
                <a:cubicBezTo>
                  <a:pt x="97389" y="46741"/>
                  <a:pt x="93399" y="30166"/>
                  <a:pt x="87734" y="18027"/>
                </a:cubicBezTo>
                <a:cubicBezTo>
                  <a:pt x="84553" y="11218"/>
                  <a:pt x="81121" y="6362"/>
                  <a:pt x="77939" y="3404"/>
                </a:cubicBezTo>
                <a:cubicBezTo>
                  <a:pt x="74814" y="474"/>
                  <a:pt x="72665" y="0"/>
                  <a:pt x="71549" y="0"/>
                </a:cubicBezTo>
                <a:cubicBezTo>
                  <a:pt x="70433" y="0"/>
                  <a:pt x="68284" y="474"/>
                  <a:pt x="65159" y="3404"/>
                </a:cubicBezTo>
                <a:cubicBezTo>
                  <a:pt x="61978" y="6362"/>
                  <a:pt x="58545" y="11218"/>
                  <a:pt x="55364" y="18027"/>
                </a:cubicBezTo>
                <a:cubicBezTo>
                  <a:pt x="49699" y="30166"/>
                  <a:pt x="45709" y="46741"/>
                  <a:pt x="44900" y="64740"/>
                </a:cubicBezTo>
                <a:close/>
                <a:moveTo>
                  <a:pt x="31505" y="64740"/>
                </a:moveTo>
                <a:cubicBezTo>
                  <a:pt x="32482" y="40853"/>
                  <a:pt x="38649" y="18669"/>
                  <a:pt x="47662" y="4102"/>
                </a:cubicBezTo>
                <a:cubicBezTo>
                  <a:pt x="21961" y="13199"/>
                  <a:pt x="3042" y="36612"/>
                  <a:pt x="419" y="64740"/>
                </a:cubicBezTo>
                <a:lnTo>
                  <a:pt x="31505" y="64740"/>
                </a:lnTo>
                <a:close/>
                <a:moveTo>
                  <a:pt x="419" y="78135"/>
                </a:moveTo>
                <a:cubicBezTo>
                  <a:pt x="3042" y="106263"/>
                  <a:pt x="21961" y="129676"/>
                  <a:pt x="47662" y="138773"/>
                </a:cubicBezTo>
                <a:cubicBezTo>
                  <a:pt x="38649" y="124206"/>
                  <a:pt x="32482" y="102022"/>
                  <a:pt x="31505" y="78135"/>
                </a:cubicBezTo>
                <a:lnTo>
                  <a:pt x="419" y="78135"/>
                </a:lnTo>
                <a:close/>
                <a:moveTo>
                  <a:pt x="111593" y="78135"/>
                </a:moveTo>
                <a:cubicBezTo>
                  <a:pt x="110617" y="102022"/>
                  <a:pt x="104449" y="124206"/>
                  <a:pt x="95436" y="138773"/>
                </a:cubicBezTo>
                <a:cubicBezTo>
                  <a:pt x="121137" y="129648"/>
                  <a:pt x="140057" y="106263"/>
                  <a:pt x="142680" y="78135"/>
                </a:cubicBezTo>
                <a:lnTo>
                  <a:pt x="111593" y="78135"/>
                </a:lnTo>
                <a:close/>
                <a:moveTo>
                  <a:pt x="142680" y="64740"/>
                </a:moveTo>
                <a:cubicBezTo>
                  <a:pt x="140057" y="36612"/>
                  <a:pt x="121137" y="13199"/>
                  <a:pt x="95436" y="4102"/>
                </a:cubicBezTo>
                <a:cubicBezTo>
                  <a:pt x="104449" y="18669"/>
                  <a:pt x="110617" y="40853"/>
                  <a:pt x="111593" y="64740"/>
                </a:cubicBezTo>
                <a:lnTo>
                  <a:pt x="142680" y="6474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6" name="Text 64"/>
          <p:cNvSpPr/>
          <p:nvPr/>
        </p:nvSpPr>
        <p:spPr>
          <a:xfrm>
            <a:off x="8732044" y="3663955"/>
            <a:ext cx="77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458200" y="3917955"/>
            <a:ext cx="314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Enables diagnosis in resource-limited settings worldwide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331200" y="4298955"/>
            <a:ext cx="3341688" cy="666750"/>
          </a:xfrm>
          <a:custGeom>
            <a:avLst/>
            <a:gdLst/>
            <a:ahLst/>
            <a:cxnLst/>
            <a:rect l="l" t="t" r="r" b="b"/>
            <a:pathLst>
              <a:path w="3341688" h="666750">
                <a:moveTo>
                  <a:pt x="63501" y="0"/>
                </a:moveTo>
                <a:lnTo>
                  <a:pt x="3278186" y="0"/>
                </a:lnTo>
                <a:cubicBezTo>
                  <a:pt x="3313257" y="0"/>
                  <a:pt x="3341688" y="28430"/>
                  <a:pt x="3341688" y="63501"/>
                </a:cubicBezTo>
                <a:lnTo>
                  <a:pt x="3341688" y="603249"/>
                </a:lnTo>
                <a:cubicBezTo>
                  <a:pt x="3341688" y="638320"/>
                  <a:pt x="3313257" y="666750"/>
                  <a:pt x="3278186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460184" y="4449767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89297" y="4465"/>
                </a:moveTo>
                <a:cubicBezTo>
                  <a:pt x="105314" y="4465"/>
                  <a:pt x="118318" y="17469"/>
                  <a:pt x="118318" y="33486"/>
                </a:cubicBezTo>
                <a:cubicBezTo>
                  <a:pt x="118318" y="49504"/>
                  <a:pt x="105314" y="62508"/>
                  <a:pt x="89297" y="62508"/>
                </a:cubicBezTo>
                <a:cubicBezTo>
                  <a:pt x="73279" y="62508"/>
                  <a:pt x="60275" y="49504"/>
                  <a:pt x="60275" y="33486"/>
                </a:cubicBezTo>
                <a:cubicBezTo>
                  <a:pt x="60275" y="17469"/>
                  <a:pt x="73279" y="4465"/>
                  <a:pt x="89297" y="4465"/>
                </a:cubicBezTo>
                <a:close/>
                <a:moveTo>
                  <a:pt x="26789" y="24557"/>
                </a:moveTo>
                <a:cubicBezTo>
                  <a:pt x="37878" y="24557"/>
                  <a:pt x="46881" y="33559"/>
                  <a:pt x="46881" y="44648"/>
                </a:cubicBezTo>
                <a:cubicBezTo>
                  <a:pt x="46881" y="55737"/>
                  <a:pt x="37878" y="64740"/>
                  <a:pt x="26789" y="64740"/>
                </a:cubicBezTo>
                <a:cubicBezTo>
                  <a:pt x="15700" y="64740"/>
                  <a:pt x="6697" y="55737"/>
                  <a:pt x="6697" y="44648"/>
                </a:cubicBezTo>
                <a:cubicBezTo>
                  <a:pt x="6697" y="33559"/>
                  <a:pt x="15700" y="24557"/>
                  <a:pt x="26789" y="24557"/>
                </a:cubicBezTo>
                <a:close/>
                <a:moveTo>
                  <a:pt x="0" y="116086"/>
                </a:moveTo>
                <a:cubicBezTo>
                  <a:pt x="0" y="96357"/>
                  <a:pt x="15990" y="80367"/>
                  <a:pt x="35719" y="80367"/>
                </a:cubicBezTo>
                <a:cubicBezTo>
                  <a:pt x="39291" y="80367"/>
                  <a:pt x="42751" y="80897"/>
                  <a:pt x="46016" y="81874"/>
                </a:cubicBezTo>
                <a:cubicBezTo>
                  <a:pt x="36835" y="92143"/>
                  <a:pt x="31254" y="105705"/>
                  <a:pt x="31254" y="120551"/>
                </a:cubicBezTo>
                <a:lnTo>
                  <a:pt x="31254" y="125016"/>
                </a:lnTo>
                <a:cubicBezTo>
                  <a:pt x="31254" y="128197"/>
                  <a:pt x="31924" y="131211"/>
                  <a:pt x="33124" y="133945"/>
                </a:cubicBezTo>
                <a:lnTo>
                  <a:pt x="8930" y="133945"/>
                </a:lnTo>
                <a:cubicBezTo>
                  <a:pt x="3990" y="133945"/>
                  <a:pt x="0" y="129955"/>
                  <a:pt x="0" y="125016"/>
                </a:cubicBezTo>
                <a:lnTo>
                  <a:pt x="0" y="116086"/>
                </a:lnTo>
                <a:close/>
                <a:moveTo>
                  <a:pt x="145470" y="133945"/>
                </a:moveTo>
                <a:cubicBezTo>
                  <a:pt x="146670" y="131211"/>
                  <a:pt x="147340" y="128197"/>
                  <a:pt x="147340" y="125016"/>
                </a:cubicBezTo>
                <a:lnTo>
                  <a:pt x="147340" y="120551"/>
                </a:lnTo>
                <a:cubicBezTo>
                  <a:pt x="147340" y="105705"/>
                  <a:pt x="141759" y="92143"/>
                  <a:pt x="132578" y="81874"/>
                </a:cubicBezTo>
                <a:cubicBezTo>
                  <a:pt x="135843" y="80897"/>
                  <a:pt x="139303" y="80367"/>
                  <a:pt x="142875" y="80367"/>
                </a:cubicBezTo>
                <a:cubicBezTo>
                  <a:pt x="162604" y="80367"/>
                  <a:pt x="178594" y="96357"/>
                  <a:pt x="178594" y="116086"/>
                </a:cubicBezTo>
                <a:lnTo>
                  <a:pt x="178594" y="125016"/>
                </a:lnTo>
                <a:cubicBezTo>
                  <a:pt x="178594" y="129955"/>
                  <a:pt x="174603" y="133945"/>
                  <a:pt x="169664" y="133945"/>
                </a:cubicBezTo>
                <a:lnTo>
                  <a:pt x="145470" y="133945"/>
                </a:lnTo>
                <a:close/>
                <a:moveTo>
                  <a:pt x="131713" y="44648"/>
                </a:moveTo>
                <a:cubicBezTo>
                  <a:pt x="131713" y="33559"/>
                  <a:pt x="140716" y="24557"/>
                  <a:pt x="151805" y="24557"/>
                </a:cubicBezTo>
                <a:cubicBezTo>
                  <a:pt x="162894" y="24557"/>
                  <a:pt x="171896" y="33559"/>
                  <a:pt x="171896" y="44648"/>
                </a:cubicBezTo>
                <a:cubicBezTo>
                  <a:pt x="171896" y="55737"/>
                  <a:pt x="162894" y="64740"/>
                  <a:pt x="151805" y="64740"/>
                </a:cubicBezTo>
                <a:cubicBezTo>
                  <a:pt x="140716" y="64740"/>
                  <a:pt x="131713" y="55737"/>
                  <a:pt x="131713" y="44648"/>
                </a:cubicBezTo>
                <a:close/>
                <a:moveTo>
                  <a:pt x="44648" y="120551"/>
                </a:moveTo>
                <a:cubicBezTo>
                  <a:pt x="44648" y="95883"/>
                  <a:pt x="64629" y="75902"/>
                  <a:pt x="89297" y="75902"/>
                </a:cubicBezTo>
                <a:cubicBezTo>
                  <a:pt x="113965" y="75902"/>
                  <a:pt x="133945" y="95883"/>
                  <a:pt x="133945" y="120551"/>
                </a:cubicBezTo>
                <a:lnTo>
                  <a:pt x="133945" y="125016"/>
                </a:lnTo>
                <a:cubicBezTo>
                  <a:pt x="133945" y="129955"/>
                  <a:pt x="129955" y="133945"/>
                  <a:pt x="125016" y="133945"/>
                </a:cubicBezTo>
                <a:lnTo>
                  <a:pt x="53578" y="133945"/>
                </a:lnTo>
                <a:cubicBezTo>
                  <a:pt x="48639" y="133945"/>
                  <a:pt x="44648" y="129955"/>
                  <a:pt x="44648" y="125016"/>
                </a:cubicBezTo>
                <a:lnTo>
                  <a:pt x="44648" y="120551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0" name="Text 68"/>
          <p:cNvSpPr/>
          <p:nvPr/>
        </p:nvSpPr>
        <p:spPr>
          <a:xfrm>
            <a:off x="8732044" y="4425955"/>
            <a:ext cx="134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Optimization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458200" y="4679955"/>
            <a:ext cx="314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radiologist workload and inter-observer variability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131175" y="5330827"/>
            <a:ext cx="3736975" cy="1323975"/>
          </a:xfrm>
          <a:custGeom>
            <a:avLst/>
            <a:gdLst/>
            <a:ahLst/>
            <a:cxnLst/>
            <a:rect l="l" t="t" r="r" b="b"/>
            <a:pathLst>
              <a:path w="3736975" h="1323975">
                <a:moveTo>
                  <a:pt x="95247" y="0"/>
                </a:moveTo>
                <a:lnTo>
                  <a:pt x="3641728" y="0"/>
                </a:lnTo>
                <a:cubicBezTo>
                  <a:pt x="3694332" y="0"/>
                  <a:pt x="3736975" y="42643"/>
                  <a:pt x="3736975" y="95247"/>
                </a:cubicBezTo>
                <a:lnTo>
                  <a:pt x="3736975" y="1228728"/>
                </a:lnTo>
                <a:cubicBezTo>
                  <a:pt x="3736975" y="1281332"/>
                  <a:pt x="3694332" y="1323975"/>
                  <a:pt x="3641728" y="1323975"/>
                </a:cubicBezTo>
                <a:lnTo>
                  <a:pt x="95247" y="1323975"/>
                </a:lnTo>
                <a:cubicBezTo>
                  <a:pt x="42643" y="1323975"/>
                  <a:pt x="0" y="1281332"/>
                  <a:pt x="0" y="1228728"/>
                </a:cubicBezTo>
                <a:lnTo>
                  <a:pt x="0" y="95247"/>
                </a:lnTo>
                <a:cubicBezTo>
                  <a:pt x="0" y="42643"/>
                  <a:pt x="42643" y="0"/>
                  <a:pt x="95247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182CE">
                  <a:alpha val="20000"/>
                </a:srgbClr>
              </a:gs>
            </a:gsLst>
            <a:lin ang="27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54616" y="555625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0" y="66973"/>
                </a:moveTo>
                <a:cubicBezTo>
                  <a:pt x="0" y="46416"/>
                  <a:pt x="16650" y="29766"/>
                  <a:pt x="37207" y="29766"/>
                </a:cubicBezTo>
                <a:lnTo>
                  <a:pt x="39688" y="29766"/>
                </a:lnTo>
                <a:cubicBezTo>
                  <a:pt x="45176" y="29766"/>
                  <a:pt x="49609" y="34199"/>
                  <a:pt x="49609" y="39688"/>
                </a:cubicBezTo>
                <a:cubicBezTo>
                  <a:pt x="49609" y="45176"/>
                  <a:pt x="45176" y="49609"/>
                  <a:pt x="39688" y="49609"/>
                </a:cubicBezTo>
                <a:lnTo>
                  <a:pt x="37207" y="49609"/>
                </a:lnTo>
                <a:cubicBezTo>
                  <a:pt x="27626" y="49609"/>
                  <a:pt x="19844" y="57392"/>
                  <a:pt x="19844" y="66973"/>
                </a:cubicBezTo>
                <a:lnTo>
                  <a:pt x="19844" y="69453"/>
                </a:lnTo>
                <a:lnTo>
                  <a:pt x="39688" y="69453"/>
                </a:lnTo>
                <a:cubicBezTo>
                  <a:pt x="50633" y="69453"/>
                  <a:pt x="59531" y="78352"/>
                  <a:pt x="59531" y="89297"/>
                </a:cubicBezTo>
                <a:lnTo>
                  <a:pt x="59531" y="109141"/>
                </a:lnTo>
                <a:cubicBezTo>
                  <a:pt x="59531" y="120086"/>
                  <a:pt x="50633" y="128984"/>
                  <a:pt x="39688" y="128984"/>
                </a:cubicBezTo>
                <a:lnTo>
                  <a:pt x="19844" y="128984"/>
                </a:lnTo>
                <a:cubicBezTo>
                  <a:pt x="8899" y="128984"/>
                  <a:pt x="0" y="120086"/>
                  <a:pt x="0" y="109141"/>
                </a:cubicBezTo>
                <a:lnTo>
                  <a:pt x="0" y="66973"/>
                </a:lnTo>
                <a:close/>
                <a:moveTo>
                  <a:pt x="79375" y="66973"/>
                </a:moveTo>
                <a:cubicBezTo>
                  <a:pt x="79375" y="46416"/>
                  <a:pt x="96025" y="29766"/>
                  <a:pt x="116582" y="29766"/>
                </a:cubicBezTo>
                <a:lnTo>
                  <a:pt x="119062" y="29766"/>
                </a:lnTo>
                <a:cubicBezTo>
                  <a:pt x="124551" y="29766"/>
                  <a:pt x="128984" y="34199"/>
                  <a:pt x="128984" y="39688"/>
                </a:cubicBezTo>
                <a:cubicBezTo>
                  <a:pt x="128984" y="45176"/>
                  <a:pt x="124551" y="49609"/>
                  <a:pt x="119062" y="49609"/>
                </a:cubicBezTo>
                <a:lnTo>
                  <a:pt x="116582" y="49609"/>
                </a:lnTo>
                <a:cubicBezTo>
                  <a:pt x="107001" y="49609"/>
                  <a:pt x="99219" y="57392"/>
                  <a:pt x="99219" y="66973"/>
                </a:cubicBezTo>
                <a:lnTo>
                  <a:pt x="99219" y="69453"/>
                </a:lnTo>
                <a:lnTo>
                  <a:pt x="119062" y="69453"/>
                </a:lnTo>
                <a:cubicBezTo>
                  <a:pt x="130008" y="69453"/>
                  <a:pt x="138906" y="78352"/>
                  <a:pt x="138906" y="89297"/>
                </a:cubicBezTo>
                <a:lnTo>
                  <a:pt x="138906" y="109141"/>
                </a:lnTo>
                <a:cubicBezTo>
                  <a:pt x="138906" y="120086"/>
                  <a:pt x="130008" y="128984"/>
                  <a:pt x="119062" y="128984"/>
                </a:cubicBezTo>
                <a:lnTo>
                  <a:pt x="99219" y="128984"/>
                </a:lnTo>
                <a:cubicBezTo>
                  <a:pt x="88274" y="128984"/>
                  <a:pt x="79375" y="120086"/>
                  <a:pt x="79375" y="109141"/>
                </a:cubicBezTo>
                <a:lnTo>
                  <a:pt x="79375" y="6697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4" name="Text 72"/>
          <p:cNvSpPr/>
          <p:nvPr/>
        </p:nvSpPr>
        <p:spPr>
          <a:xfrm>
            <a:off x="8618538" y="5524500"/>
            <a:ext cx="1341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Significance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324850" y="5842000"/>
            <a:ext cx="34131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"With only </a:t>
            </a:r>
            <a:r>
              <a:rPr lang="en-US" sz="1000" b="1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missed pneumonia cases</a:t>
            </a: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out of 388, the system demonstrates strong potential as a screening tool to assist radiologists, particularly in resource-limited settings."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12750"/>
            <a:ext cx="63500" cy="381000"/>
          </a:xfrm>
          <a:custGeom>
            <a:avLst/>
            <a:gdLst/>
            <a:ahLst/>
            <a:cxnLst/>
            <a:rect l="l" t="t" r="r" b="b"/>
            <a:pathLst>
              <a:path w="63500" h="3810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49250"/>
                </a:lnTo>
                <a:cubicBezTo>
                  <a:pt x="63500" y="366773"/>
                  <a:pt x="49273" y="381000"/>
                  <a:pt x="31750" y="381000"/>
                </a:cubicBez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3175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508000"/>
            <a:ext cx="2270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5913" y="908060"/>
            <a:ext cx="5672137" cy="3409950"/>
          </a:xfrm>
          <a:custGeom>
            <a:avLst/>
            <a:gdLst/>
            <a:ahLst/>
            <a:cxnLst/>
            <a:rect l="l" t="t" r="r" b="b"/>
            <a:pathLst>
              <a:path w="5672137" h="3409950">
                <a:moveTo>
                  <a:pt x="95240" y="0"/>
                </a:moveTo>
                <a:lnTo>
                  <a:pt x="5576898" y="0"/>
                </a:lnTo>
                <a:cubicBezTo>
                  <a:pt x="5629497" y="0"/>
                  <a:pt x="5672138" y="42640"/>
                  <a:pt x="5672138" y="95240"/>
                </a:cubicBezTo>
                <a:lnTo>
                  <a:pt x="5672137" y="3314710"/>
                </a:lnTo>
                <a:cubicBezTo>
                  <a:pt x="5672138" y="3367310"/>
                  <a:pt x="5629497" y="3409950"/>
                  <a:pt x="5576898" y="3409950"/>
                </a:cubicBezTo>
                <a:lnTo>
                  <a:pt x="95240" y="3409950"/>
                </a:lnTo>
                <a:cubicBezTo>
                  <a:pt x="42640" y="3409950"/>
                  <a:pt x="0" y="3367310"/>
                  <a:pt x="0" y="3314710"/>
                </a:cubicBezTo>
                <a:lnTo>
                  <a:pt x="0" y="95240"/>
                </a:lnTo>
                <a:cubicBezTo>
                  <a:pt x="0" y="42676"/>
                  <a:pt x="42676" y="0"/>
                  <a:pt x="95240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>
                  <a:alpha val="20000"/>
                </a:srgbClr>
              </a:gs>
              <a:gs pos="100000">
                <a:srgbClr val="3182CE">
                  <a:alpha val="10000"/>
                </a:srgbClr>
              </a:gs>
            </a:gsLst>
            <a:lin ang="2700000" scaled="1"/>
          </a:gradFill>
          <a:ln w="20320">
            <a:solidFill>
              <a:srgbClr val="3182CE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763" y="110491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3182CE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51669" y="123191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1084263" y="1200165"/>
            <a:ext cx="1420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Larger Datasets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763" y="1676415"/>
            <a:ext cx="534193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 dataset diversity and size to improve model generalization and robustness across different populations and imaging conditions.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2763" y="2216165"/>
            <a:ext cx="5278438" cy="571500"/>
          </a:xfrm>
          <a:custGeom>
            <a:avLst/>
            <a:gdLst/>
            <a:ahLst/>
            <a:cxnLst/>
            <a:rect l="l" t="t" r="r" b="b"/>
            <a:pathLst>
              <a:path w="5278438" h="571500">
                <a:moveTo>
                  <a:pt x="63499" y="0"/>
                </a:moveTo>
                <a:lnTo>
                  <a:pt x="5214938" y="0"/>
                </a:lnTo>
                <a:cubicBezTo>
                  <a:pt x="5250008" y="0"/>
                  <a:pt x="5278438" y="28430"/>
                  <a:pt x="5278438" y="63499"/>
                </a:cubicBezTo>
                <a:lnTo>
                  <a:pt x="5278438" y="508001"/>
                </a:lnTo>
                <a:cubicBezTo>
                  <a:pt x="5278438" y="543070"/>
                  <a:pt x="5250008" y="571500"/>
                  <a:pt x="52149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3888" y="234316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2" name="Text 10"/>
          <p:cNvSpPr/>
          <p:nvPr/>
        </p:nvSpPr>
        <p:spPr>
          <a:xfrm>
            <a:off x="862013" y="2311415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Multi-Center Data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2013" y="2533665"/>
            <a:ext cx="246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 data from multiple hospitals and countries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2763" y="2882915"/>
            <a:ext cx="5278438" cy="571500"/>
          </a:xfrm>
          <a:custGeom>
            <a:avLst/>
            <a:gdLst/>
            <a:ahLst/>
            <a:cxnLst/>
            <a:rect l="l" t="t" r="r" b="b"/>
            <a:pathLst>
              <a:path w="5278438" h="571500">
                <a:moveTo>
                  <a:pt x="63499" y="0"/>
                </a:moveTo>
                <a:lnTo>
                  <a:pt x="5214938" y="0"/>
                </a:lnTo>
                <a:cubicBezTo>
                  <a:pt x="5250008" y="0"/>
                  <a:pt x="5278438" y="28430"/>
                  <a:pt x="5278438" y="63499"/>
                </a:cubicBezTo>
                <a:lnTo>
                  <a:pt x="5278438" y="508001"/>
                </a:lnTo>
                <a:cubicBezTo>
                  <a:pt x="5278438" y="543070"/>
                  <a:pt x="5250008" y="571500"/>
                  <a:pt x="52149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23888" y="300991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6" name="Text 14"/>
          <p:cNvSpPr/>
          <p:nvPr/>
        </p:nvSpPr>
        <p:spPr>
          <a:xfrm>
            <a:off x="862013" y="2978165"/>
            <a:ext cx="301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Diverse Demographics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2013" y="3200415"/>
            <a:ext cx="3008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Include various age groups, ethnicities, and health conditions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2763" y="3549665"/>
            <a:ext cx="5278438" cy="571500"/>
          </a:xfrm>
          <a:custGeom>
            <a:avLst/>
            <a:gdLst/>
            <a:ahLst/>
            <a:cxnLst/>
            <a:rect l="l" t="t" r="r" b="b"/>
            <a:pathLst>
              <a:path w="5278438" h="571500">
                <a:moveTo>
                  <a:pt x="63499" y="0"/>
                </a:moveTo>
                <a:lnTo>
                  <a:pt x="5214938" y="0"/>
                </a:lnTo>
                <a:cubicBezTo>
                  <a:pt x="5250008" y="0"/>
                  <a:pt x="5278438" y="28430"/>
                  <a:pt x="5278438" y="63499"/>
                </a:cubicBezTo>
                <a:lnTo>
                  <a:pt x="5278438" y="508001"/>
                </a:lnTo>
                <a:cubicBezTo>
                  <a:pt x="5278438" y="543070"/>
                  <a:pt x="5250008" y="571500"/>
                  <a:pt x="52149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23888" y="367666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0" name="Text 18"/>
          <p:cNvSpPr/>
          <p:nvPr/>
        </p:nvSpPr>
        <p:spPr>
          <a:xfrm>
            <a:off x="862013" y="3644915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Different Equipment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2013" y="3867165"/>
            <a:ext cx="2325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from various X-ray machines and settings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3851" y="4400560"/>
            <a:ext cx="5664200" cy="2400300"/>
          </a:xfrm>
          <a:custGeom>
            <a:avLst/>
            <a:gdLst/>
            <a:ahLst/>
            <a:cxnLst/>
            <a:rect l="l" t="t" r="r" b="b"/>
            <a:pathLst>
              <a:path w="5672137" h="2743200">
                <a:moveTo>
                  <a:pt x="95244" y="0"/>
                </a:moveTo>
                <a:lnTo>
                  <a:pt x="5576894" y="0"/>
                </a:lnTo>
                <a:cubicBezTo>
                  <a:pt x="5629495" y="0"/>
                  <a:pt x="5672138" y="42642"/>
                  <a:pt x="5672138" y="95244"/>
                </a:cubicBezTo>
                <a:lnTo>
                  <a:pt x="5672137" y="2647956"/>
                </a:lnTo>
                <a:cubicBezTo>
                  <a:pt x="5672138" y="2700558"/>
                  <a:pt x="5629495" y="2743200"/>
                  <a:pt x="5576894" y="2743200"/>
                </a:cubicBezTo>
                <a:lnTo>
                  <a:pt x="95244" y="2743200"/>
                </a:lnTo>
                <a:cubicBezTo>
                  <a:pt x="42642" y="2743200"/>
                  <a:pt x="0" y="2700558"/>
                  <a:pt x="0" y="2647956"/>
                </a:cubicBezTo>
                <a:lnTo>
                  <a:pt x="0" y="95244"/>
                </a:lnTo>
                <a:cubicBezTo>
                  <a:pt x="0" y="42677"/>
                  <a:pt x="42677" y="0"/>
                  <a:pt x="95244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20320">
            <a:solidFill>
              <a:srgbClr val="38B2AC">
                <a:alpha val="5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0700" y="445136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47700" y="457836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5" name="Text 23"/>
          <p:cNvSpPr/>
          <p:nvPr/>
        </p:nvSpPr>
        <p:spPr>
          <a:xfrm>
            <a:off x="1092200" y="4546610"/>
            <a:ext cx="2127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Multi-Disease Detection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0700" y="5022860"/>
            <a:ext cx="534193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 the system to detect multiple thoracic diseases from chest X-rays, creating a comprehensive diagnostic tool.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0700" y="5562610"/>
            <a:ext cx="5278438" cy="571500"/>
          </a:xfrm>
          <a:custGeom>
            <a:avLst/>
            <a:gdLst/>
            <a:ahLst/>
            <a:cxnLst/>
            <a:rect l="l" t="t" r="r" b="b"/>
            <a:pathLst>
              <a:path w="5278438" h="571500">
                <a:moveTo>
                  <a:pt x="63499" y="0"/>
                </a:moveTo>
                <a:lnTo>
                  <a:pt x="5214938" y="0"/>
                </a:lnTo>
                <a:cubicBezTo>
                  <a:pt x="5250008" y="0"/>
                  <a:pt x="5278438" y="28430"/>
                  <a:pt x="5278438" y="63499"/>
                </a:cubicBezTo>
                <a:lnTo>
                  <a:pt x="5278438" y="508001"/>
                </a:lnTo>
                <a:cubicBezTo>
                  <a:pt x="5278438" y="543070"/>
                  <a:pt x="5250008" y="571500"/>
                  <a:pt x="52149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31825" y="568961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3422" y="9922"/>
                </a:moveTo>
                <a:cubicBezTo>
                  <a:pt x="73422" y="4440"/>
                  <a:pt x="68982" y="0"/>
                  <a:pt x="63500" y="0"/>
                </a:cubicBezTo>
                <a:cubicBezTo>
                  <a:pt x="58018" y="0"/>
                  <a:pt x="53578" y="4440"/>
                  <a:pt x="53578" y="9922"/>
                </a:cubicBezTo>
                <a:cubicBezTo>
                  <a:pt x="53578" y="20861"/>
                  <a:pt x="40357" y="26318"/>
                  <a:pt x="32618" y="18604"/>
                </a:cubicBezTo>
                <a:cubicBezTo>
                  <a:pt x="28749" y="14734"/>
                  <a:pt x="22473" y="14734"/>
                  <a:pt x="18579" y="18604"/>
                </a:cubicBezTo>
                <a:cubicBezTo>
                  <a:pt x="14684" y="22473"/>
                  <a:pt x="14709" y="28749"/>
                  <a:pt x="18579" y="32643"/>
                </a:cubicBezTo>
                <a:cubicBezTo>
                  <a:pt x="26318" y="40382"/>
                  <a:pt x="20836" y="53603"/>
                  <a:pt x="9897" y="53603"/>
                </a:cubicBezTo>
                <a:cubicBezTo>
                  <a:pt x="4415" y="53603"/>
                  <a:pt x="-25" y="58043"/>
                  <a:pt x="-25" y="63525"/>
                </a:cubicBezTo>
                <a:cubicBezTo>
                  <a:pt x="-25" y="69007"/>
                  <a:pt x="4415" y="73447"/>
                  <a:pt x="9897" y="73447"/>
                </a:cubicBezTo>
                <a:cubicBezTo>
                  <a:pt x="20836" y="73447"/>
                  <a:pt x="26293" y="86668"/>
                  <a:pt x="18579" y="94407"/>
                </a:cubicBezTo>
                <a:cubicBezTo>
                  <a:pt x="14709" y="98276"/>
                  <a:pt x="14709" y="104552"/>
                  <a:pt x="18579" y="108446"/>
                </a:cubicBezTo>
                <a:cubicBezTo>
                  <a:pt x="22448" y="112340"/>
                  <a:pt x="28724" y="112316"/>
                  <a:pt x="32618" y="108446"/>
                </a:cubicBezTo>
                <a:cubicBezTo>
                  <a:pt x="40357" y="100707"/>
                  <a:pt x="53578" y="106189"/>
                  <a:pt x="53578" y="117128"/>
                </a:cubicBezTo>
                <a:cubicBezTo>
                  <a:pt x="53578" y="122610"/>
                  <a:pt x="58018" y="127050"/>
                  <a:pt x="63500" y="127050"/>
                </a:cubicBezTo>
                <a:cubicBezTo>
                  <a:pt x="68982" y="127050"/>
                  <a:pt x="73422" y="122610"/>
                  <a:pt x="73422" y="117128"/>
                </a:cubicBezTo>
                <a:cubicBezTo>
                  <a:pt x="73422" y="106189"/>
                  <a:pt x="86643" y="100732"/>
                  <a:pt x="94382" y="108446"/>
                </a:cubicBezTo>
                <a:cubicBezTo>
                  <a:pt x="98251" y="112316"/>
                  <a:pt x="104527" y="112316"/>
                  <a:pt x="108421" y="108446"/>
                </a:cubicBezTo>
                <a:cubicBezTo>
                  <a:pt x="112316" y="104577"/>
                  <a:pt x="112291" y="98301"/>
                  <a:pt x="108421" y="94407"/>
                </a:cubicBezTo>
                <a:cubicBezTo>
                  <a:pt x="100682" y="86668"/>
                  <a:pt x="106164" y="73447"/>
                  <a:pt x="117103" y="73447"/>
                </a:cubicBezTo>
                <a:cubicBezTo>
                  <a:pt x="122585" y="73447"/>
                  <a:pt x="127025" y="69007"/>
                  <a:pt x="127025" y="63525"/>
                </a:cubicBezTo>
                <a:cubicBezTo>
                  <a:pt x="127025" y="58043"/>
                  <a:pt x="122585" y="53603"/>
                  <a:pt x="117103" y="53603"/>
                </a:cubicBezTo>
                <a:cubicBezTo>
                  <a:pt x="106164" y="53603"/>
                  <a:pt x="100707" y="40382"/>
                  <a:pt x="108421" y="32643"/>
                </a:cubicBezTo>
                <a:cubicBezTo>
                  <a:pt x="112291" y="28773"/>
                  <a:pt x="112291" y="22498"/>
                  <a:pt x="108421" y="18604"/>
                </a:cubicBezTo>
                <a:cubicBezTo>
                  <a:pt x="104552" y="14709"/>
                  <a:pt x="98276" y="14734"/>
                  <a:pt x="94382" y="18604"/>
                </a:cubicBezTo>
                <a:cubicBezTo>
                  <a:pt x="86643" y="26318"/>
                  <a:pt x="73422" y="20861"/>
                  <a:pt x="73422" y="9922"/>
                </a:cubicBezTo>
                <a:close/>
                <a:moveTo>
                  <a:pt x="39688" y="55563"/>
                </a:moveTo>
                <a:cubicBezTo>
                  <a:pt x="39688" y="51182"/>
                  <a:pt x="43244" y="47625"/>
                  <a:pt x="47625" y="47625"/>
                </a:cubicBezTo>
                <a:cubicBezTo>
                  <a:pt x="52006" y="47625"/>
                  <a:pt x="55563" y="51182"/>
                  <a:pt x="55563" y="55563"/>
                </a:cubicBezTo>
                <a:cubicBezTo>
                  <a:pt x="55563" y="59943"/>
                  <a:pt x="52006" y="63500"/>
                  <a:pt x="47625" y="63500"/>
                </a:cubicBezTo>
                <a:cubicBezTo>
                  <a:pt x="43244" y="63500"/>
                  <a:pt x="39688" y="59943"/>
                  <a:pt x="39688" y="55563"/>
                </a:cubicBezTo>
                <a:close/>
                <a:moveTo>
                  <a:pt x="79375" y="63500"/>
                </a:moveTo>
                <a:cubicBezTo>
                  <a:pt x="83756" y="63500"/>
                  <a:pt x="87313" y="67057"/>
                  <a:pt x="87313" y="71438"/>
                </a:cubicBezTo>
                <a:cubicBezTo>
                  <a:pt x="87313" y="75818"/>
                  <a:pt x="83756" y="79375"/>
                  <a:pt x="79375" y="79375"/>
                </a:cubicBezTo>
                <a:cubicBezTo>
                  <a:pt x="74994" y="79375"/>
                  <a:pt x="71438" y="75818"/>
                  <a:pt x="71438" y="71438"/>
                </a:cubicBezTo>
                <a:cubicBezTo>
                  <a:pt x="71438" y="67057"/>
                  <a:pt x="74994" y="63500"/>
                  <a:pt x="79375" y="63500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29" name="Text 27"/>
          <p:cNvSpPr/>
          <p:nvPr/>
        </p:nvSpPr>
        <p:spPr>
          <a:xfrm>
            <a:off x="869950" y="5657860"/>
            <a:ext cx="3040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COVID-19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9950" y="5880110"/>
            <a:ext cx="303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Differentiate COVID-19 pneumonia from bacterial pneumonia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0700" y="6181735"/>
            <a:ext cx="5278438" cy="571500"/>
          </a:xfrm>
          <a:custGeom>
            <a:avLst/>
            <a:gdLst/>
            <a:ahLst/>
            <a:cxnLst/>
            <a:rect l="l" t="t" r="r" b="b"/>
            <a:pathLst>
              <a:path w="5278438" h="571500">
                <a:moveTo>
                  <a:pt x="63499" y="0"/>
                </a:moveTo>
                <a:lnTo>
                  <a:pt x="5214938" y="0"/>
                </a:lnTo>
                <a:cubicBezTo>
                  <a:pt x="5250008" y="0"/>
                  <a:pt x="5278438" y="28430"/>
                  <a:pt x="5278438" y="63499"/>
                </a:cubicBezTo>
                <a:lnTo>
                  <a:pt x="5278438" y="508001"/>
                </a:lnTo>
                <a:cubicBezTo>
                  <a:pt x="5278438" y="543070"/>
                  <a:pt x="5250008" y="571500"/>
                  <a:pt x="52149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1825" y="630873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8663" y="7293"/>
                </a:moveTo>
                <a:lnTo>
                  <a:pt x="55563" y="11906"/>
                </a:lnTo>
                <a:cubicBezTo>
                  <a:pt x="50602" y="19348"/>
                  <a:pt x="42267" y="23812"/>
                  <a:pt x="33313" y="23812"/>
                </a:cubicBezTo>
                <a:lnTo>
                  <a:pt x="16867" y="23812"/>
                </a:lnTo>
                <a:cubicBezTo>
                  <a:pt x="7565" y="23812"/>
                  <a:pt x="25" y="31353"/>
                  <a:pt x="25" y="40655"/>
                </a:cubicBezTo>
                <a:cubicBezTo>
                  <a:pt x="25" y="45120"/>
                  <a:pt x="1811" y="49386"/>
                  <a:pt x="4961" y="52536"/>
                </a:cubicBezTo>
                <a:lnTo>
                  <a:pt x="11658" y="59234"/>
                </a:lnTo>
                <a:cubicBezTo>
                  <a:pt x="14387" y="61962"/>
                  <a:pt x="15925" y="65658"/>
                  <a:pt x="15925" y="69528"/>
                </a:cubicBezTo>
                <a:cubicBezTo>
                  <a:pt x="15925" y="73447"/>
                  <a:pt x="14337" y="77192"/>
                  <a:pt x="11534" y="79946"/>
                </a:cubicBezTo>
                <a:lnTo>
                  <a:pt x="8285" y="83121"/>
                </a:lnTo>
                <a:cubicBezTo>
                  <a:pt x="5531" y="85799"/>
                  <a:pt x="3994" y="89495"/>
                  <a:pt x="3994" y="93340"/>
                </a:cubicBezTo>
                <a:cubicBezTo>
                  <a:pt x="3994" y="102468"/>
                  <a:pt x="12452" y="109265"/>
                  <a:pt x="21382" y="107280"/>
                </a:cubicBezTo>
                <a:lnTo>
                  <a:pt x="36835" y="103857"/>
                </a:lnTo>
                <a:cubicBezTo>
                  <a:pt x="38745" y="103436"/>
                  <a:pt x="40729" y="103212"/>
                  <a:pt x="42689" y="103212"/>
                </a:cubicBezTo>
                <a:cubicBezTo>
                  <a:pt x="50825" y="103212"/>
                  <a:pt x="58613" y="106834"/>
                  <a:pt x="63822" y="113085"/>
                </a:cubicBezTo>
                <a:lnTo>
                  <a:pt x="71388" y="122163"/>
                </a:lnTo>
                <a:cubicBezTo>
                  <a:pt x="73968" y="125239"/>
                  <a:pt x="77763" y="127025"/>
                  <a:pt x="81781" y="127025"/>
                </a:cubicBezTo>
                <a:cubicBezTo>
                  <a:pt x="89247" y="127025"/>
                  <a:pt x="95300" y="120972"/>
                  <a:pt x="95300" y="113506"/>
                </a:cubicBezTo>
                <a:lnTo>
                  <a:pt x="95300" y="100806"/>
                </a:lnTo>
                <a:cubicBezTo>
                  <a:pt x="95300" y="90537"/>
                  <a:pt x="101600" y="81335"/>
                  <a:pt x="111175" y="77614"/>
                </a:cubicBezTo>
                <a:lnTo>
                  <a:pt x="116681" y="75481"/>
                </a:lnTo>
                <a:cubicBezTo>
                  <a:pt x="122932" y="73050"/>
                  <a:pt x="127050" y="67022"/>
                  <a:pt x="127050" y="60325"/>
                </a:cubicBezTo>
                <a:cubicBezTo>
                  <a:pt x="127050" y="53777"/>
                  <a:pt x="123106" y="47848"/>
                  <a:pt x="117053" y="45318"/>
                </a:cubicBezTo>
                <a:lnTo>
                  <a:pt x="106412" y="40878"/>
                </a:lnTo>
                <a:cubicBezTo>
                  <a:pt x="98177" y="37430"/>
                  <a:pt x="92125" y="30212"/>
                  <a:pt x="90165" y="21506"/>
                </a:cubicBezTo>
                <a:lnTo>
                  <a:pt x="88205" y="12774"/>
                </a:lnTo>
                <a:cubicBezTo>
                  <a:pt x="86519" y="5308"/>
                  <a:pt x="79896" y="0"/>
                  <a:pt x="72256" y="0"/>
                </a:cubicBezTo>
                <a:cubicBezTo>
                  <a:pt x="66799" y="0"/>
                  <a:pt x="61689" y="2729"/>
                  <a:pt x="58663" y="7293"/>
                </a:cubicBezTo>
                <a:close/>
                <a:moveTo>
                  <a:pt x="39688" y="47625"/>
                </a:moveTo>
                <a:cubicBezTo>
                  <a:pt x="44068" y="47625"/>
                  <a:pt x="47625" y="51182"/>
                  <a:pt x="47625" y="55563"/>
                </a:cubicBezTo>
                <a:cubicBezTo>
                  <a:pt x="47625" y="59943"/>
                  <a:pt x="44068" y="63500"/>
                  <a:pt x="39688" y="63500"/>
                </a:cubicBezTo>
                <a:cubicBezTo>
                  <a:pt x="35307" y="63500"/>
                  <a:pt x="31750" y="59943"/>
                  <a:pt x="31750" y="55563"/>
                </a:cubicBezTo>
                <a:cubicBezTo>
                  <a:pt x="31750" y="51182"/>
                  <a:pt x="35307" y="47625"/>
                  <a:pt x="39688" y="47625"/>
                </a:cubicBezTo>
                <a:close/>
                <a:moveTo>
                  <a:pt x="63500" y="47625"/>
                </a:moveTo>
                <a:cubicBezTo>
                  <a:pt x="63500" y="43244"/>
                  <a:pt x="67057" y="39688"/>
                  <a:pt x="71438" y="39688"/>
                </a:cubicBezTo>
                <a:cubicBezTo>
                  <a:pt x="75818" y="39688"/>
                  <a:pt x="79375" y="43244"/>
                  <a:pt x="79375" y="47625"/>
                </a:cubicBezTo>
                <a:cubicBezTo>
                  <a:pt x="79375" y="52006"/>
                  <a:pt x="75818" y="55563"/>
                  <a:pt x="71438" y="55563"/>
                </a:cubicBezTo>
                <a:cubicBezTo>
                  <a:pt x="67057" y="55563"/>
                  <a:pt x="63500" y="52006"/>
                  <a:pt x="63500" y="47625"/>
                </a:cubicBezTo>
                <a:close/>
                <a:moveTo>
                  <a:pt x="71438" y="71438"/>
                </a:moveTo>
                <a:cubicBezTo>
                  <a:pt x="75818" y="71438"/>
                  <a:pt x="79375" y="74994"/>
                  <a:pt x="79375" y="79375"/>
                </a:cubicBezTo>
                <a:cubicBezTo>
                  <a:pt x="79375" y="83756"/>
                  <a:pt x="75818" y="87313"/>
                  <a:pt x="71438" y="87313"/>
                </a:cubicBezTo>
                <a:cubicBezTo>
                  <a:pt x="67057" y="87313"/>
                  <a:pt x="63500" y="83756"/>
                  <a:pt x="63500" y="79375"/>
                </a:cubicBezTo>
                <a:cubicBezTo>
                  <a:pt x="63500" y="74994"/>
                  <a:pt x="67057" y="71438"/>
                  <a:pt x="71438" y="71438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3" name="Text 31"/>
          <p:cNvSpPr/>
          <p:nvPr/>
        </p:nvSpPr>
        <p:spPr>
          <a:xfrm>
            <a:off x="869950" y="6276985"/>
            <a:ext cx="173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Tuberculosis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9950" y="6499235"/>
            <a:ext cx="172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 TB patterns in chest X-rays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1251" y="384180"/>
            <a:ext cx="5672137" cy="4632325"/>
          </a:xfrm>
          <a:custGeom>
            <a:avLst/>
            <a:gdLst/>
            <a:ahLst/>
            <a:cxnLst/>
            <a:rect l="l" t="t" r="r" b="b"/>
            <a:pathLst>
              <a:path w="5672137" h="4632325">
                <a:moveTo>
                  <a:pt x="95241" y="0"/>
                </a:moveTo>
                <a:lnTo>
                  <a:pt x="5576897" y="0"/>
                </a:lnTo>
                <a:cubicBezTo>
                  <a:pt x="5629497" y="0"/>
                  <a:pt x="5672137" y="42641"/>
                  <a:pt x="5672137" y="95241"/>
                </a:cubicBezTo>
                <a:lnTo>
                  <a:pt x="5672137" y="4537084"/>
                </a:lnTo>
                <a:cubicBezTo>
                  <a:pt x="5672137" y="4589684"/>
                  <a:pt x="5629497" y="4632325"/>
                  <a:pt x="5576897" y="4632325"/>
                </a:cubicBezTo>
                <a:lnTo>
                  <a:pt x="95241" y="4632325"/>
                </a:lnTo>
                <a:cubicBezTo>
                  <a:pt x="42641" y="4632325"/>
                  <a:pt x="0" y="4589684"/>
                  <a:pt x="0" y="4537084"/>
                </a:cubicBezTo>
                <a:lnTo>
                  <a:pt x="0" y="95241"/>
                </a:lnTo>
                <a:cubicBezTo>
                  <a:pt x="0" y="42676"/>
                  <a:pt x="42676" y="0"/>
                  <a:pt x="95241" y="0"/>
                </a:cubicBezTo>
                <a:close/>
              </a:path>
            </a:pathLst>
          </a:custGeom>
          <a:gradFill flip="none" rotWithShape="1">
            <a:gsLst>
              <a:gs pos="0">
                <a:srgbClr val="3182CE">
                  <a:alpha val="30000"/>
                </a:srgbClr>
              </a:gs>
              <a:gs pos="100000">
                <a:srgbClr val="38B2AC">
                  <a:alpha val="30000"/>
                </a:srgbClr>
              </a:gs>
            </a:gsLst>
            <a:lin ang="2700000" scaled="1"/>
          </a:gradFill>
          <a:ln w="20320">
            <a:solidFill>
              <a:srgbClr val="3182CE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88101" y="58103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3182CE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03195" y="70803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47625" y="23812"/>
                </a:moveTo>
                <a:cubicBezTo>
                  <a:pt x="47625" y="10678"/>
                  <a:pt x="58303" y="0"/>
                  <a:pt x="71438" y="0"/>
                </a:cubicBezTo>
                <a:lnTo>
                  <a:pt x="142875" y="0"/>
                </a:lnTo>
                <a:cubicBezTo>
                  <a:pt x="156009" y="0"/>
                  <a:pt x="166688" y="10678"/>
                  <a:pt x="166688" y="23812"/>
                </a:cubicBezTo>
                <a:lnTo>
                  <a:pt x="166688" y="47625"/>
                </a:lnTo>
                <a:lnTo>
                  <a:pt x="190500" y="47625"/>
                </a:lnTo>
                <a:cubicBezTo>
                  <a:pt x="203634" y="47625"/>
                  <a:pt x="214313" y="58303"/>
                  <a:pt x="214313" y="71438"/>
                </a:cubicBezTo>
                <a:lnTo>
                  <a:pt x="214313" y="166688"/>
                </a:lnTo>
                <a:cubicBezTo>
                  <a:pt x="214313" y="179822"/>
                  <a:pt x="203634" y="190500"/>
                  <a:pt x="190500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71438"/>
                </a:lnTo>
                <a:cubicBezTo>
                  <a:pt x="0" y="58303"/>
                  <a:pt x="10678" y="47625"/>
                  <a:pt x="23812" y="47625"/>
                </a:cubicBezTo>
                <a:lnTo>
                  <a:pt x="47625" y="47625"/>
                </a:lnTo>
                <a:lnTo>
                  <a:pt x="47625" y="23812"/>
                </a:lnTo>
                <a:close/>
                <a:moveTo>
                  <a:pt x="101203" y="130969"/>
                </a:moveTo>
                <a:cubicBezTo>
                  <a:pt x="94617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125016" y="172641"/>
                </a:lnTo>
                <a:lnTo>
                  <a:pt x="125016" y="142875"/>
                </a:lnTo>
                <a:cubicBezTo>
                  <a:pt x="125016" y="136289"/>
                  <a:pt x="119695" y="130969"/>
                  <a:pt x="113109" y="130969"/>
                </a:cubicBezTo>
                <a:lnTo>
                  <a:pt x="101203" y="130969"/>
                </a:lnTo>
                <a:close/>
                <a:moveTo>
                  <a:pt x="47625" y="136922"/>
                </a:moveTo>
                <a:lnTo>
                  <a:pt x="47625" y="125016"/>
                </a:lnTo>
                <a:cubicBezTo>
                  <a:pt x="47625" y="121741"/>
                  <a:pt x="44946" y="119063"/>
                  <a:pt x="41672" y="119063"/>
                </a:cubicBezTo>
                <a:lnTo>
                  <a:pt x="29766" y="119063"/>
                </a:lnTo>
                <a:cubicBezTo>
                  <a:pt x="26491" y="119063"/>
                  <a:pt x="23812" y="121741"/>
                  <a:pt x="23812" y="125016"/>
                </a:cubicBezTo>
                <a:lnTo>
                  <a:pt x="23812" y="136922"/>
                </a:lnTo>
                <a:cubicBezTo>
                  <a:pt x="23812" y="140196"/>
                  <a:pt x="26491" y="142875"/>
                  <a:pt x="29766" y="142875"/>
                </a:cubicBezTo>
                <a:lnTo>
                  <a:pt x="41672" y="142875"/>
                </a:lnTo>
                <a:cubicBezTo>
                  <a:pt x="44946" y="142875"/>
                  <a:pt x="47625" y="140196"/>
                  <a:pt x="47625" y="136922"/>
                </a:cubicBezTo>
                <a:close/>
                <a:moveTo>
                  <a:pt x="41672" y="95250"/>
                </a:moveTo>
                <a:cubicBezTo>
                  <a:pt x="44946" y="95250"/>
                  <a:pt x="47625" y="92571"/>
                  <a:pt x="47625" y="89297"/>
                </a:cubicBezTo>
                <a:lnTo>
                  <a:pt x="47625" y="77391"/>
                </a:lnTo>
                <a:cubicBezTo>
                  <a:pt x="47625" y="74116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74116"/>
                  <a:pt x="23812" y="77391"/>
                </a:cubicBezTo>
                <a:lnTo>
                  <a:pt x="23812" y="89297"/>
                </a:lnTo>
                <a:cubicBezTo>
                  <a:pt x="23812" y="92571"/>
                  <a:pt x="26491" y="95250"/>
                  <a:pt x="29766" y="95250"/>
                </a:cubicBezTo>
                <a:lnTo>
                  <a:pt x="41672" y="95250"/>
                </a:lnTo>
                <a:close/>
                <a:moveTo>
                  <a:pt x="190500" y="136922"/>
                </a:moveTo>
                <a:lnTo>
                  <a:pt x="190500" y="125016"/>
                </a:lnTo>
                <a:cubicBezTo>
                  <a:pt x="190500" y="121741"/>
                  <a:pt x="187821" y="119063"/>
                  <a:pt x="184547" y="119063"/>
                </a:cubicBezTo>
                <a:lnTo>
                  <a:pt x="172641" y="119063"/>
                </a:lnTo>
                <a:cubicBezTo>
                  <a:pt x="169366" y="119063"/>
                  <a:pt x="166688" y="121741"/>
                  <a:pt x="166688" y="125016"/>
                </a:cubicBezTo>
                <a:lnTo>
                  <a:pt x="166688" y="136922"/>
                </a:lnTo>
                <a:cubicBezTo>
                  <a:pt x="166688" y="140196"/>
                  <a:pt x="169366" y="142875"/>
                  <a:pt x="172641" y="142875"/>
                </a:cubicBezTo>
                <a:lnTo>
                  <a:pt x="184547" y="142875"/>
                </a:lnTo>
                <a:cubicBezTo>
                  <a:pt x="187821" y="142875"/>
                  <a:pt x="190500" y="140196"/>
                  <a:pt x="190500" y="136922"/>
                </a:cubicBezTo>
                <a:close/>
                <a:moveTo>
                  <a:pt x="184547" y="95250"/>
                </a:moveTo>
                <a:cubicBezTo>
                  <a:pt x="187821" y="95250"/>
                  <a:pt x="190500" y="92571"/>
                  <a:pt x="190500" y="89297"/>
                </a:cubicBezTo>
                <a:lnTo>
                  <a:pt x="190500" y="77391"/>
                </a:lnTo>
                <a:cubicBezTo>
                  <a:pt x="190500" y="74116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74116"/>
                  <a:pt x="166688" y="77391"/>
                </a:cubicBezTo>
                <a:lnTo>
                  <a:pt x="166688" y="89297"/>
                </a:lnTo>
                <a:cubicBezTo>
                  <a:pt x="166688" y="92571"/>
                  <a:pt x="169366" y="95250"/>
                  <a:pt x="172641" y="95250"/>
                </a:cubicBezTo>
                <a:lnTo>
                  <a:pt x="184547" y="95250"/>
                </a:lnTo>
                <a:close/>
                <a:moveTo>
                  <a:pt x="98227" y="38695"/>
                </a:moveTo>
                <a:lnTo>
                  <a:pt x="98227" y="50602"/>
                </a:lnTo>
                <a:lnTo>
                  <a:pt x="86320" y="50602"/>
                </a:lnTo>
                <a:cubicBezTo>
                  <a:pt x="83046" y="50602"/>
                  <a:pt x="80367" y="53280"/>
                  <a:pt x="80367" y="56555"/>
                </a:cubicBezTo>
                <a:lnTo>
                  <a:pt x="80367" y="62508"/>
                </a:lnTo>
                <a:cubicBezTo>
                  <a:pt x="80367" y="65782"/>
                  <a:pt x="83046" y="68461"/>
                  <a:pt x="86320" y="68461"/>
                </a:cubicBezTo>
                <a:lnTo>
                  <a:pt x="98227" y="68461"/>
                </a:lnTo>
                <a:lnTo>
                  <a:pt x="98227" y="80367"/>
                </a:lnTo>
                <a:cubicBezTo>
                  <a:pt x="98227" y="83641"/>
                  <a:pt x="100905" y="86320"/>
                  <a:pt x="104180" y="86320"/>
                </a:cubicBezTo>
                <a:lnTo>
                  <a:pt x="110133" y="86320"/>
                </a:lnTo>
                <a:cubicBezTo>
                  <a:pt x="113407" y="86320"/>
                  <a:pt x="116086" y="83641"/>
                  <a:pt x="116086" y="80367"/>
                </a:cubicBezTo>
                <a:lnTo>
                  <a:pt x="116086" y="68461"/>
                </a:lnTo>
                <a:lnTo>
                  <a:pt x="127992" y="68461"/>
                </a:lnTo>
                <a:cubicBezTo>
                  <a:pt x="131266" y="68461"/>
                  <a:pt x="133945" y="65782"/>
                  <a:pt x="133945" y="62508"/>
                </a:cubicBezTo>
                <a:lnTo>
                  <a:pt x="133945" y="56555"/>
                </a:lnTo>
                <a:cubicBezTo>
                  <a:pt x="133945" y="53280"/>
                  <a:pt x="131266" y="50602"/>
                  <a:pt x="127992" y="50602"/>
                </a:cubicBezTo>
                <a:lnTo>
                  <a:pt x="116086" y="50602"/>
                </a:lnTo>
                <a:lnTo>
                  <a:pt x="116086" y="38695"/>
                </a:lnTo>
                <a:cubicBezTo>
                  <a:pt x="116086" y="35421"/>
                  <a:pt x="113407" y="32742"/>
                  <a:pt x="110133" y="32742"/>
                </a:cubicBezTo>
                <a:lnTo>
                  <a:pt x="104180" y="32742"/>
                </a:lnTo>
                <a:cubicBezTo>
                  <a:pt x="100905" y="32742"/>
                  <a:pt x="98227" y="35421"/>
                  <a:pt x="98227" y="38695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38" name="Text 36"/>
          <p:cNvSpPr/>
          <p:nvPr/>
        </p:nvSpPr>
        <p:spPr>
          <a:xfrm>
            <a:off x="6959601" y="676285"/>
            <a:ext cx="276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Hospital Deployment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88101" y="1152535"/>
            <a:ext cx="534193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the system in clinical environments with real-time processing capabilities and seamless integration with hospital workflows.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88101" y="1692285"/>
            <a:ext cx="5278438" cy="571500"/>
          </a:xfrm>
          <a:custGeom>
            <a:avLst/>
            <a:gdLst/>
            <a:ahLst/>
            <a:cxnLst/>
            <a:rect l="l" t="t" r="r" b="b"/>
            <a:pathLst>
              <a:path w="5278438" h="571500">
                <a:moveTo>
                  <a:pt x="63499" y="0"/>
                </a:moveTo>
                <a:lnTo>
                  <a:pt x="5214938" y="0"/>
                </a:lnTo>
                <a:cubicBezTo>
                  <a:pt x="5250008" y="0"/>
                  <a:pt x="5278438" y="28430"/>
                  <a:pt x="5278438" y="63499"/>
                </a:cubicBezTo>
                <a:lnTo>
                  <a:pt x="5278438" y="508001"/>
                </a:lnTo>
                <a:cubicBezTo>
                  <a:pt x="5278438" y="543070"/>
                  <a:pt x="5250008" y="571500"/>
                  <a:pt x="52149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07164" y="181928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84038" y="-2456"/>
                </a:moveTo>
                <a:cubicBezTo>
                  <a:pt x="86990" y="-322"/>
                  <a:pt x="88081" y="3547"/>
                  <a:pt x="86742" y="6921"/>
                </a:cubicBezTo>
                <a:lnTo>
                  <a:pt x="67295" y="55563"/>
                </a:lnTo>
                <a:lnTo>
                  <a:pt x="103188" y="55563"/>
                </a:lnTo>
                <a:cubicBezTo>
                  <a:pt x="106536" y="55563"/>
                  <a:pt x="109513" y="57646"/>
                  <a:pt x="110654" y="60796"/>
                </a:cubicBezTo>
                <a:cubicBezTo>
                  <a:pt x="111795" y="63946"/>
                  <a:pt x="110827" y="67469"/>
                  <a:pt x="108272" y="69602"/>
                </a:cubicBezTo>
                <a:lnTo>
                  <a:pt x="36835" y="129133"/>
                </a:lnTo>
                <a:cubicBezTo>
                  <a:pt x="34032" y="131465"/>
                  <a:pt x="30038" y="131589"/>
                  <a:pt x="27087" y="129456"/>
                </a:cubicBezTo>
                <a:cubicBezTo>
                  <a:pt x="24135" y="127322"/>
                  <a:pt x="23044" y="123453"/>
                  <a:pt x="24383" y="120079"/>
                </a:cubicBezTo>
                <a:lnTo>
                  <a:pt x="43830" y="71438"/>
                </a:lnTo>
                <a:lnTo>
                  <a:pt x="7938" y="71438"/>
                </a:lnTo>
                <a:cubicBezTo>
                  <a:pt x="4589" y="71438"/>
                  <a:pt x="1612" y="69354"/>
                  <a:pt x="471" y="66204"/>
                </a:cubicBezTo>
                <a:cubicBezTo>
                  <a:pt x="-670" y="63054"/>
                  <a:pt x="298" y="59531"/>
                  <a:pt x="2853" y="57398"/>
                </a:cubicBezTo>
                <a:lnTo>
                  <a:pt x="74290" y="-2133"/>
                </a:lnTo>
                <a:cubicBezTo>
                  <a:pt x="77093" y="-4465"/>
                  <a:pt x="81087" y="-4589"/>
                  <a:pt x="84038" y="-245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2" name="Text 40"/>
          <p:cNvSpPr/>
          <p:nvPr/>
        </p:nvSpPr>
        <p:spPr>
          <a:xfrm>
            <a:off x="6737351" y="1787535"/>
            <a:ext cx="2468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 Computing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37351" y="2009785"/>
            <a:ext cx="2460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 on edge devices for low-latency inference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88101" y="2359035"/>
            <a:ext cx="5278438" cy="571500"/>
          </a:xfrm>
          <a:custGeom>
            <a:avLst/>
            <a:gdLst/>
            <a:ahLst/>
            <a:cxnLst/>
            <a:rect l="l" t="t" r="r" b="b"/>
            <a:pathLst>
              <a:path w="5278438" h="571500">
                <a:moveTo>
                  <a:pt x="63499" y="0"/>
                </a:moveTo>
                <a:lnTo>
                  <a:pt x="5214938" y="0"/>
                </a:lnTo>
                <a:cubicBezTo>
                  <a:pt x="5250008" y="0"/>
                  <a:pt x="5278438" y="28430"/>
                  <a:pt x="5278438" y="63499"/>
                </a:cubicBezTo>
                <a:lnTo>
                  <a:pt x="5278438" y="508001"/>
                </a:lnTo>
                <a:cubicBezTo>
                  <a:pt x="5278438" y="543070"/>
                  <a:pt x="5250008" y="571500"/>
                  <a:pt x="52149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07164" y="248603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1750" y="-7937"/>
                </a:moveTo>
                <a:cubicBezTo>
                  <a:pt x="36140" y="-7937"/>
                  <a:pt x="39688" y="-4390"/>
                  <a:pt x="39688" y="0"/>
                </a:cubicBezTo>
                <a:lnTo>
                  <a:pt x="39688" y="23812"/>
                </a:lnTo>
                <a:lnTo>
                  <a:pt x="71438" y="23812"/>
                </a:lnTo>
                <a:lnTo>
                  <a:pt x="71438" y="0"/>
                </a:lnTo>
                <a:cubicBezTo>
                  <a:pt x="71438" y="-4390"/>
                  <a:pt x="74985" y="-7937"/>
                  <a:pt x="79375" y="-7937"/>
                </a:cubicBezTo>
                <a:cubicBezTo>
                  <a:pt x="83765" y="-7937"/>
                  <a:pt x="87313" y="-4390"/>
                  <a:pt x="87313" y="0"/>
                </a:cubicBezTo>
                <a:lnTo>
                  <a:pt x="87313" y="23812"/>
                </a:lnTo>
                <a:lnTo>
                  <a:pt x="103188" y="23812"/>
                </a:lnTo>
                <a:cubicBezTo>
                  <a:pt x="107578" y="23812"/>
                  <a:pt x="111125" y="27360"/>
                  <a:pt x="111125" y="31750"/>
                </a:cubicBezTo>
                <a:cubicBezTo>
                  <a:pt x="111125" y="36140"/>
                  <a:pt x="107578" y="39688"/>
                  <a:pt x="103188" y="39688"/>
                </a:cubicBezTo>
                <a:lnTo>
                  <a:pt x="103188" y="55563"/>
                </a:lnTo>
                <a:cubicBezTo>
                  <a:pt x="103188" y="79152"/>
                  <a:pt x="86023" y="98747"/>
                  <a:pt x="63500" y="102518"/>
                </a:cubicBezTo>
                <a:lnTo>
                  <a:pt x="63500" y="119063"/>
                </a:lnTo>
                <a:cubicBezTo>
                  <a:pt x="63500" y="123453"/>
                  <a:pt x="59953" y="127000"/>
                  <a:pt x="55563" y="127000"/>
                </a:cubicBezTo>
                <a:cubicBezTo>
                  <a:pt x="51172" y="127000"/>
                  <a:pt x="47625" y="123453"/>
                  <a:pt x="47625" y="119063"/>
                </a:cubicBezTo>
                <a:lnTo>
                  <a:pt x="47625" y="102518"/>
                </a:lnTo>
                <a:cubicBezTo>
                  <a:pt x="25102" y="98747"/>
                  <a:pt x="7938" y="79152"/>
                  <a:pt x="7938" y="55563"/>
                </a:cubicBezTo>
                <a:lnTo>
                  <a:pt x="7938" y="39688"/>
                </a:lnTo>
                <a:cubicBezTo>
                  <a:pt x="3547" y="39688"/>
                  <a:pt x="0" y="36140"/>
                  <a:pt x="0" y="31750"/>
                </a:cubicBezTo>
                <a:cubicBezTo>
                  <a:pt x="0" y="27360"/>
                  <a:pt x="3547" y="23812"/>
                  <a:pt x="7938" y="23812"/>
                </a:cubicBezTo>
                <a:lnTo>
                  <a:pt x="23812" y="23812"/>
                </a:lnTo>
                <a:lnTo>
                  <a:pt x="23812" y="0"/>
                </a:lnTo>
                <a:cubicBezTo>
                  <a:pt x="23812" y="-4390"/>
                  <a:pt x="27360" y="-7937"/>
                  <a:pt x="31750" y="-7937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6" name="Text 44"/>
          <p:cNvSpPr/>
          <p:nvPr/>
        </p:nvSpPr>
        <p:spPr>
          <a:xfrm>
            <a:off x="6737351" y="2454285"/>
            <a:ext cx="2627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PACS Integration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37351" y="2676535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Seamless integration with Picture Archiving Systems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88101" y="3025785"/>
            <a:ext cx="5278438" cy="571500"/>
          </a:xfrm>
          <a:custGeom>
            <a:avLst/>
            <a:gdLst/>
            <a:ahLst/>
            <a:cxnLst/>
            <a:rect l="l" t="t" r="r" b="b"/>
            <a:pathLst>
              <a:path w="5278438" h="571500">
                <a:moveTo>
                  <a:pt x="63499" y="0"/>
                </a:moveTo>
                <a:lnTo>
                  <a:pt x="5214938" y="0"/>
                </a:lnTo>
                <a:cubicBezTo>
                  <a:pt x="5250008" y="0"/>
                  <a:pt x="5278438" y="28430"/>
                  <a:pt x="5278438" y="63499"/>
                </a:cubicBezTo>
                <a:lnTo>
                  <a:pt x="5278438" y="508001"/>
                </a:lnTo>
                <a:cubicBezTo>
                  <a:pt x="5278438" y="543070"/>
                  <a:pt x="5250008" y="571500"/>
                  <a:pt x="52149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99226" y="315278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0" name="Text 48"/>
          <p:cNvSpPr/>
          <p:nvPr/>
        </p:nvSpPr>
        <p:spPr>
          <a:xfrm>
            <a:off x="6737351" y="3121035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Regulatory Approval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37351" y="3343285"/>
            <a:ext cx="213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Obtain FDA/CE certification for clinical use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88101" y="3692535"/>
            <a:ext cx="5278438" cy="571500"/>
          </a:xfrm>
          <a:custGeom>
            <a:avLst/>
            <a:gdLst/>
            <a:ahLst/>
            <a:cxnLst/>
            <a:rect l="l" t="t" r="r" b="b"/>
            <a:pathLst>
              <a:path w="5278438" h="571500">
                <a:moveTo>
                  <a:pt x="63499" y="0"/>
                </a:moveTo>
                <a:lnTo>
                  <a:pt x="5214938" y="0"/>
                </a:lnTo>
                <a:cubicBezTo>
                  <a:pt x="5250008" y="0"/>
                  <a:pt x="5278438" y="28430"/>
                  <a:pt x="5278438" y="63499"/>
                </a:cubicBezTo>
                <a:lnTo>
                  <a:pt x="5278438" y="508001"/>
                </a:lnTo>
                <a:cubicBezTo>
                  <a:pt x="5278438" y="543070"/>
                  <a:pt x="5250008" y="571500"/>
                  <a:pt x="52149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507164" y="381953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71438" y="0"/>
                </a:moveTo>
                <a:lnTo>
                  <a:pt x="31750" y="0"/>
                </a:lnTo>
                <a:cubicBezTo>
                  <a:pt x="27360" y="0"/>
                  <a:pt x="23812" y="3547"/>
                  <a:pt x="23812" y="7938"/>
                </a:cubicBezTo>
                <a:cubicBezTo>
                  <a:pt x="23812" y="12328"/>
                  <a:pt x="27360" y="15875"/>
                  <a:pt x="31750" y="15875"/>
                </a:cubicBezTo>
                <a:lnTo>
                  <a:pt x="31750" y="53454"/>
                </a:lnTo>
                <a:lnTo>
                  <a:pt x="1860" y="105742"/>
                </a:lnTo>
                <a:cubicBezTo>
                  <a:pt x="645" y="107900"/>
                  <a:pt x="0" y="110306"/>
                  <a:pt x="0" y="112787"/>
                </a:cubicBezTo>
                <a:cubicBezTo>
                  <a:pt x="0" y="120650"/>
                  <a:pt x="6350" y="127000"/>
                  <a:pt x="14213" y="127000"/>
                </a:cubicBezTo>
                <a:lnTo>
                  <a:pt x="96912" y="127000"/>
                </a:lnTo>
                <a:cubicBezTo>
                  <a:pt x="104750" y="127000"/>
                  <a:pt x="111125" y="120650"/>
                  <a:pt x="111125" y="112787"/>
                </a:cubicBezTo>
                <a:cubicBezTo>
                  <a:pt x="111125" y="110306"/>
                  <a:pt x="110480" y="107876"/>
                  <a:pt x="109265" y="105742"/>
                </a:cubicBezTo>
                <a:lnTo>
                  <a:pt x="79375" y="53454"/>
                </a:lnTo>
                <a:lnTo>
                  <a:pt x="79375" y="15875"/>
                </a:lnTo>
                <a:cubicBezTo>
                  <a:pt x="83765" y="15875"/>
                  <a:pt x="87313" y="12328"/>
                  <a:pt x="87313" y="7938"/>
                </a:cubicBezTo>
                <a:cubicBezTo>
                  <a:pt x="87313" y="3547"/>
                  <a:pt x="83765" y="0"/>
                  <a:pt x="79375" y="0"/>
                </a:cubicBezTo>
                <a:lnTo>
                  <a:pt x="71438" y="0"/>
                </a:lnTo>
                <a:close/>
                <a:moveTo>
                  <a:pt x="47625" y="53454"/>
                </a:moveTo>
                <a:lnTo>
                  <a:pt x="47625" y="15875"/>
                </a:lnTo>
                <a:lnTo>
                  <a:pt x="63500" y="15875"/>
                </a:lnTo>
                <a:lnTo>
                  <a:pt x="63500" y="53454"/>
                </a:lnTo>
                <a:cubicBezTo>
                  <a:pt x="63500" y="56207"/>
                  <a:pt x="64219" y="58936"/>
                  <a:pt x="65584" y="61342"/>
                </a:cubicBezTo>
                <a:lnTo>
                  <a:pt x="75902" y="79375"/>
                </a:lnTo>
                <a:lnTo>
                  <a:pt x="35223" y="79375"/>
                </a:lnTo>
                <a:lnTo>
                  <a:pt x="45541" y="61342"/>
                </a:lnTo>
                <a:cubicBezTo>
                  <a:pt x="46906" y="58936"/>
                  <a:pt x="47625" y="56232"/>
                  <a:pt x="47625" y="5345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4" name="Text 52"/>
          <p:cNvSpPr/>
          <p:nvPr/>
        </p:nvSpPr>
        <p:spPr>
          <a:xfrm>
            <a:off x="6737351" y="3787785"/>
            <a:ext cx="243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Trials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737351" y="4010035"/>
            <a:ext cx="2428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Prospective studies to validate real-world impact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88076" y="5181611"/>
            <a:ext cx="5673725" cy="1530350"/>
          </a:xfrm>
          <a:custGeom>
            <a:avLst/>
            <a:gdLst/>
            <a:ahLst/>
            <a:cxnLst/>
            <a:rect l="l" t="t" r="r" b="b"/>
            <a:pathLst>
              <a:path w="5673725" h="1530350">
                <a:moveTo>
                  <a:pt x="95249" y="0"/>
                </a:moveTo>
                <a:lnTo>
                  <a:pt x="5578476" y="0"/>
                </a:lnTo>
                <a:cubicBezTo>
                  <a:pt x="5631081" y="0"/>
                  <a:pt x="5673725" y="42644"/>
                  <a:pt x="5673725" y="95249"/>
                </a:cubicBezTo>
                <a:lnTo>
                  <a:pt x="5673725" y="1435101"/>
                </a:lnTo>
                <a:cubicBezTo>
                  <a:pt x="5673725" y="1487706"/>
                  <a:pt x="5631081" y="1530350"/>
                  <a:pt x="5578476" y="1530350"/>
                </a:cubicBezTo>
                <a:lnTo>
                  <a:pt x="95249" y="1530350"/>
                </a:lnTo>
                <a:cubicBezTo>
                  <a:pt x="42644" y="1530350"/>
                  <a:pt x="0" y="1487706"/>
                  <a:pt x="0" y="1435101"/>
                </a:cubicBezTo>
                <a:lnTo>
                  <a:pt x="0" y="95249"/>
                </a:lnTo>
                <a:cubicBezTo>
                  <a:pt x="0" y="42644"/>
                  <a:pt x="42644" y="0"/>
                  <a:pt x="95249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182CE">
                  <a:alpha val="20000"/>
                </a:srgbClr>
              </a:gs>
            </a:gsLst>
            <a:lin ang="2700000" scaled="1"/>
          </a:gradFill>
          <a:ln w="10160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01595" y="540703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7207" y="17363"/>
                </a:moveTo>
                <a:cubicBezTo>
                  <a:pt x="37207" y="7782"/>
                  <a:pt x="44990" y="0"/>
                  <a:pt x="54570" y="0"/>
                </a:cubicBezTo>
                <a:lnTo>
                  <a:pt x="62012" y="0"/>
                </a:lnTo>
                <a:cubicBezTo>
                  <a:pt x="67500" y="0"/>
                  <a:pt x="71934" y="4434"/>
                  <a:pt x="71934" y="9922"/>
                </a:cubicBezTo>
                <a:lnTo>
                  <a:pt x="71934" y="148828"/>
                </a:lnTo>
                <a:cubicBezTo>
                  <a:pt x="71934" y="154316"/>
                  <a:pt x="67500" y="158750"/>
                  <a:pt x="62012" y="158750"/>
                </a:cubicBezTo>
                <a:lnTo>
                  <a:pt x="52090" y="158750"/>
                </a:lnTo>
                <a:cubicBezTo>
                  <a:pt x="42850" y="158750"/>
                  <a:pt x="35068" y="152425"/>
                  <a:pt x="32866" y="143867"/>
                </a:cubicBezTo>
                <a:cubicBezTo>
                  <a:pt x="32649" y="143867"/>
                  <a:pt x="32463" y="143867"/>
                  <a:pt x="32246" y="143867"/>
                </a:cubicBezTo>
                <a:cubicBezTo>
                  <a:pt x="18542" y="143867"/>
                  <a:pt x="7441" y="132767"/>
                  <a:pt x="7441" y="119062"/>
                </a:cubicBezTo>
                <a:cubicBezTo>
                  <a:pt x="7441" y="113481"/>
                  <a:pt x="9302" y="108334"/>
                  <a:pt x="12402" y="104180"/>
                </a:cubicBezTo>
                <a:cubicBezTo>
                  <a:pt x="6387" y="99653"/>
                  <a:pt x="2480" y="92459"/>
                  <a:pt x="2480" y="84336"/>
                </a:cubicBezTo>
                <a:cubicBezTo>
                  <a:pt x="2480" y="74755"/>
                  <a:pt x="7938" y="66415"/>
                  <a:pt x="15875" y="62291"/>
                </a:cubicBezTo>
                <a:cubicBezTo>
                  <a:pt x="13674" y="58570"/>
                  <a:pt x="12402" y="54229"/>
                  <a:pt x="12402" y="49609"/>
                </a:cubicBezTo>
                <a:cubicBezTo>
                  <a:pt x="12402" y="35905"/>
                  <a:pt x="23502" y="24805"/>
                  <a:pt x="37207" y="24805"/>
                </a:cubicBezTo>
                <a:lnTo>
                  <a:pt x="37207" y="17363"/>
                </a:lnTo>
                <a:close/>
                <a:moveTo>
                  <a:pt x="121543" y="17363"/>
                </a:moveTo>
                <a:lnTo>
                  <a:pt x="121543" y="24805"/>
                </a:lnTo>
                <a:cubicBezTo>
                  <a:pt x="135248" y="24805"/>
                  <a:pt x="146348" y="35905"/>
                  <a:pt x="146348" y="49609"/>
                </a:cubicBezTo>
                <a:cubicBezTo>
                  <a:pt x="146348" y="54260"/>
                  <a:pt x="145076" y="58601"/>
                  <a:pt x="142875" y="62291"/>
                </a:cubicBezTo>
                <a:cubicBezTo>
                  <a:pt x="150844" y="66415"/>
                  <a:pt x="156270" y="74724"/>
                  <a:pt x="156270" y="84336"/>
                </a:cubicBezTo>
                <a:cubicBezTo>
                  <a:pt x="156270" y="92459"/>
                  <a:pt x="152363" y="99653"/>
                  <a:pt x="146348" y="104180"/>
                </a:cubicBezTo>
                <a:cubicBezTo>
                  <a:pt x="149448" y="108334"/>
                  <a:pt x="151309" y="113481"/>
                  <a:pt x="151309" y="119062"/>
                </a:cubicBezTo>
                <a:cubicBezTo>
                  <a:pt x="151309" y="132767"/>
                  <a:pt x="140208" y="143867"/>
                  <a:pt x="126504" y="143867"/>
                </a:cubicBezTo>
                <a:cubicBezTo>
                  <a:pt x="126287" y="143867"/>
                  <a:pt x="126101" y="143867"/>
                  <a:pt x="125884" y="143867"/>
                </a:cubicBezTo>
                <a:cubicBezTo>
                  <a:pt x="123682" y="152425"/>
                  <a:pt x="115900" y="158750"/>
                  <a:pt x="106660" y="158750"/>
                </a:cubicBezTo>
                <a:lnTo>
                  <a:pt x="96738" y="158750"/>
                </a:lnTo>
                <a:cubicBezTo>
                  <a:pt x="91250" y="158750"/>
                  <a:pt x="86816" y="154316"/>
                  <a:pt x="86816" y="148828"/>
                </a:cubicBezTo>
                <a:lnTo>
                  <a:pt x="86816" y="9922"/>
                </a:lnTo>
                <a:cubicBezTo>
                  <a:pt x="86816" y="4434"/>
                  <a:pt x="91250" y="0"/>
                  <a:pt x="96738" y="0"/>
                </a:cubicBezTo>
                <a:lnTo>
                  <a:pt x="104180" y="0"/>
                </a:lnTo>
                <a:cubicBezTo>
                  <a:pt x="113760" y="0"/>
                  <a:pt x="121543" y="7782"/>
                  <a:pt x="121543" y="1736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8" name="Text 56"/>
          <p:cNvSpPr/>
          <p:nvPr/>
        </p:nvSpPr>
        <p:spPr>
          <a:xfrm>
            <a:off x="6675438" y="5375285"/>
            <a:ext cx="1285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Features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05563" y="570866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60" name="Text 58"/>
          <p:cNvSpPr/>
          <p:nvPr/>
        </p:nvSpPr>
        <p:spPr>
          <a:xfrm>
            <a:off x="6604001" y="5692785"/>
            <a:ext cx="257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interpretability with attention visualization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405563" y="593091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62" name="Text 60"/>
          <p:cNvSpPr/>
          <p:nvPr/>
        </p:nvSpPr>
        <p:spPr>
          <a:xfrm>
            <a:off x="6604001" y="5915035"/>
            <a:ext cx="269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Uncertainty quantification for clinical decision-making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405563" y="615316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64" name="Text 62"/>
          <p:cNvSpPr/>
          <p:nvPr/>
        </p:nvSpPr>
        <p:spPr>
          <a:xfrm>
            <a:off x="6604001" y="6137285"/>
            <a:ext cx="1754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learning from new data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405563" y="637541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66" name="Text 64"/>
          <p:cNvSpPr/>
          <p:nvPr/>
        </p:nvSpPr>
        <p:spPr>
          <a:xfrm>
            <a:off x="6604001" y="6359535"/>
            <a:ext cx="327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Federated learning for privacy-preserving multi-institution training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io.forbes.com/76927c4754e3d1f627bb1ed0537e340117ec2cb2.jpeg"/>
          <p:cNvPicPr>
            <a:picLocks noChangeAspect="1"/>
          </p:cNvPicPr>
          <p:nvPr/>
        </p:nvPicPr>
        <p:blipFill>
          <a:blip r:embed="rId3">
            <a:alphaModFix amt="30000"/>
          </a:blip>
          <a:srcRect l="2618" r="261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3182CE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57850" y="2228850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3182CE">
              <a:alpha val="20000"/>
            </a:srgbClr>
          </a:solidFill>
          <a:ln w="50800">
            <a:solidFill>
              <a:srgbClr val="3182C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67400" y="2438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5205" y="77778"/>
                </a:moveTo>
                <a:lnTo>
                  <a:pt x="228600" y="96262"/>
                </a:lnTo>
                <a:lnTo>
                  <a:pt x="241995" y="77778"/>
                </a:lnTo>
                <a:cubicBezTo>
                  <a:pt x="264319" y="46881"/>
                  <a:pt x="300216" y="28575"/>
                  <a:pt x="338346" y="28575"/>
                </a:cubicBezTo>
                <a:cubicBezTo>
                  <a:pt x="403979" y="28575"/>
                  <a:pt x="457200" y="81796"/>
                  <a:pt x="457200" y="147429"/>
                </a:cubicBezTo>
                <a:lnTo>
                  <a:pt x="457200" y="149751"/>
                </a:lnTo>
                <a:cubicBezTo>
                  <a:pt x="457200" y="249942"/>
                  <a:pt x="332274" y="366296"/>
                  <a:pt x="267087" y="416034"/>
                </a:cubicBezTo>
                <a:cubicBezTo>
                  <a:pt x="256014" y="424428"/>
                  <a:pt x="242441" y="428625"/>
                  <a:pt x="228600" y="428625"/>
                </a:cubicBezTo>
                <a:cubicBezTo>
                  <a:pt x="214759" y="428625"/>
                  <a:pt x="201097" y="424517"/>
                  <a:pt x="190113" y="416034"/>
                </a:cubicBezTo>
                <a:cubicBezTo>
                  <a:pt x="124926" y="366296"/>
                  <a:pt x="0" y="249942"/>
                  <a:pt x="0" y="149751"/>
                </a:cubicBezTo>
                <a:lnTo>
                  <a:pt x="0" y="147429"/>
                </a:lnTo>
                <a:cubicBezTo>
                  <a:pt x="0" y="81796"/>
                  <a:pt x="53221" y="28575"/>
                  <a:pt x="118854" y="28575"/>
                </a:cubicBezTo>
                <a:cubicBezTo>
                  <a:pt x="156984" y="28575"/>
                  <a:pt x="192881" y="46881"/>
                  <a:pt x="215205" y="77778"/>
                </a:cubicBez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6" name="Text 3"/>
          <p:cNvSpPr/>
          <p:nvPr/>
        </p:nvSpPr>
        <p:spPr>
          <a:xfrm>
            <a:off x="2266950" y="3429000"/>
            <a:ext cx="7658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2176</Words>
  <Application>Microsoft Office PowerPoint</Application>
  <PresentationFormat>Custom</PresentationFormat>
  <Paragraphs>484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Wingdings</vt:lpstr>
      <vt:lpstr>微软雅黑</vt:lpstr>
      <vt:lpstr>Liter</vt:lpstr>
      <vt:lpstr>MiSans</vt:lpstr>
      <vt:lpstr>Quattrocento Sans</vt:lpstr>
      <vt:lpstr>Calibri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Pneumonia X-Ray Diagnostics</dc:title>
  <dc:subject>AI Pneumonia X-Ray Diagnostics</dc:subject>
  <dc:creator>Kimi</dc:creator>
  <cp:lastModifiedBy>Windows User</cp:lastModifiedBy>
  <cp:revision>27</cp:revision>
  <dcterms:created xsi:type="dcterms:W3CDTF">2026-01-28T08:38:04Z</dcterms:created>
  <dcterms:modified xsi:type="dcterms:W3CDTF">2026-02-03T08:53:43Z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 Pneumonia X-Ray Diagnostics","ContentProducer":"001191110108MACG2KBH8F10000","ProduceID":"19c03b68-81e2-8adf-8000-0000f0c0d9c7","ReservedCode1":"","ContentPropagator":"001191110108MACG2KBH8F20000","PropagateID":"19c03b68-81e2-8adf-8000-0000f0</vt:lpwstr>
  </property>
</Properties>
</file>